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z/my-project/download/slides/logo.png">    </p:cNvPr>
          <p:cNvPicPr>
            <a:picLocks noChangeAspect="1"/>
          </p:cNvPicPr>
          <p:nvPr/>
        </p:nvPicPr>
        <p:blipFill>
          <a:blip r:embed="rId1"/>
          <a:stretch>
            <a:fillRect/>
          </a:stretch>
        </p:blipFill>
        <p:spPr>
          <a:xfrm>
            <a:off x="485775" y="314325"/>
            <a:ext cx="1143000" cy="1153827"/>
          </a:xfrm>
          <a:prstGeom prst="rect">
            <a:avLst/>
          </a:prstGeom>
        </p:spPr>
      </p:pic>
      <p:sp>
        <p:nvSpPr>
          <p:cNvPr id="3" name="Text 0"/>
          <p:cNvSpPr/>
          <p:nvPr/>
        </p:nvSpPr>
        <p:spPr>
          <a:xfrm>
            <a:off x="70844" y="1611027"/>
            <a:ext cx="1972750" cy="206861"/>
          </a:xfrm>
          <a:prstGeom prst="rect">
            <a:avLst/>
          </a:prstGeom>
          <a:noFill/>
          <a:ln/>
        </p:spPr>
        <p:txBody>
          <a:bodyPr wrap="none" lIns="0" tIns="0" rIns="0" bIns="0" rtlCol="0" anchor="t">
            <a:normAutofit/>
          </a:bodyPr>
          <a:lstStyle/>
          <a:p>
            <a:pPr algn="ctr" indent="0" marL="0">
              <a:lnSpc>
                <a:spcPts val="1620"/>
              </a:lnSpc>
              <a:buNone/>
            </a:pPr>
            <a:r>
              <a:rPr lang="en-US" sz="1350" b="1" spc="141" kern="0" dirty="0">
                <a:solidFill>
                  <a:srgbClr val="1F3864"/>
                </a:solidFill>
                <a:latin typeface="Carlito" pitchFamily="34" charset="0"/>
                <a:ea typeface="Carlito" pitchFamily="34" charset="-122"/>
                <a:cs typeface="Carlito" pitchFamily="34" charset="-120"/>
              </a:rPr>
              <a:t>RAMDEOBABA</a:t>
            </a:r>
            <a:endParaRPr lang="en-US" sz="1350" dirty="0"/>
          </a:p>
        </p:txBody>
      </p:sp>
      <p:sp>
        <p:nvSpPr>
          <p:cNvPr id="4" name="Text 1"/>
          <p:cNvSpPr/>
          <p:nvPr/>
        </p:nvSpPr>
        <p:spPr>
          <a:xfrm>
            <a:off x="204746" y="1845320"/>
            <a:ext cx="1704947" cy="208312"/>
          </a:xfrm>
          <a:prstGeom prst="rect">
            <a:avLst/>
          </a:prstGeom>
          <a:noFill/>
          <a:ln/>
        </p:spPr>
        <p:txBody>
          <a:bodyPr wrap="none" lIns="0" tIns="0" rIns="0" bIns="0" rtlCol="0" anchor="t"/>
          <a:lstStyle/>
          <a:p>
            <a:pPr algn="ctr" indent="0" marL="0">
              <a:lnSpc>
                <a:spcPts val="1519"/>
              </a:lnSpc>
              <a:buNone/>
            </a:pPr>
            <a:r>
              <a:rPr lang="en-US" sz="1013" spc="281" kern="0" dirty="0">
                <a:solidFill>
                  <a:srgbClr val="1F3864"/>
                </a:solidFill>
                <a:latin typeface="Carlito" pitchFamily="34" charset="0"/>
                <a:ea typeface="Carlito" pitchFamily="34" charset="-122"/>
                <a:cs typeface="Carlito" pitchFamily="34" charset="-120"/>
              </a:rPr>
              <a:t>UNIVERSITY</a:t>
            </a:r>
            <a:endParaRPr lang="en-US" sz="1013" dirty="0"/>
          </a:p>
        </p:txBody>
      </p:sp>
      <p:sp>
        <p:nvSpPr>
          <p:cNvPr id="5" name="Text 2"/>
          <p:cNvSpPr/>
          <p:nvPr/>
        </p:nvSpPr>
        <p:spPr>
          <a:xfrm>
            <a:off x="185738" y="3582591"/>
            <a:ext cx="1743075" cy="432054"/>
          </a:xfrm>
          <a:prstGeom prst="rect">
            <a:avLst/>
          </a:prstGeom>
          <a:noFill/>
          <a:ln/>
        </p:spPr>
        <p:txBody>
          <a:bodyPr wrap="square" lIns="0" tIns="0" rIns="0" bIns="0" rtlCol="0" anchor="t"/>
          <a:lstStyle/>
          <a:p>
            <a:pPr algn="ctr" indent="0" marL="0">
              <a:lnSpc>
                <a:spcPts val="1575"/>
              </a:lnSpc>
              <a:buNone/>
            </a:pPr>
            <a:r>
              <a:rPr lang="en-US" sz="1125" b="1" dirty="0">
                <a:solidFill>
                  <a:srgbClr val="1F3864"/>
                </a:solidFill>
                <a:latin typeface="Carlito" pitchFamily="34" charset="0"/>
                <a:ea typeface="Carlito" pitchFamily="34" charset="-122"/>
                <a:cs typeface="Carlito" pitchFamily="34" charset="-120"/>
              </a:rPr>
              <a:t>Idea lab/Honor/ Minor/Major</a:t>
            </a:r>
            <a:endParaRPr lang="en-US" sz="1125" dirty="0"/>
          </a:p>
        </p:txBody>
      </p:sp>
      <p:sp>
        <p:nvSpPr>
          <p:cNvPr id="6" name="Text 3"/>
          <p:cNvSpPr/>
          <p:nvPr/>
        </p:nvSpPr>
        <p:spPr>
          <a:xfrm>
            <a:off x="964406" y="4111228"/>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7" name="Text 4"/>
          <p:cNvSpPr/>
          <p:nvPr/>
        </p:nvSpPr>
        <p:spPr>
          <a:xfrm>
            <a:off x="0" y="4268391"/>
            <a:ext cx="2131009" cy="231458"/>
          </a:xfrm>
          <a:prstGeom prst="rect">
            <a:avLst/>
          </a:prstGeom>
          <a:noFill/>
          <a:ln/>
        </p:spPr>
        <p:txBody>
          <a:bodyPr wrap="none" lIns="0" tIns="0" rIns="0" bIns="0" rtlCol="0" anchor="t"/>
          <a:lstStyle/>
          <a:p>
            <a:pPr algn="ctr" indent="0" marL="0">
              <a:lnSpc>
                <a:spcPts val="1688"/>
              </a:lnSpc>
              <a:buNone/>
            </a:pPr>
            <a:r>
              <a:rPr lang="en-US" sz="1125" b="1" spc="68" kern="0" dirty="0">
                <a:solidFill>
                  <a:srgbClr val="1F3864"/>
                </a:solidFill>
                <a:latin typeface="Carlito" pitchFamily="34" charset="0"/>
                <a:ea typeface="Carlito" pitchFamily="34" charset="-122"/>
                <a:cs typeface="Carlito" pitchFamily="34" charset="-120"/>
              </a:rPr>
              <a:t>COURSE CODE</a:t>
            </a:r>
            <a:endParaRPr lang="en-US" sz="1125" dirty="0"/>
          </a:p>
        </p:txBody>
      </p:sp>
      <p:sp>
        <p:nvSpPr>
          <p:cNvPr id="8" name="Text 5"/>
          <p:cNvSpPr/>
          <p:nvPr/>
        </p:nvSpPr>
        <p:spPr>
          <a:xfrm>
            <a:off x="972" y="4532709"/>
            <a:ext cx="2112607" cy="164592"/>
          </a:xfrm>
          <a:prstGeom prst="rect">
            <a:avLst/>
          </a:prstGeom>
          <a:noFill/>
          <a:ln/>
        </p:spPr>
        <p:txBody>
          <a:bodyPr wrap="none" lIns="0" tIns="0" rIns="0" bIns="0" rtlCol="0" anchor="t"/>
          <a:lstStyle/>
          <a:p>
            <a:pPr algn="ctr" indent="0" marL="0">
              <a:lnSpc>
                <a:spcPts val="1097"/>
              </a:lnSpc>
              <a:buNone/>
            </a:pPr>
            <a:r>
              <a:rPr lang="en-US" sz="800" i="1" dirty="0">
                <a:solidFill>
                  <a:srgbClr val="5D6B7A"/>
                </a:solidFill>
                <a:latin typeface="Carlito" pitchFamily="34" charset="0"/>
                <a:ea typeface="Carlito" pitchFamily="34" charset="-122"/>
                <a:cs typeface="Carlito" pitchFamily="34" charset="-120"/>
              </a:rPr>
              <a:t>[ Enter course code ]</a:t>
            </a:r>
            <a:endParaRPr lang="en-US" sz="800" dirty="0"/>
          </a:p>
        </p:txBody>
      </p:sp>
      <p:sp>
        <p:nvSpPr>
          <p:cNvPr id="9" name="Text 6"/>
          <p:cNvSpPr/>
          <p:nvPr/>
        </p:nvSpPr>
        <p:spPr>
          <a:xfrm>
            <a:off x="2114550" y="0"/>
            <a:ext cx="28575" cy="4972050"/>
          </a:xfrm>
          <a:prstGeom prst="rect">
            <a:avLst/>
          </a:prstGeom>
          <a:solidFill>
            <a:srgbClr val="1F3864"/>
          </a:solidFill>
          <a:ln/>
        </p:spPr>
        <p:txBody>
          <a:bodyPr wrap="square" rtlCol="0" anchor="ctr"/>
          <a:lstStyle/>
          <a:p>
            <a:pPr indent="0" marL="0">
              <a:buNone/>
            </a:pPr>
            <a:endParaRPr lang="en-US" dirty="0"/>
          </a:p>
        </p:txBody>
      </p:sp>
      <p:sp>
        <p:nvSpPr>
          <p:cNvPr id="10" name="Text 7"/>
          <p:cNvSpPr/>
          <p:nvPr/>
        </p:nvSpPr>
        <p:spPr>
          <a:xfrm>
            <a:off x="2657475" y="657225"/>
            <a:ext cx="6486525" cy="301618"/>
          </a:xfrm>
          <a:prstGeom prst="rect">
            <a:avLst/>
          </a:prstGeom>
          <a:noFill/>
          <a:ln/>
        </p:spPr>
        <p:txBody>
          <a:bodyPr wrap="none" lIns="0" tIns="0" rIns="0" bIns="0" rtlCol="0" anchor="t"/>
          <a:lstStyle/>
          <a:p>
            <a:pPr algn="l" indent="0" marL="0">
              <a:lnSpc>
                <a:spcPts val="2199"/>
              </a:lnSpc>
              <a:buNone/>
            </a:pPr>
            <a:r>
              <a:rPr lang="en-US" sz="1913" b="1" spc="56" kern="0" dirty="0">
                <a:solidFill>
                  <a:srgbClr val="1F3864"/>
                </a:solidFill>
                <a:latin typeface="Carlito" pitchFamily="34" charset="0"/>
                <a:ea typeface="Carlito" pitchFamily="34" charset="-122"/>
                <a:cs typeface="Carlito" pitchFamily="34" charset="-120"/>
              </a:rPr>
              <a:t>PROJECT TITLE</a:t>
            </a:r>
            <a:endParaRPr lang="en-US" sz="1913" dirty="0"/>
          </a:p>
        </p:txBody>
      </p:sp>
      <p:sp>
        <p:nvSpPr>
          <p:cNvPr id="11" name="Text 8"/>
          <p:cNvSpPr/>
          <p:nvPr/>
        </p:nvSpPr>
        <p:spPr>
          <a:xfrm>
            <a:off x="2657475" y="1036513"/>
            <a:ext cx="5972175" cy="499804"/>
          </a:xfrm>
          <a:prstGeom prst="rect">
            <a:avLst/>
          </a:prstGeom>
          <a:noFill/>
          <a:ln/>
        </p:spPr>
        <p:txBody>
          <a:bodyPr wrap="square" lIns="0" tIns="0" rIns="0" bIns="0" rtlCol="0" anchor="t"/>
          <a:lstStyle/>
          <a:p>
            <a:pPr algn="l" indent="0" marL="0">
              <a:lnSpc>
                <a:spcPts val="1822"/>
              </a:lnSpc>
              <a:buNone/>
            </a:pPr>
            <a:r>
              <a:rPr lang="en-US" sz="1350" dirty="0">
                <a:solidFill>
                  <a:srgbClr val="E86A27"/>
                </a:solidFill>
                <a:latin typeface="Carlito" pitchFamily="34" charset="0"/>
                <a:ea typeface="Carlito" pitchFamily="34" charset="-122"/>
                <a:cs typeface="Carlito" pitchFamily="34" charset="-120"/>
              </a:rPr>
              <a:t>Blockchain-Secured Digital Land Registry with Cloud-Native Web Platform</a:t>
            </a:r>
            <a:endParaRPr lang="en-US" sz="1350" dirty="0"/>
          </a:p>
        </p:txBody>
      </p:sp>
      <p:sp>
        <p:nvSpPr>
          <p:cNvPr id="12" name="Text 9"/>
          <p:cNvSpPr/>
          <p:nvPr/>
        </p:nvSpPr>
        <p:spPr>
          <a:xfrm>
            <a:off x="2657475" y="1670745"/>
            <a:ext cx="5972175" cy="21431"/>
          </a:xfrm>
          <a:prstGeom prst="roundRect">
            <a:avLst>
              <a:gd name="adj" fmla="val 88890"/>
            </a:avLst>
          </a:prstGeom>
          <a:solidFill>
            <a:srgbClr val="E86A27"/>
          </a:solidFill>
          <a:ln/>
        </p:spPr>
        <p:txBody>
          <a:bodyPr wrap="square" rtlCol="0" anchor="ctr"/>
          <a:lstStyle/>
          <a:p>
            <a:pPr indent="0" marL="0">
              <a:buNone/>
            </a:pPr>
            <a:endParaRPr lang="en-US" dirty="0"/>
          </a:p>
        </p:txBody>
      </p:sp>
      <p:sp>
        <p:nvSpPr>
          <p:cNvPr id="13" name="Text 10"/>
          <p:cNvSpPr/>
          <p:nvPr/>
        </p:nvSpPr>
        <p:spPr>
          <a:xfrm>
            <a:off x="2657475" y="3421856"/>
            <a:ext cx="5972175" cy="1238869"/>
          </a:xfrm>
          <a:prstGeom prst="rect">
            <a:avLst/>
          </a:prstGeom>
          <a:noFill/>
          <a:ln/>
        </p:spPr>
        <p:txBody>
          <a:bodyPr wrap="square" lIns="0" tIns="0" rIns="0" bIns="0" rtlCol="0" anchor="t"/>
          <a:lstStyle/>
          <a:p>
            <a:pPr algn="l" marL="342900" indent="-342900">
              <a:lnSpc>
                <a:spcPts val="1350"/>
              </a:lnSpc>
              <a:spcAft>
                <a:spcPts val="394"/>
              </a:spcAft>
              <a:buSzPct val="100000"/>
              <a:buChar char="•"/>
            </a:pPr>
            <a:r>
              <a:rPr lang="en-US" sz="900" dirty="0">
                <a:solidFill>
                  <a:srgbClr val="24313F"/>
                </a:solidFill>
                <a:latin typeface="Carlito" pitchFamily="34" charset="0"/>
                <a:ea typeface="Carlito" pitchFamily="34" charset="-122"/>
                <a:cs typeface="Carlito" pitchFamily="34" charset="-120"/>
              </a:rPr>
              <a:t>Team Members &amp; Roll Numbers — [ Enter names &amp; roll numbers ]</a:t>
            </a:r>
            <a:endParaRPr lang="en-US" sz="900" dirty="0"/>
          </a:p>
          <a:p>
            <a:pPr algn="l" marL="342900" indent="-342900">
              <a:lnSpc>
                <a:spcPts val="1350"/>
              </a:lnSpc>
              <a:spcAft>
                <a:spcPts val="394"/>
              </a:spcAft>
              <a:buSzPct val="100000"/>
              <a:buChar char="•"/>
            </a:pPr>
            <a:r>
              <a:rPr lang="en-US" sz="900" dirty="0">
                <a:solidFill>
                  <a:srgbClr val="24313F"/>
                </a:solidFill>
                <a:latin typeface="Carlito" pitchFamily="34" charset="0"/>
                <a:ea typeface="Carlito" pitchFamily="34" charset="-122"/>
                <a:cs typeface="Carlito" pitchFamily="34" charset="-120"/>
              </a:rPr>
              <a:t>Guide/Mentor Name — [ Enter guide name ]</a:t>
            </a:r>
            <a:endParaRPr lang="en-US" sz="900" dirty="0"/>
          </a:p>
          <a:p>
            <a:pPr algn="l" marL="342900" indent="-342900">
              <a:lnSpc>
                <a:spcPts val="1350"/>
              </a:lnSpc>
              <a:spcAft>
                <a:spcPts val="394"/>
              </a:spcAft>
              <a:buSzPct val="100000"/>
              <a:buChar char="•"/>
            </a:pPr>
            <a:r>
              <a:rPr lang="en-US" sz="900" dirty="0">
                <a:solidFill>
                  <a:srgbClr val="24313F"/>
                </a:solidFill>
                <a:latin typeface="Carlito" pitchFamily="34" charset="0"/>
                <a:ea typeface="Carlito" pitchFamily="34" charset="-122"/>
                <a:cs typeface="Carlito" pitchFamily="34" charset="-120"/>
              </a:rPr>
              <a:t>Department / School — [ Enter department ]</a:t>
            </a:r>
            <a:endParaRPr lang="en-US" sz="900" dirty="0"/>
          </a:p>
          <a:p>
            <a:pPr algn="l" marL="342900" indent="-342900">
              <a:lnSpc>
                <a:spcPts val="1350"/>
              </a:lnSpc>
              <a:spcAft>
                <a:spcPts val="394"/>
              </a:spcAft>
              <a:buSzPct val="100000"/>
              <a:buChar char="•"/>
            </a:pPr>
            <a:r>
              <a:rPr lang="en-US" sz="900" dirty="0">
                <a:solidFill>
                  <a:srgbClr val="24313F"/>
                </a:solidFill>
                <a:latin typeface="Carlito" pitchFamily="34" charset="0"/>
                <a:ea typeface="Carlito" pitchFamily="34" charset="-122"/>
                <a:cs typeface="Carlito" pitchFamily="34" charset="-120"/>
              </a:rPr>
              <a:t>Academic Year — 2025–26</a:t>
            </a:r>
            <a:endParaRPr lang="en-US" sz="900" dirty="0"/>
          </a:p>
        </p:txBody>
      </p:sp>
      <p:sp>
        <p:nvSpPr>
          <p:cNvPr id="14" name="Text 11"/>
          <p:cNvSpPr/>
          <p:nvPr/>
        </p:nvSpPr>
        <p:spPr>
          <a:xfrm>
            <a:off x="0" y="4972050"/>
            <a:ext cx="6095963" cy="171450"/>
          </a:xfrm>
          <a:prstGeom prst="rect">
            <a:avLst/>
          </a:prstGeom>
          <a:solidFill>
            <a:srgbClr val="10243E"/>
          </a:solidFill>
          <a:ln/>
        </p:spPr>
        <p:txBody>
          <a:bodyPr wrap="square" rtlCol="0" anchor="ctr"/>
          <a:lstStyle/>
          <a:p>
            <a:pPr indent="0" marL="0">
              <a:buNone/>
            </a:pPr>
            <a:endParaRPr lang="en-US" dirty="0"/>
          </a:p>
        </p:txBody>
      </p:sp>
      <p:sp>
        <p:nvSpPr>
          <p:cNvPr id="15" name="Text 12"/>
          <p:cNvSpPr/>
          <p:nvPr/>
        </p:nvSpPr>
        <p:spPr>
          <a:xfrm>
            <a:off x="6095963" y="4972050"/>
            <a:ext cx="3048037" cy="171450"/>
          </a:xfrm>
          <a:prstGeom prst="rect">
            <a:avLst/>
          </a:prstGeom>
          <a:solidFill>
            <a:srgbClr val="E86A27"/>
          </a:solidFill>
          <a:ln/>
        </p:spPr>
        <p:txBody>
          <a:bodyPr wrap="square" rtlCol="0" anchor="ct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2752961"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PROBLEM STATEMENT</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4107656" cy="1832483"/>
          </a:xfrm>
          <a:prstGeom prst="roundRect">
            <a:avLst>
              <a:gd name="adj" fmla="val 5198"/>
            </a:avLst>
          </a:prstGeom>
          <a:solidFill>
            <a:srgbClr val="F5F8FB"/>
          </a:solidFill>
          <a:ln/>
        </p:spPr>
        <p:txBody>
          <a:bodyPr wrap="square" rtlCol="0" anchor="ctr"/>
          <a:lstStyle/>
          <a:p>
            <a:pPr indent="0" marL="0">
              <a:buNone/>
            </a:pPr>
            <a:endParaRPr lang="en-US" dirty="0"/>
          </a:p>
        </p:txBody>
      </p:sp>
      <p:sp>
        <p:nvSpPr>
          <p:cNvPr id="6" name="Shape 3"/>
          <p:cNvSpPr/>
          <p:nvPr/>
        </p:nvSpPr>
        <p:spPr>
          <a:xfrm>
            <a:off x="400050" y="1078483"/>
            <a:ext cx="4107656" cy="0"/>
          </a:xfrm>
          <a:prstGeom prst="line">
            <a:avLst/>
          </a:prstGeom>
          <a:noFill/>
          <a:ln w="28575">
            <a:solidFill>
              <a:srgbClr val="E86A27"/>
            </a:solidFill>
            <a:prstDash val="solid"/>
          </a:ln>
        </p:spPr>
      </p:sp>
      <p:sp>
        <p:nvSpPr>
          <p:cNvPr id="7" name="Shape 4"/>
          <p:cNvSpPr/>
          <p:nvPr/>
        </p:nvSpPr>
        <p:spPr>
          <a:xfrm>
            <a:off x="4504134" y="1064196"/>
            <a:ext cx="0" cy="1832483"/>
          </a:xfrm>
          <a:prstGeom prst="line">
            <a:avLst/>
          </a:prstGeom>
          <a:noFill/>
          <a:ln w="7144">
            <a:solidFill>
              <a:srgbClr val="D9E0E8"/>
            </a:solidFill>
            <a:prstDash val="solid"/>
          </a:ln>
        </p:spPr>
      </p:sp>
      <p:sp>
        <p:nvSpPr>
          <p:cNvPr id="8" name="Shape 5"/>
          <p:cNvSpPr/>
          <p:nvPr/>
        </p:nvSpPr>
        <p:spPr>
          <a:xfrm>
            <a:off x="400050" y="2893107"/>
            <a:ext cx="4107656" cy="0"/>
          </a:xfrm>
          <a:prstGeom prst="line">
            <a:avLst/>
          </a:prstGeom>
          <a:noFill/>
          <a:ln w="7144">
            <a:solidFill>
              <a:srgbClr val="D9E0E8"/>
            </a:solidFill>
            <a:prstDash val="solid"/>
          </a:ln>
        </p:spPr>
      </p:sp>
      <p:sp>
        <p:nvSpPr>
          <p:cNvPr id="9" name="Shape 6"/>
          <p:cNvSpPr/>
          <p:nvPr/>
        </p:nvSpPr>
        <p:spPr>
          <a:xfrm>
            <a:off x="403622" y="1064196"/>
            <a:ext cx="0" cy="1832483"/>
          </a:xfrm>
          <a:prstGeom prst="line">
            <a:avLst/>
          </a:prstGeom>
          <a:noFill/>
          <a:ln w="7144">
            <a:solidFill>
              <a:srgbClr val="D9E0E8"/>
            </a:solidFill>
            <a:prstDash val="solid"/>
          </a:ln>
        </p:spPr>
      </p:sp>
      <p:sp>
        <p:nvSpPr>
          <p:cNvPr id="10" name="Text 7"/>
          <p:cNvSpPr/>
          <p:nvPr/>
        </p:nvSpPr>
        <p:spPr>
          <a:xfrm>
            <a:off x="592931" y="1249933"/>
            <a:ext cx="328613" cy="328613"/>
          </a:xfrm>
          <a:prstGeom prst="roundRect">
            <a:avLst>
              <a:gd name="adj" fmla="val 28985"/>
            </a:avLst>
          </a:prstGeom>
          <a:solidFill>
            <a:srgbClr val="FDF0E7"/>
          </a:solidFill>
          <a:ln/>
        </p:spPr>
        <p:txBody>
          <a:bodyPr wrap="square" rtlCol="0" anchor="ctr"/>
          <a:lstStyle/>
          <a:p>
            <a:pPr indent="0" marL="0">
              <a:buNone/>
            </a:pPr>
            <a:endParaRPr lang="en-US" dirty="0"/>
          </a:p>
        </p:txBody>
      </p:sp>
      <p:sp>
        <p:nvSpPr>
          <p:cNvPr id="11" name="Text 8"/>
          <p:cNvSpPr/>
          <p:nvPr/>
        </p:nvSpPr>
        <p:spPr>
          <a:xfrm>
            <a:off x="622578" y="1279580"/>
            <a:ext cx="269319" cy="269319"/>
          </a:xfrm>
          <a:prstGeom prst="rect">
            <a:avLst/>
          </a:prstGeom>
          <a:noFill/>
          <a:ln/>
        </p:spPr>
        <p:txBody>
          <a:bodyPr wrap="none" lIns="0" tIns="0" rIns="0" bIns="0" rtlCol="0" anchor="ctr"/>
          <a:lstStyle/>
          <a:p>
            <a:pPr algn="ctr" indent="0" marL="0">
              <a:buNone/>
            </a:pPr>
            <a:r>
              <a:rPr lang="en-US" sz="1828" dirty="0">
                <a:solidFill>
                  <a:srgbClr val="E86A27"/>
                </a:solidFill>
                <a:latin typeface="Segoe UI Symbol" pitchFamily="34" charset="0"/>
                <a:ea typeface="Segoe UI Symbol" pitchFamily="34" charset="-122"/>
                <a:cs typeface="Segoe UI Symbol" pitchFamily="34" charset="-120"/>
              </a:rPr>
              <a:t>✦</a:t>
            </a:r>
            <a:endParaRPr lang="en-US" sz="1828" dirty="0"/>
          </a:p>
        </p:txBody>
      </p:sp>
      <p:sp>
        <p:nvSpPr>
          <p:cNvPr id="12" name="Text 9"/>
          <p:cNvSpPr/>
          <p:nvPr/>
        </p:nvSpPr>
        <p:spPr>
          <a:xfrm>
            <a:off x="1021556" y="1336104"/>
            <a:ext cx="3293269" cy="168771"/>
          </a:xfrm>
          <a:prstGeom prst="rect">
            <a:avLst/>
          </a:prstGeom>
          <a:noFill/>
          <a:ln/>
        </p:spPr>
        <p:txBody>
          <a:bodyPr wrap="none" lIns="0" tIns="0" rIns="0" bIns="0" rtlCol="0" anchor="t"/>
          <a:lstStyle/>
          <a:p>
            <a:pPr algn="l" indent="0" marL="0">
              <a:lnSpc>
                <a:spcPts val="1230"/>
              </a:lnSpc>
              <a:buNone/>
            </a:pPr>
            <a:r>
              <a:rPr lang="en-US" sz="984" b="1" dirty="0">
                <a:solidFill>
                  <a:srgbClr val="1F3864"/>
                </a:solidFill>
                <a:latin typeface="Carlito" pitchFamily="34" charset="0"/>
                <a:ea typeface="Carlito" pitchFamily="34" charset="-122"/>
                <a:cs typeface="Carlito" pitchFamily="34" charset="-120"/>
              </a:rPr>
              <a:t>What problem are we addressing?</a:t>
            </a:r>
            <a:endParaRPr lang="en-US" sz="984" dirty="0"/>
          </a:p>
        </p:txBody>
      </p:sp>
      <p:sp>
        <p:nvSpPr>
          <p:cNvPr id="13" name="Text 10"/>
          <p:cNvSpPr/>
          <p:nvPr/>
        </p:nvSpPr>
        <p:spPr>
          <a:xfrm>
            <a:off x="592931" y="1671414"/>
            <a:ext cx="3721894" cy="737108"/>
          </a:xfrm>
          <a:prstGeom prst="rect">
            <a:avLst/>
          </a:prstGeom>
          <a:noFill/>
          <a:ln/>
        </p:spPr>
        <p:txBody>
          <a:bodyPr wrap="square" lIns="0" tIns="0" rIns="0" bIns="0" rtlCol="0" anchor="t"/>
          <a:lstStyle/>
          <a:p>
            <a:pPr algn="l" indent="0" marL="0">
              <a:lnSpc>
                <a:spcPts val="1276"/>
              </a:lnSpc>
              <a:buNone/>
            </a:pPr>
            <a:r>
              <a:rPr lang="en-US" sz="800" dirty="0">
                <a:solidFill>
                  <a:srgbClr val="24313F"/>
                </a:solidFill>
                <a:latin typeface="Carlito" pitchFamily="34" charset="0"/>
                <a:ea typeface="Carlito" pitchFamily="34" charset="-122"/>
                <a:cs typeface="Carlito" pitchFamily="34" charset="-120"/>
              </a:rPr>
              <a:t>Land ownership still runs on fragmented paper registries and siloed digital portals. Title transfers depend on slow manual scrutiny, so records remain easy to forge and hard to verify. There is no single, tamper-proof source of truth for who owns what.</a:t>
            </a:r>
            <a:endParaRPr lang="en-US" sz="800" dirty="0"/>
          </a:p>
        </p:txBody>
      </p:sp>
      <p:sp>
        <p:nvSpPr>
          <p:cNvPr id="14" name="Text 11"/>
          <p:cNvSpPr/>
          <p:nvPr/>
        </p:nvSpPr>
        <p:spPr>
          <a:xfrm>
            <a:off x="4636294" y="1064196"/>
            <a:ext cx="4107656" cy="1832483"/>
          </a:xfrm>
          <a:prstGeom prst="roundRect">
            <a:avLst>
              <a:gd name="adj" fmla="val 5198"/>
            </a:avLst>
          </a:prstGeom>
          <a:solidFill>
            <a:srgbClr val="F5F8FB"/>
          </a:solidFill>
          <a:ln/>
        </p:spPr>
        <p:txBody>
          <a:bodyPr wrap="square" rtlCol="0" anchor="ctr"/>
          <a:lstStyle/>
          <a:p>
            <a:pPr indent="0" marL="0">
              <a:buNone/>
            </a:pPr>
            <a:endParaRPr lang="en-US" dirty="0"/>
          </a:p>
        </p:txBody>
      </p:sp>
      <p:sp>
        <p:nvSpPr>
          <p:cNvPr id="15" name="Shape 12"/>
          <p:cNvSpPr/>
          <p:nvPr/>
        </p:nvSpPr>
        <p:spPr>
          <a:xfrm>
            <a:off x="4636294" y="1078483"/>
            <a:ext cx="4107656" cy="0"/>
          </a:xfrm>
          <a:prstGeom prst="line">
            <a:avLst/>
          </a:prstGeom>
          <a:noFill/>
          <a:ln w="28575">
            <a:solidFill>
              <a:srgbClr val="E86A27"/>
            </a:solidFill>
            <a:prstDash val="solid"/>
          </a:ln>
        </p:spPr>
      </p:sp>
      <p:sp>
        <p:nvSpPr>
          <p:cNvPr id="16" name="Shape 13"/>
          <p:cNvSpPr/>
          <p:nvPr/>
        </p:nvSpPr>
        <p:spPr>
          <a:xfrm>
            <a:off x="8740378" y="1064196"/>
            <a:ext cx="0" cy="1832483"/>
          </a:xfrm>
          <a:prstGeom prst="line">
            <a:avLst/>
          </a:prstGeom>
          <a:noFill/>
          <a:ln w="7144">
            <a:solidFill>
              <a:srgbClr val="D9E0E8"/>
            </a:solidFill>
            <a:prstDash val="solid"/>
          </a:ln>
        </p:spPr>
      </p:sp>
      <p:sp>
        <p:nvSpPr>
          <p:cNvPr id="17" name="Shape 14"/>
          <p:cNvSpPr/>
          <p:nvPr/>
        </p:nvSpPr>
        <p:spPr>
          <a:xfrm>
            <a:off x="4636294" y="2893107"/>
            <a:ext cx="4107656" cy="0"/>
          </a:xfrm>
          <a:prstGeom prst="line">
            <a:avLst/>
          </a:prstGeom>
          <a:noFill/>
          <a:ln w="7144">
            <a:solidFill>
              <a:srgbClr val="D9E0E8"/>
            </a:solidFill>
            <a:prstDash val="solid"/>
          </a:ln>
        </p:spPr>
      </p:sp>
      <p:sp>
        <p:nvSpPr>
          <p:cNvPr id="18" name="Shape 15"/>
          <p:cNvSpPr/>
          <p:nvPr/>
        </p:nvSpPr>
        <p:spPr>
          <a:xfrm>
            <a:off x="4639866" y="1064196"/>
            <a:ext cx="0" cy="1832483"/>
          </a:xfrm>
          <a:prstGeom prst="line">
            <a:avLst/>
          </a:prstGeom>
          <a:noFill/>
          <a:ln w="7144">
            <a:solidFill>
              <a:srgbClr val="D9E0E8"/>
            </a:solidFill>
            <a:prstDash val="solid"/>
          </a:ln>
        </p:spPr>
      </p:sp>
      <p:sp>
        <p:nvSpPr>
          <p:cNvPr id="19" name="Text 16"/>
          <p:cNvSpPr/>
          <p:nvPr/>
        </p:nvSpPr>
        <p:spPr>
          <a:xfrm>
            <a:off x="4829175" y="1249933"/>
            <a:ext cx="328613" cy="328613"/>
          </a:xfrm>
          <a:prstGeom prst="roundRect">
            <a:avLst>
              <a:gd name="adj" fmla="val 28985"/>
            </a:avLst>
          </a:prstGeom>
          <a:solidFill>
            <a:srgbClr val="FDF0E7"/>
          </a:solidFill>
          <a:ln/>
        </p:spPr>
        <p:txBody>
          <a:bodyPr wrap="square" rtlCol="0" anchor="ctr"/>
          <a:lstStyle/>
          <a:p>
            <a:pPr indent="0" marL="0">
              <a:buNone/>
            </a:pPr>
            <a:endParaRPr lang="en-US" dirty="0"/>
          </a:p>
        </p:txBody>
      </p:sp>
      <p:sp>
        <p:nvSpPr>
          <p:cNvPr id="20" name="Text 17"/>
          <p:cNvSpPr/>
          <p:nvPr/>
        </p:nvSpPr>
        <p:spPr>
          <a:xfrm>
            <a:off x="4858822" y="1279580"/>
            <a:ext cx="269319" cy="269319"/>
          </a:xfrm>
          <a:prstGeom prst="rect">
            <a:avLst/>
          </a:prstGeom>
          <a:noFill/>
          <a:ln/>
        </p:spPr>
        <p:txBody>
          <a:bodyPr wrap="none" lIns="0" tIns="0" rIns="0" bIns="0" rtlCol="0" anchor="ctr"/>
          <a:lstStyle/>
          <a:p>
            <a:pPr algn="ctr" indent="0" marL="0">
              <a:buNone/>
            </a:pPr>
            <a:r>
              <a:rPr lang="en-US" sz="1828" dirty="0">
                <a:solidFill>
                  <a:srgbClr val="E86A27"/>
                </a:solidFill>
                <a:latin typeface="Segoe UI Symbol" pitchFamily="34" charset="0"/>
                <a:ea typeface="Segoe UI Symbol" pitchFamily="34" charset="-122"/>
                <a:cs typeface="Segoe UI Symbol" pitchFamily="34" charset="-120"/>
              </a:rPr>
              <a:t>♟</a:t>
            </a:r>
            <a:endParaRPr lang="en-US" sz="1828" dirty="0"/>
          </a:p>
        </p:txBody>
      </p:sp>
      <p:sp>
        <p:nvSpPr>
          <p:cNvPr id="21" name="Text 18"/>
          <p:cNvSpPr/>
          <p:nvPr/>
        </p:nvSpPr>
        <p:spPr>
          <a:xfrm>
            <a:off x="5257800" y="1336104"/>
            <a:ext cx="3293269" cy="168771"/>
          </a:xfrm>
          <a:prstGeom prst="rect">
            <a:avLst/>
          </a:prstGeom>
          <a:noFill/>
          <a:ln/>
        </p:spPr>
        <p:txBody>
          <a:bodyPr wrap="none" lIns="0" tIns="0" rIns="0" bIns="0" rtlCol="0" anchor="t"/>
          <a:lstStyle/>
          <a:p>
            <a:pPr algn="l" indent="0" marL="0">
              <a:lnSpc>
                <a:spcPts val="1230"/>
              </a:lnSpc>
              <a:buNone/>
            </a:pPr>
            <a:r>
              <a:rPr lang="en-US" sz="984" b="1" dirty="0">
                <a:solidFill>
                  <a:srgbClr val="1F3864"/>
                </a:solidFill>
                <a:latin typeface="Carlito" pitchFamily="34" charset="0"/>
                <a:ea typeface="Carlito" pitchFamily="34" charset="-122"/>
                <a:cs typeface="Carlito" pitchFamily="34" charset="-120"/>
              </a:rPr>
              <a:t>Who is affected?</a:t>
            </a:r>
            <a:endParaRPr lang="en-US" sz="984" dirty="0"/>
          </a:p>
        </p:txBody>
      </p:sp>
      <p:sp>
        <p:nvSpPr>
          <p:cNvPr id="22" name="Text 19"/>
          <p:cNvSpPr/>
          <p:nvPr/>
        </p:nvSpPr>
        <p:spPr>
          <a:xfrm>
            <a:off x="4829175" y="1671414"/>
            <a:ext cx="3721894" cy="552831"/>
          </a:xfrm>
          <a:prstGeom prst="rect">
            <a:avLst/>
          </a:prstGeom>
          <a:noFill/>
          <a:ln/>
        </p:spPr>
        <p:txBody>
          <a:bodyPr wrap="square" lIns="0" tIns="0" rIns="0" bIns="0" rtlCol="0" anchor="t"/>
          <a:lstStyle/>
          <a:p>
            <a:pPr algn="l" indent="0" marL="0">
              <a:lnSpc>
                <a:spcPts val="1276"/>
              </a:lnSpc>
              <a:buNone/>
            </a:pPr>
            <a:r>
              <a:rPr lang="en-US" sz="800" dirty="0">
                <a:solidFill>
                  <a:srgbClr val="24313F"/>
                </a:solidFill>
                <a:latin typeface="Carlito" pitchFamily="34" charset="0"/>
                <a:ea typeface="Carlito" pitchFamily="34" charset="-122"/>
                <a:cs typeface="Carlito" pitchFamily="34" charset="-120"/>
              </a:rPr>
              <a:t>Citizens and buyers risk the same plot being sold to multiple parties. Registrars drown in manual verification workloads, while banks hesitate to lend against titles that cannot be cryptographically proven.</a:t>
            </a:r>
            <a:endParaRPr lang="en-US" sz="800" dirty="0"/>
          </a:p>
        </p:txBody>
      </p:sp>
      <p:sp>
        <p:nvSpPr>
          <p:cNvPr id="23" name="Text 20"/>
          <p:cNvSpPr/>
          <p:nvPr/>
        </p:nvSpPr>
        <p:spPr>
          <a:xfrm>
            <a:off x="400050" y="3025267"/>
            <a:ext cx="4107656" cy="1832483"/>
          </a:xfrm>
          <a:prstGeom prst="roundRect">
            <a:avLst>
              <a:gd name="adj" fmla="val 5198"/>
            </a:avLst>
          </a:prstGeom>
          <a:solidFill>
            <a:srgbClr val="F5F8FB"/>
          </a:solidFill>
          <a:ln/>
        </p:spPr>
        <p:txBody>
          <a:bodyPr wrap="square" rtlCol="0" anchor="ctr"/>
          <a:lstStyle/>
          <a:p>
            <a:pPr indent="0" marL="0">
              <a:buNone/>
            </a:pPr>
            <a:endParaRPr lang="en-US" dirty="0"/>
          </a:p>
        </p:txBody>
      </p:sp>
      <p:sp>
        <p:nvSpPr>
          <p:cNvPr id="24" name="Shape 21"/>
          <p:cNvSpPr/>
          <p:nvPr/>
        </p:nvSpPr>
        <p:spPr>
          <a:xfrm>
            <a:off x="400050" y="3039554"/>
            <a:ext cx="4107656" cy="0"/>
          </a:xfrm>
          <a:prstGeom prst="line">
            <a:avLst/>
          </a:prstGeom>
          <a:noFill/>
          <a:ln w="28575">
            <a:solidFill>
              <a:srgbClr val="E86A27"/>
            </a:solidFill>
            <a:prstDash val="solid"/>
          </a:ln>
        </p:spPr>
      </p:sp>
      <p:sp>
        <p:nvSpPr>
          <p:cNvPr id="25" name="Shape 22"/>
          <p:cNvSpPr/>
          <p:nvPr/>
        </p:nvSpPr>
        <p:spPr>
          <a:xfrm>
            <a:off x="4504134" y="3025267"/>
            <a:ext cx="0" cy="1832483"/>
          </a:xfrm>
          <a:prstGeom prst="line">
            <a:avLst/>
          </a:prstGeom>
          <a:noFill/>
          <a:ln w="7144">
            <a:solidFill>
              <a:srgbClr val="D9E0E8"/>
            </a:solidFill>
            <a:prstDash val="solid"/>
          </a:ln>
        </p:spPr>
      </p:sp>
      <p:sp>
        <p:nvSpPr>
          <p:cNvPr id="26" name="Shape 23"/>
          <p:cNvSpPr/>
          <p:nvPr/>
        </p:nvSpPr>
        <p:spPr>
          <a:xfrm>
            <a:off x="400050" y="4854178"/>
            <a:ext cx="4107656" cy="0"/>
          </a:xfrm>
          <a:prstGeom prst="line">
            <a:avLst/>
          </a:prstGeom>
          <a:noFill/>
          <a:ln w="7144">
            <a:solidFill>
              <a:srgbClr val="D9E0E8"/>
            </a:solidFill>
            <a:prstDash val="solid"/>
          </a:ln>
        </p:spPr>
      </p:sp>
      <p:sp>
        <p:nvSpPr>
          <p:cNvPr id="27" name="Shape 24"/>
          <p:cNvSpPr/>
          <p:nvPr/>
        </p:nvSpPr>
        <p:spPr>
          <a:xfrm>
            <a:off x="403622" y="3025267"/>
            <a:ext cx="0" cy="1832483"/>
          </a:xfrm>
          <a:prstGeom prst="line">
            <a:avLst/>
          </a:prstGeom>
          <a:noFill/>
          <a:ln w="7144">
            <a:solidFill>
              <a:srgbClr val="D9E0E8"/>
            </a:solidFill>
            <a:prstDash val="solid"/>
          </a:ln>
        </p:spPr>
      </p:sp>
      <p:sp>
        <p:nvSpPr>
          <p:cNvPr id="28" name="Text 25"/>
          <p:cNvSpPr/>
          <p:nvPr/>
        </p:nvSpPr>
        <p:spPr>
          <a:xfrm>
            <a:off x="592931" y="3211004"/>
            <a:ext cx="328613" cy="328613"/>
          </a:xfrm>
          <a:prstGeom prst="roundRect">
            <a:avLst>
              <a:gd name="adj" fmla="val 28985"/>
            </a:avLst>
          </a:prstGeom>
          <a:solidFill>
            <a:srgbClr val="FDF0E7"/>
          </a:solidFill>
          <a:ln/>
        </p:spPr>
        <p:txBody>
          <a:bodyPr wrap="square" rtlCol="0" anchor="ctr"/>
          <a:lstStyle/>
          <a:p>
            <a:pPr indent="0" marL="0">
              <a:buNone/>
            </a:pPr>
            <a:endParaRPr lang="en-US" dirty="0"/>
          </a:p>
        </p:txBody>
      </p:sp>
      <p:sp>
        <p:nvSpPr>
          <p:cNvPr id="29" name="Text 26"/>
          <p:cNvSpPr/>
          <p:nvPr/>
        </p:nvSpPr>
        <p:spPr>
          <a:xfrm>
            <a:off x="622578" y="3240651"/>
            <a:ext cx="269319" cy="269319"/>
          </a:xfrm>
          <a:prstGeom prst="rect">
            <a:avLst/>
          </a:prstGeom>
          <a:noFill/>
          <a:ln/>
        </p:spPr>
        <p:txBody>
          <a:bodyPr wrap="none" lIns="0" tIns="0" rIns="0" bIns="0" rtlCol="0" anchor="ctr"/>
          <a:lstStyle/>
          <a:p>
            <a:pPr algn="ctr" indent="0" marL="0">
              <a:buNone/>
            </a:pPr>
            <a:r>
              <a:rPr lang="en-US" sz="1828" dirty="0">
                <a:solidFill>
                  <a:srgbClr val="E86A27"/>
                </a:solidFill>
                <a:latin typeface="Segoe UI Symbol" pitchFamily="34" charset="0"/>
                <a:ea typeface="Segoe UI Symbol" pitchFamily="34" charset="-122"/>
                <a:cs typeface="Segoe UI Symbol" pitchFamily="34" charset="-120"/>
              </a:rPr>
              <a:t>⚠</a:t>
            </a:r>
            <a:endParaRPr lang="en-US" sz="1828" dirty="0"/>
          </a:p>
        </p:txBody>
      </p:sp>
      <p:sp>
        <p:nvSpPr>
          <p:cNvPr id="30" name="Text 27"/>
          <p:cNvSpPr/>
          <p:nvPr/>
        </p:nvSpPr>
        <p:spPr>
          <a:xfrm>
            <a:off x="1021556" y="3297175"/>
            <a:ext cx="3293269" cy="168771"/>
          </a:xfrm>
          <a:prstGeom prst="rect">
            <a:avLst/>
          </a:prstGeom>
          <a:noFill/>
          <a:ln/>
        </p:spPr>
        <p:txBody>
          <a:bodyPr wrap="none" lIns="0" tIns="0" rIns="0" bIns="0" rtlCol="0" anchor="t"/>
          <a:lstStyle/>
          <a:p>
            <a:pPr algn="l" indent="0" marL="0">
              <a:lnSpc>
                <a:spcPts val="1230"/>
              </a:lnSpc>
              <a:buNone/>
            </a:pPr>
            <a:r>
              <a:rPr lang="en-US" sz="984" b="1" dirty="0">
                <a:solidFill>
                  <a:srgbClr val="1F3864"/>
                </a:solidFill>
                <a:latin typeface="Carlito" pitchFamily="34" charset="0"/>
                <a:ea typeface="Carlito" pitchFamily="34" charset="-122"/>
                <a:cs typeface="Carlito" pitchFamily="34" charset="-120"/>
              </a:rPr>
              <a:t>Current challenges</a:t>
            </a:r>
            <a:endParaRPr lang="en-US" sz="984" dirty="0"/>
          </a:p>
        </p:txBody>
      </p:sp>
      <p:sp>
        <p:nvSpPr>
          <p:cNvPr id="31" name="Text 28"/>
          <p:cNvSpPr/>
          <p:nvPr/>
        </p:nvSpPr>
        <p:spPr>
          <a:xfrm>
            <a:off x="592931" y="3632485"/>
            <a:ext cx="3721894" cy="737108"/>
          </a:xfrm>
          <a:prstGeom prst="rect">
            <a:avLst/>
          </a:prstGeom>
          <a:noFill/>
          <a:ln/>
        </p:spPr>
        <p:txBody>
          <a:bodyPr wrap="square" lIns="0" tIns="0" rIns="0" bIns="0" rtlCol="0" anchor="t"/>
          <a:lstStyle/>
          <a:p>
            <a:pPr algn="l" indent="0" marL="0">
              <a:lnSpc>
                <a:spcPts val="1276"/>
              </a:lnSpc>
              <a:buNone/>
            </a:pPr>
            <a:r>
              <a:rPr lang="en-US" sz="800" dirty="0">
                <a:solidFill>
                  <a:srgbClr val="24313F"/>
                </a:solidFill>
                <a:latin typeface="Carlito" pitchFamily="34" charset="0"/>
                <a:ea typeface="Carlito" pitchFamily="34" charset="-122"/>
                <a:cs typeface="Carlito" pitchFamily="34" charset="-120"/>
              </a:rPr>
              <a:t>Forged title deeds and duplicate sales of one property; no immutable ownership history visible to anyone; verification cycles that stretch for weeks; zero public audit trail; records scattered across departments and district offices.</a:t>
            </a:r>
            <a:endParaRPr lang="en-US" sz="800" dirty="0"/>
          </a:p>
        </p:txBody>
      </p:sp>
      <p:sp>
        <p:nvSpPr>
          <p:cNvPr id="32" name="Text 29"/>
          <p:cNvSpPr/>
          <p:nvPr/>
        </p:nvSpPr>
        <p:spPr>
          <a:xfrm>
            <a:off x="4636294" y="3025267"/>
            <a:ext cx="4107656" cy="1832483"/>
          </a:xfrm>
          <a:prstGeom prst="roundRect">
            <a:avLst>
              <a:gd name="adj" fmla="val 5198"/>
            </a:avLst>
          </a:prstGeom>
          <a:solidFill>
            <a:srgbClr val="F5F8FB"/>
          </a:solidFill>
          <a:ln/>
        </p:spPr>
        <p:txBody>
          <a:bodyPr wrap="square" rtlCol="0" anchor="ctr"/>
          <a:lstStyle/>
          <a:p>
            <a:pPr indent="0" marL="0">
              <a:buNone/>
            </a:pPr>
            <a:endParaRPr lang="en-US" dirty="0"/>
          </a:p>
        </p:txBody>
      </p:sp>
      <p:sp>
        <p:nvSpPr>
          <p:cNvPr id="33" name="Shape 30"/>
          <p:cNvSpPr/>
          <p:nvPr/>
        </p:nvSpPr>
        <p:spPr>
          <a:xfrm>
            <a:off x="4636294" y="3039554"/>
            <a:ext cx="4107656" cy="0"/>
          </a:xfrm>
          <a:prstGeom prst="line">
            <a:avLst/>
          </a:prstGeom>
          <a:noFill/>
          <a:ln w="28575">
            <a:solidFill>
              <a:srgbClr val="E86A27"/>
            </a:solidFill>
            <a:prstDash val="solid"/>
          </a:ln>
        </p:spPr>
      </p:sp>
      <p:sp>
        <p:nvSpPr>
          <p:cNvPr id="34" name="Shape 31"/>
          <p:cNvSpPr/>
          <p:nvPr/>
        </p:nvSpPr>
        <p:spPr>
          <a:xfrm>
            <a:off x="8740378" y="3025267"/>
            <a:ext cx="0" cy="1832483"/>
          </a:xfrm>
          <a:prstGeom prst="line">
            <a:avLst/>
          </a:prstGeom>
          <a:noFill/>
          <a:ln w="7144">
            <a:solidFill>
              <a:srgbClr val="D9E0E8"/>
            </a:solidFill>
            <a:prstDash val="solid"/>
          </a:ln>
        </p:spPr>
      </p:sp>
      <p:sp>
        <p:nvSpPr>
          <p:cNvPr id="35" name="Shape 32"/>
          <p:cNvSpPr/>
          <p:nvPr/>
        </p:nvSpPr>
        <p:spPr>
          <a:xfrm>
            <a:off x="4636294" y="4854178"/>
            <a:ext cx="4107656" cy="0"/>
          </a:xfrm>
          <a:prstGeom prst="line">
            <a:avLst/>
          </a:prstGeom>
          <a:noFill/>
          <a:ln w="7144">
            <a:solidFill>
              <a:srgbClr val="D9E0E8"/>
            </a:solidFill>
            <a:prstDash val="solid"/>
          </a:ln>
        </p:spPr>
      </p:sp>
      <p:sp>
        <p:nvSpPr>
          <p:cNvPr id="36" name="Shape 33"/>
          <p:cNvSpPr/>
          <p:nvPr/>
        </p:nvSpPr>
        <p:spPr>
          <a:xfrm>
            <a:off x="4639866" y="3025267"/>
            <a:ext cx="0" cy="1832483"/>
          </a:xfrm>
          <a:prstGeom prst="line">
            <a:avLst/>
          </a:prstGeom>
          <a:noFill/>
          <a:ln w="7144">
            <a:solidFill>
              <a:srgbClr val="D9E0E8"/>
            </a:solidFill>
            <a:prstDash val="solid"/>
          </a:ln>
        </p:spPr>
      </p:sp>
      <p:sp>
        <p:nvSpPr>
          <p:cNvPr id="37" name="Text 34"/>
          <p:cNvSpPr/>
          <p:nvPr/>
        </p:nvSpPr>
        <p:spPr>
          <a:xfrm>
            <a:off x="4829175" y="3211004"/>
            <a:ext cx="328613" cy="328613"/>
          </a:xfrm>
          <a:prstGeom prst="roundRect">
            <a:avLst>
              <a:gd name="adj" fmla="val 28985"/>
            </a:avLst>
          </a:prstGeom>
          <a:solidFill>
            <a:srgbClr val="FDF0E7"/>
          </a:solidFill>
          <a:ln/>
        </p:spPr>
        <p:txBody>
          <a:bodyPr wrap="square" rtlCol="0" anchor="ctr"/>
          <a:lstStyle/>
          <a:p>
            <a:pPr indent="0" marL="0">
              <a:buNone/>
            </a:pPr>
            <a:endParaRPr lang="en-US" dirty="0"/>
          </a:p>
        </p:txBody>
      </p:sp>
      <p:sp>
        <p:nvSpPr>
          <p:cNvPr id="38" name="Text 35"/>
          <p:cNvSpPr/>
          <p:nvPr/>
        </p:nvSpPr>
        <p:spPr>
          <a:xfrm>
            <a:off x="4858822" y="3240651"/>
            <a:ext cx="269319" cy="269319"/>
          </a:xfrm>
          <a:prstGeom prst="rect">
            <a:avLst/>
          </a:prstGeom>
          <a:noFill/>
          <a:ln/>
        </p:spPr>
        <p:txBody>
          <a:bodyPr wrap="none" lIns="0" tIns="0" rIns="0" bIns="0" rtlCol="0" anchor="ctr"/>
          <a:lstStyle/>
          <a:p>
            <a:pPr algn="ctr" indent="0" marL="0">
              <a:buNone/>
            </a:pPr>
            <a:r>
              <a:rPr lang="en-US" sz="1828" dirty="0">
                <a:solidFill>
                  <a:srgbClr val="E86A27"/>
                </a:solidFill>
                <a:latin typeface="Segoe UI Symbol" pitchFamily="34" charset="0"/>
                <a:ea typeface="Segoe UI Symbol" pitchFamily="34" charset="-122"/>
                <a:cs typeface="Segoe UI Symbol" pitchFamily="34" charset="-120"/>
              </a:rPr>
              <a:t>◯</a:t>
            </a:r>
            <a:endParaRPr lang="en-US" sz="1828" dirty="0"/>
          </a:p>
        </p:txBody>
      </p:sp>
      <p:sp>
        <p:nvSpPr>
          <p:cNvPr id="39" name="Text 36"/>
          <p:cNvSpPr/>
          <p:nvPr/>
        </p:nvSpPr>
        <p:spPr>
          <a:xfrm>
            <a:off x="5257800" y="3297175"/>
            <a:ext cx="3293269" cy="168771"/>
          </a:xfrm>
          <a:prstGeom prst="rect">
            <a:avLst/>
          </a:prstGeom>
          <a:noFill/>
          <a:ln/>
        </p:spPr>
        <p:txBody>
          <a:bodyPr wrap="none" lIns="0" tIns="0" rIns="0" bIns="0" rtlCol="0" anchor="t"/>
          <a:lstStyle/>
          <a:p>
            <a:pPr algn="l" indent="0" marL="0">
              <a:lnSpc>
                <a:spcPts val="1230"/>
              </a:lnSpc>
              <a:buNone/>
            </a:pPr>
            <a:r>
              <a:rPr lang="en-US" sz="984" b="1" dirty="0">
                <a:solidFill>
                  <a:srgbClr val="1F3864"/>
                </a:solidFill>
                <a:latin typeface="Carlito" pitchFamily="34" charset="0"/>
                <a:ea typeface="Carlito" pitchFamily="34" charset="-122"/>
                <a:cs typeface="Carlito" pitchFamily="34" charset="-120"/>
              </a:rPr>
              <a:t>Why is the problem important?</a:t>
            </a:r>
            <a:endParaRPr lang="en-US" sz="984" dirty="0"/>
          </a:p>
        </p:txBody>
      </p:sp>
      <p:sp>
        <p:nvSpPr>
          <p:cNvPr id="40" name="Text 37"/>
          <p:cNvSpPr/>
          <p:nvPr/>
        </p:nvSpPr>
        <p:spPr>
          <a:xfrm>
            <a:off x="4829175" y="3632485"/>
            <a:ext cx="3721894" cy="737108"/>
          </a:xfrm>
          <a:prstGeom prst="rect">
            <a:avLst/>
          </a:prstGeom>
          <a:noFill/>
          <a:ln/>
        </p:spPr>
        <p:txBody>
          <a:bodyPr wrap="square" lIns="0" tIns="0" rIns="0" bIns="0" rtlCol="0" anchor="t"/>
          <a:lstStyle/>
          <a:p>
            <a:pPr algn="l" indent="0" marL="0">
              <a:lnSpc>
                <a:spcPts val="1276"/>
              </a:lnSpc>
              <a:buNone/>
            </a:pPr>
            <a:r>
              <a:rPr lang="en-US" sz="800" dirty="0">
                <a:solidFill>
                  <a:srgbClr val="24313F"/>
                </a:solidFill>
                <a:latin typeface="Carlito" pitchFamily="34" charset="0"/>
                <a:ea typeface="Carlito" pitchFamily="34" charset="-122"/>
                <a:cs typeface="Carlito" pitchFamily="34" charset="-120"/>
              </a:rPr>
              <a:t>Land and property disputes drive roughly two-thirds of India civil litigation (Daksh access-to-justice study), locking property capital for decades. Secure, verifiable digital titling is a declared national priority under the DILRMP programme.</a:t>
            </a:r>
            <a:endParaRPr lang="en-US" sz="800" dirty="0"/>
          </a:p>
        </p:txBody>
      </p:sp>
      <p:sp>
        <p:nvSpPr>
          <p:cNvPr id="41" name="Text 38"/>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2" name="Text 39"/>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3" name="Text 40"/>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44" name="Text 41"/>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2 of 10</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5493499" cy="257255"/>
          </a:xfrm>
          <a:prstGeom prst="rect">
            <a:avLst/>
          </a:prstGeom>
          <a:noFill/>
          <a:ln/>
        </p:spPr>
        <p:txBody>
          <a:bodyPr wrap="squar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EXISTING SOLUTION / LITERATURE REVIEW</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4107656" cy="2812070"/>
          </a:xfrm>
          <a:prstGeom prst="roundRect">
            <a:avLst>
              <a:gd name="adj" fmla="val 3387"/>
            </a:avLst>
          </a:prstGeom>
          <a:solidFill>
            <a:srgbClr val="F5F8FB"/>
          </a:solidFill>
          <a:ln/>
        </p:spPr>
        <p:txBody>
          <a:bodyPr wrap="square" rtlCol="0" anchor="ctr"/>
          <a:lstStyle/>
          <a:p>
            <a:pPr indent="0" marL="0">
              <a:buNone/>
            </a:pPr>
            <a:endParaRPr lang="en-US" dirty="0"/>
          </a:p>
        </p:txBody>
      </p:sp>
      <p:sp>
        <p:nvSpPr>
          <p:cNvPr id="6" name="Shape 3"/>
          <p:cNvSpPr/>
          <p:nvPr/>
        </p:nvSpPr>
        <p:spPr>
          <a:xfrm>
            <a:off x="400050" y="1078483"/>
            <a:ext cx="4107656" cy="0"/>
          </a:xfrm>
          <a:prstGeom prst="line">
            <a:avLst/>
          </a:prstGeom>
          <a:noFill/>
          <a:ln w="28575">
            <a:solidFill>
              <a:srgbClr val="1F3864"/>
            </a:solidFill>
            <a:prstDash val="solid"/>
          </a:ln>
        </p:spPr>
      </p:sp>
      <p:sp>
        <p:nvSpPr>
          <p:cNvPr id="7" name="Shape 4"/>
          <p:cNvSpPr/>
          <p:nvPr/>
        </p:nvSpPr>
        <p:spPr>
          <a:xfrm>
            <a:off x="4504134" y="1064196"/>
            <a:ext cx="0" cy="2812070"/>
          </a:xfrm>
          <a:prstGeom prst="line">
            <a:avLst/>
          </a:prstGeom>
          <a:noFill/>
          <a:ln w="7144">
            <a:solidFill>
              <a:srgbClr val="D9E0E8"/>
            </a:solidFill>
            <a:prstDash val="solid"/>
          </a:ln>
        </p:spPr>
      </p:sp>
      <p:sp>
        <p:nvSpPr>
          <p:cNvPr id="8" name="Shape 5"/>
          <p:cNvSpPr/>
          <p:nvPr/>
        </p:nvSpPr>
        <p:spPr>
          <a:xfrm>
            <a:off x="400050" y="3872694"/>
            <a:ext cx="4107656" cy="0"/>
          </a:xfrm>
          <a:prstGeom prst="line">
            <a:avLst/>
          </a:prstGeom>
          <a:noFill/>
          <a:ln w="7144">
            <a:solidFill>
              <a:srgbClr val="D9E0E8"/>
            </a:solidFill>
            <a:prstDash val="solid"/>
          </a:ln>
        </p:spPr>
      </p:sp>
      <p:sp>
        <p:nvSpPr>
          <p:cNvPr id="9" name="Shape 6"/>
          <p:cNvSpPr/>
          <p:nvPr/>
        </p:nvSpPr>
        <p:spPr>
          <a:xfrm>
            <a:off x="403622" y="1064196"/>
            <a:ext cx="0" cy="2812070"/>
          </a:xfrm>
          <a:prstGeom prst="line">
            <a:avLst/>
          </a:prstGeom>
          <a:noFill/>
          <a:ln w="7144">
            <a:solidFill>
              <a:srgbClr val="D9E0E8"/>
            </a:solidFill>
            <a:prstDash val="solid"/>
          </a:ln>
        </p:spPr>
      </p:sp>
      <p:sp>
        <p:nvSpPr>
          <p:cNvPr id="10" name="Text 7"/>
          <p:cNvSpPr/>
          <p:nvPr/>
        </p:nvSpPr>
        <p:spPr>
          <a:xfrm>
            <a:off x="564356" y="1292796"/>
            <a:ext cx="185738" cy="28575"/>
          </a:xfrm>
          <a:prstGeom prst="roundRect">
            <a:avLst>
              <a:gd name="adj" fmla="val 66667"/>
            </a:avLst>
          </a:prstGeom>
          <a:solidFill>
            <a:srgbClr val="1F3864"/>
          </a:solidFill>
          <a:ln/>
        </p:spPr>
        <p:txBody>
          <a:bodyPr wrap="square" rtlCol="0" anchor="ctr"/>
          <a:lstStyle/>
          <a:p>
            <a:pPr indent="0" marL="0">
              <a:buNone/>
            </a:pPr>
            <a:endParaRPr lang="en-US" dirty="0"/>
          </a:p>
        </p:txBody>
      </p:sp>
      <p:sp>
        <p:nvSpPr>
          <p:cNvPr id="11" name="Text 8"/>
          <p:cNvSpPr/>
          <p:nvPr/>
        </p:nvSpPr>
        <p:spPr>
          <a:xfrm>
            <a:off x="821531" y="1221358"/>
            <a:ext cx="3521869" cy="185166"/>
          </a:xfrm>
          <a:prstGeom prst="rect">
            <a:avLst/>
          </a:prstGeom>
          <a:noFill/>
          <a:ln/>
        </p:spPr>
        <p:txBody>
          <a:bodyPr wrap="none" lIns="0" tIns="0" rIns="0" bIns="0" rtlCol="0" anchor="t"/>
          <a:lstStyle/>
          <a:p>
            <a:pPr algn="l" indent="0" marL="0">
              <a:lnSpc>
                <a:spcPts val="1350"/>
              </a:lnSpc>
              <a:buNone/>
            </a:pPr>
            <a:r>
              <a:rPr lang="en-US" sz="900" b="1" dirty="0">
                <a:solidFill>
                  <a:srgbClr val="1F3864"/>
                </a:solidFill>
                <a:latin typeface="Carlito" pitchFamily="34" charset="0"/>
                <a:ea typeface="Carlito" pitchFamily="34" charset="-122"/>
                <a:cs typeface="Carlito" pitchFamily="34" charset="-120"/>
              </a:rPr>
              <a:t>Existing methods &amp; products</a:t>
            </a:r>
            <a:endParaRPr lang="en-US" sz="900" dirty="0"/>
          </a:p>
        </p:txBody>
      </p:sp>
      <p:sp>
        <p:nvSpPr>
          <p:cNvPr id="12" name="Text 9"/>
          <p:cNvSpPr/>
          <p:nvPr/>
        </p:nvSpPr>
        <p:spPr>
          <a:xfrm>
            <a:off x="564356" y="1646523"/>
            <a:ext cx="242888" cy="242888"/>
          </a:xfrm>
          <a:prstGeom prst="roundRect">
            <a:avLst>
              <a:gd name="adj" fmla="val 31372"/>
            </a:avLst>
          </a:prstGeom>
          <a:solidFill>
            <a:srgbClr val="EEF2F7"/>
          </a:solidFill>
          <a:ln/>
        </p:spPr>
        <p:txBody>
          <a:bodyPr wrap="square" rtlCol="0" anchor="ctr"/>
          <a:lstStyle/>
          <a:p>
            <a:pPr indent="0" marL="0">
              <a:buNone/>
            </a:pPr>
            <a:endParaRPr lang="en-US" dirty="0"/>
          </a:p>
        </p:txBody>
      </p:sp>
      <p:sp>
        <p:nvSpPr>
          <p:cNvPr id="13" name="Text 10"/>
          <p:cNvSpPr/>
          <p:nvPr/>
        </p:nvSpPr>
        <p:spPr>
          <a:xfrm>
            <a:off x="587395" y="1669561"/>
            <a:ext cx="196810" cy="196810"/>
          </a:xfrm>
          <a:prstGeom prst="rect">
            <a:avLst/>
          </a:prstGeom>
          <a:noFill/>
          <a:ln/>
        </p:spPr>
        <p:txBody>
          <a:bodyPr wrap="none" lIns="0" tIns="0" rIns="0" bIns="0" rtlCol="0" anchor="ctr"/>
          <a:lstStyle/>
          <a:p>
            <a:pPr algn="ctr" indent="0" marL="0">
              <a:buNone/>
            </a:pPr>
            <a:r>
              <a:rPr lang="en-US" sz="1336" dirty="0">
                <a:solidFill>
                  <a:srgbClr val="1F3864"/>
                </a:solidFill>
                <a:latin typeface="Segoe UI Symbol" pitchFamily="34" charset="0"/>
                <a:ea typeface="Segoe UI Symbol" pitchFamily="34" charset="-122"/>
                <a:cs typeface="Segoe UI Symbol" pitchFamily="34" charset="-120"/>
              </a:rPr>
              <a:t>◯</a:t>
            </a:r>
            <a:endParaRPr lang="en-US" sz="1336" dirty="0"/>
          </a:p>
        </p:txBody>
      </p:sp>
      <p:sp>
        <p:nvSpPr>
          <p:cNvPr id="14" name="Text 11"/>
          <p:cNvSpPr/>
          <p:nvPr/>
        </p:nvSpPr>
        <p:spPr>
          <a:xfrm>
            <a:off x="892969" y="1646523"/>
            <a:ext cx="3450431" cy="340157"/>
          </a:xfrm>
          <a:prstGeom prst="rect">
            <a:avLst/>
          </a:prstGeom>
          <a:noFill/>
          <a:ln/>
        </p:spPr>
        <p:txBody>
          <a:bodyPr wrap="square" lIns="0" tIns="0" rIns="0" bIns="0" rtlCol="0" anchor="t"/>
          <a:lstStyle/>
          <a:p>
            <a:pPr algn="l" indent="0" marL="0">
              <a:lnSpc>
                <a:spcPts val="1090"/>
              </a:lnSpc>
              <a:buNone/>
            </a:pPr>
            <a:r>
              <a:rPr lang="en-US" sz="800" b="1" dirty="0">
                <a:solidFill>
                  <a:srgbClr val="1F3864"/>
                </a:solidFill>
                <a:latin typeface="Carlito" pitchFamily="34" charset="0"/>
                <a:ea typeface="Carlito" pitchFamily="34" charset="-122"/>
                <a:cs typeface="Carlito" pitchFamily="34" charset="-120"/>
              </a:rPr>
              <a:t>State land-record portals</a:t>
            </a:r>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 — Bhulekh, Mee Bhoomi, Dharani digitized records, but stored in centralized, mutable databases.</a:t>
            </a:r>
            <a:endParaRPr lang="en-US" sz="800" dirty="0"/>
          </a:p>
        </p:txBody>
      </p:sp>
      <p:sp>
        <p:nvSpPr>
          <p:cNvPr id="15" name="Text 12"/>
          <p:cNvSpPr/>
          <p:nvPr/>
        </p:nvSpPr>
        <p:spPr>
          <a:xfrm>
            <a:off x="564356" y="2177169"/>
            <a:ext cx="242888" cy="242888"/>
          </a:xfrm>
          <a:prstGeom prst="roundRect">
            <a:avLst>
              <a:gd name="adj" fmla="val 31372"/>
            </a:avLst>
          </a:prstGeom>
          <a:solidFill>
            <a:srgbClr val="EEF2F7"/>
          </a:solidFill>
          <a:ln/>
        </p:spPr>
        <p:txBody>
          <a:bodyPr wrap="square" rtlCol="0" anchor="ctr"/>
          <a:lstStyle/>
          <a:p>
            <a:pPr indent="0" marL="0">
              <a:buNone/>
            </a:pPr>
            <a:endParaRPr lang="en-US" dirty="0"/>
          </a:p>
        </p:txBody>
      </p:sp>
      <p:sp>
        <p:nvSpPr>
          <p:cNvPr id="16" name="Text 13"/>
          <p:cNvSpPr/>
          <p:nvPr/>
        </p:nvSpPr>
        <p:spPr>
          <a:xfrm>
            <a:off x="587395" y="2200208"/>
            <a:ext cx="196810" cy="196810"/>
          </a:xfrm>
          <a:prstGeom prst="rect">
            <a:avLst/>
          </a:prstGeom>
          <a:noFill/>
          <a:ln/>
        </p:spPr>
        <p:txBody>
          <a:bodyPr wrap="none" lIns="0" tIns="0" rIns="0" bIns="0" rtlCol="0" anchor="ctr"/>
          <a:lstStyle/>
          <a:p>
            <a:pPr algn="ctr" indent="0" marL="0">
              <a:buNone/>
            </a:pPr>
            <a:r>
              <a:rPr lang="en-US" sz="1336" dirty="0">
                <a:solidFill>
                  <a:srgbClr val="1F3864"/>
                </a:solidFill>
                <a:latin typeface="Segoe UI Symbol" pitchFamily="34" charset="0"/>
                <a:ea typeface="Segoe UI Symbol" pitchFamily="34" charset="-122"/>
                <a:cs typeface="Segoe UI Symbol" pitchFamily="34" charset="-120"/>
              </a:rPr>
              <a:t>🏛</a:t>
            </a:r>
            <a:endParaRPr lang="en-US" sz="1336" dirty="0"/>
          </a:p>
        </p:txBody>
      </p:sp>
      <p:sp>
        <p:nvSpPr>
          <p:cNvPr id="17" name="Text 14"/>
          <p:cNvSpPr/>
          <p:nvPr/>
        </p:nvSpPr>
        <p:spPr>
          <a:xfrm>
            <a:off x="892969" y="2177169"/>
            <a:ext cx="3450431" cy="340157"/>
          </a:xfrm>
          <a:prstGeom prst="rect">
            <a:avLst/>
          </a:prstGeom>
          <a:noFill/>
          <a:ln/>
        </p:spPr>
        <p:txBody>
          <a:bodyPr wrap="square" lIns="0" tIns="0" rIns="0" bIns="0" rtlCol="0" anchor="t"/>
          <a:lstStyle/>
          <a:p>
            <a:pPr algn="l" indent="0" marL="0">
              <a:lnSpc>
                <a:spcPts val="1090"/>
              </a:lnSpc>
              <a:buNone/>
            </a:pPr>
            <a:r>
              <a:rPr lang="en-US" sz="800" b="1" dirty="0">
                <a:solidFill>
                  <a:srgbClr val="1F3864"/>
                </a:solidFill>
                <a:latin typeface="Carlito" pitchFamily="34" charset="0"/>
                <a:ea typeface="Carlito" pitchFamily="34" charset="-122"/>
                <a:cs typeface="Carlito" pitchFamily="34" charset="-120"/>
              </a:rPr>
              <a:t>Sub-Registrar offices</a:t>
            </a:r>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 — in-person deed registration with paper annexures and wet-ink signatures.</a:t>
            </a:r>
            <a:endParaRPr lang="en-US" sz="800" dirty="0"/>
          </a:p>
        </p:txBody>
      </p:sp>
      <p:sp>
        <p:nvSpPr>
          <p:cNvPr id="18" name="Text 15"/>
          <p:cNvSpPr/>
          <p:nvPr/>
        </p:nvSpPr>
        <p:spPr>
          <a:xfrm>
            <a:off x="564356" y="2707816"/>
            <a:ext cx="242888" cy="242888"/>
          </a:xfrm>
          <a:prstGeom prst="roundRect">
            <a:avLst>
              <a:gd name="adj" fmla="val 31372"/>
            </a:avLst>
          </a:prstGeom>
          <a:solidFill>
            <a:srgbClr val="EEF2F7"/>
          </a:solidFill>
          <a:ln/>
        </p:spPr>
        <p:txBody>
          <a:bodyPr wrap="square" rtlCol="0" anchor="ctr"/>
          <a:lstStyle/>
          <a:p>
            <a:pPr indent="0" marL="0">
              <a:buNone/>
            </a:pPr>
            <a:endParaRPr lang="en-US" dirty="0"/>
          </a:p>
        </p:txBody>
      </p:sp>
      <p:sp>
        <p:nvSpPr>
          <p:cNvPr id="19" name="Text 16"/>
          <p:cNvSpPr/>
          <p:nvPr/>
        </p:nvSpPr>
        <p:spPr>
          <a:xfrm>
            <a:off x="587395" y="2730855"/>
            <a:ext cx="196810" cy="196810"/>
          </a:xfrm>
          <a:prstGeom prst="rect">
            <a:avLst/>
          </a:prstGeom>
          <a:noFill/>
          <a:ln/>
        </p:spPr>
        <p:txBody>
          <a:bodyPr wrap="none" lIns="0" tIns="0" rIns="0" bIns="0" rtlCol="0" anchor="ctr"/>
          <a:lstStyle/>
          <a:p>
            <a:pPr algn="ctr" indent="0" marL="0">
              <a:buNone/>
            </a:pPr>
            <a:r>
              <a:rPr lang="en-US" sz="1336" dirty="0">
                <a:solidFill>
                  <a:srgbClr val="1F3864"/>
                </a:solidFill>
                <a:latin typeface="Segoe UI Symbol" pitchFamily="34" charset="0"/>
                <a:ea typeface="Segoe UI Symbol" pitchFamily="34" charset="-122"/>
                <a:cs typeface="Segoe UI Symbol" pitchFamily="34" charset="-120"/>
              </a:rPr>
              <a:t>▣</a:t>
            </a:r>
            <a:endParaRPr lang="en-US" sz="1336" dirty="0"/>
          </a:p>
        </p:txBody>
      </p:sp>
      <p:sp>
        <p:nvSpPr>
          <p:cNvPr id="20" name="Text 17"/>
          <p:cNvSpPr/>
          <p:nvPr/>
        </p:nvSpPr>
        <p:spPr>
          <a:xfrm>
            <a:off x="892969" y="2707816"/>
            <a:ext cx="3450431" cy="340157"/>
          </a:xfrm>
          <a:prstGeom prst="rect">
            <a:avLst/>
          </a:prstGeom>
          <a:noFill/>
          <a:ln/>
        </p:spPr>
        <p:txBody>
          <a:bodyPr wrap="square" lIns="0" tIns="0" rIns="0" bIns="0" rtlCol="0" anchor="t"/>
          <a:lstStyle/>
          <a:p>
            <a:pPr algn="l" indent="0" marL="0">
              <a:lnSpc>
                <a:spcPts val="1090"/>
              </a:lnSpc>
              <a:buNone/>
            </a:pPr>
            <a:r>
              <a:rPr lang="en-US" sz="800" b="1" dirty="0">
                <a:solidFill>
                  <a:srgbClr val="1F3864"/>
                </a:solidFill>
                <a:latin typeface="Carlito" pitchFamily="34" charset="0"/>
                <a:ea typeface="Carlito" pitchFamily="34" charset="-122"/>
                <a:cs typeface="Carlito" pitchFamily="34" charset="-120"/>
              </a:rPr>
              <a:t>DILRMP (Govt. of India)</a:t>
            </a:r>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 — national programme digitizing records, maps and integration.</a:t>
            </a:r>
            <a:endParaRPr lang="en-US" sz="800" dirty="0"/>
          </a:p>
        </p:txBody>
      </p:sp>
      <p:sp>
        <p:nvSpPr>
          <p:cNvPr id="21" name="Text 18"/>
          <p:cNvSpPr/>
          <p:nvPr/>
        </p:nvSpPr>
        <p:spPr>
          <a:xfrm>
            <a:off x="564356" y="3238351"/>
            <a:ext cx="242888" cy="242888"/>
          </a:xfrm>
          <a:prstGeom prst="roundRect">
            <a:avLst>
              <a:gd name="adj" fmla="val 31372"/>
            </a:avLst>
          </a:prstGeom>
          <a:solidFill>
            <a:srgbClr val="EEF2F7"/>
          </a:solidFill>
          <a:ln/>
        </p:spPr>
        <p:txBody>
          <a:bodyPr wrap="square" rtlCol="0" anchor="ctr"/>
          <a:lstStyle/>
          <a:p>
            <a:pPr indent="0" marL="0">
              <a:buNone/>
            </a:pPr>
            <a:endParaRPr lang="en-US" dirty="0"/>
          </a:p>
        </p:txBody>
      </p:sp>
      <p:sp>
        <p:nvSpPr>
          <p:cNvPr id="22" name="Text 19"/>
          <p:cNvSpPr/>
          <p:nvPr/>
        </p:nvSpPr>
        <p:spPr>
          <a:xfrm>
            <a:off x="587395" y="3261390"/>
            <a:ext cx="196810" cy="196810"/>
          </a:xfrm>
          <a:prstGeom prst="rect">
            <a:avLst/>
          </a:prstGeom>
          <a:noFill/>
          <a:ln/>
        </p:spPr>
        <p:txBody>
          <a:bodyPr wrap="none" lIns="0" tIns="0" rIns="0" bIns="0" rtlCol="0" anchor="ctr"/>
          <a:lstStyle/>
          <a:p>
            <a:pPr algn="ctr" indent="0" marL="0">
              <a:buNone/>
            </a:pPr>
            <a:r>
              <a:rPr lang="en-US" sz="1336" dirty="0">
                <a:solidFill>
                  <a:srgbClr val="1F3864"/>
                </a:solidFill>
                <a:latin typeface="Segoe UI Symbol" pitchFamily="34" charset="0"/>
                <a:ea typeface="Segoe UI Symbol" pitchFamily="34" charset="-122"/>
                <a:cs typeface="Segoe UI Symbol" pitchFamily="34" charset="-120"/>
              </a:rPr>
              <a:t>✦</a:t>
            </a:r>
            <a:endParaRPr lang="en-US" sz="1336" dirty="0"/>
          </a:p>
        </p:txBody>
      </p:sp>
      <p:sp>
        <p:nvSpPr>
          <p:cNvPr id="23" name="Text 20"/>
          <p:cNvSpPr/>
          <p:nvPr/>
        </p:nvSpPr>
        <p:spPr>
          <a:xfrm>
            <a:off x="892969" y="3238351"/>
            <a:ext cx="3450431" cy="340157"/>
          </a:xfrm>
          <a:prstGeom prst="rect">
            <a:avLst/>
          </a:prstGeom>
          <a:noFill/>
          <a:ln/>
        </p:spPr>
        <p:txBody>
          <a:bodyPr wrap="square" lIns="0" tIns="0" rIns="0" bIns="0" rtlCol="0" anchor="t"/>
          <a:lstStyle/>
          <a:p>
            <a:pPr algn="l" indent="0" marL="0">
              <a:lnSpc>
                <a:spcPts val="1090"/>
              </a:lnSpc>
              <a:buNone/>
            </a:pPr>
            <a:r>
              <a:rPr lang="en-US" sz="800" b="1" dirty="0">
                <a:solidFill>
                  <a:srgbClr val="1F3864"/>
                </a:solidFill>
                <a:latin typeface="Carlito" pitchFamily="34" charset="0"/>
                <a:ea typeface="Carlito" pitchFamily="34" charset="-122"/>
                <a:cs typeface="Carlito" pitchFamily="34" charset="-120"/>
              </a:rPr>
              <a:t>Blockchain land-title pilots</a:t>
            </a:r>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 — Georgia, Sweden and Andhra Pradesh proof-of-concepts for registry records.</a:t>
            </a:r>
            <a:endParaRPr lang="en-US" sz="800" dirty="0"/>
          </a:p>
        </p:txBody>
      </p:sp>
      <p:sp>
        <p:nvSpPr>
          <p:cNvPr id="24" name="Text 21"/>
          <p:cNvSpPr/>
          <p:nvPr/>
        </p:nvSpPr>
        <p:spPr>
          <a:xfrm>
            <a:off x="4636294" y="1064196"/>
            <a:ext cx="4107656" cy="2812070"/>
          </a:xfrm>
          <a:prstGeom prst="roundRect">
            <a:avLst>
              <a:gd name="adj" fmla="val 3387"/>
            </a:avLst>
          </a:prstGeom>
          <a:solidFill>
            <a:srgbClr val="F5F8FB"/>
          </a:solidFill>
          <a:ln/>
        </p:spPr>
        <p:txBody>
          <a:bodyPr wrap="square" rtlCol="0" anchor="ctr"/>
          <a:lstStyle/>
          <a:p>
            <a:pPr indent="0" marL="0">
              <a:buNone/>
            </a:pPr>
            <a:endParaRPr lang="en-US" dirty="0"/>
          </a:p>
        </p:txBody>
      </p:sp>
      <p:sp>
        <p:nvSpPr>
          <p:cNvPr id="25" name="Shape 22"/>
          <p:cNvSpPr/>
          <p:nvPr/>
        </p:nvSpPr>
        <p:spPr>
          <a:xfrm>
            <a:off x="4636294" y="1078483"/>
            <a:ext cx="4107656" cy="0"/>
          </a:xfrm>
          <a:prstGeom prst="line">
            <a:avLst/>
          </a:prstGeom>
          <a:noFill/>
          <a:ln w="28575">
            <a:solidFill>
              <a:srgbClr val="E86A27"/>
            </a:solidFill>
            <a:prstDash val="solid"/>
          </a:ln>
        </p:spPr>
      </p:sp>
      <p:sp>
        <p:nvSpPr>
          <p:cNvPr id="26" name="Shape 23"/>
          <p:cNvSpPr/>
          <p:nvPr/>
        </p:nvSpPr>
        <p:spPr>
          <a:xfrm>
            <a:off x="8740378" y="1064196"/>
            <a:ext cx="0" cy="2812070"/>
          </a:xfrm>
          <a:prstGeom prst="line">
            <a:avLst/>
          </a:prstGeom>
          <a:noFill/>
          <a:ln w="7144">
            <a:solidFill>
              <a:srgbClr val="D9E0E8"/>
            </a:solidFill>
            <a:prstDash val="solid"/>
          </a:ln>
        </p:spPr>
      </p:sp>
      <p:sp>
        <p:nvSpPr>
          <p:cNvPr id="27" name="Shape 24"/>
          <p:cNvSpPr/>
          <p:nvPr/>
        </p:nvSpPr>
        <p:spPr>
          <a:xfrm>
            <a:off x="4636294" y="3872694"/>
            <a:ext cx="4107656" cy="0"/>
          </a:xfrm>
          <a:prstGeom prst="line">
            <a:avLst/>
          </a:prstGeom>
          <a:noFill/>
          <a:ln w="7144">
            <a:solidFill>
              <a:srgbClr val="D9E0E8"/>
            </a:solidFill>
            <a:prstDash val="solid"/>
          </a:ln>
        </p:spPr>
      </p:sp>
      <p:sp>
        <p:nvSpPr>
          <p:cNvPr id="28" name="Shape 25"/>
          <p:cNvSpPr/>
          <p:nvPr/>
        </p:nvSpPr>
        <p:spPr>
          <a:xfrm>
            <a:off x="4639866" y="1064196"/>
            <a:ext cx="0" cy="2812070"/>
          </a:xfrm>
          <a:prstGeom prst="line">
            <a:avLst/>
          </a:prstGeom>
          <a:noFill/>
          <a:ln w="7144">
            <a:solidFill>
              <a:srgbClr val="D9E0E8"/>
            </a:solidFill>
            <a:prstDash val="solid"/>
          </a:ln>
        </p:spPr>
      </p:sp>
      <p:sp>
        <p:nvSpPr>
          <p:cNvPr id="29" name="Text 26"/>
          <p:cNvSpPr/>
          <p:nvPr/>
        </p:nvSpPr>
        <p:spPr>
          <a:xfrm>
            <a:off x="4800600" y="1292796"/>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30" name="Text 27"/>
          <p:cNvSpPr/>
          <p:nvPr/>
        </p:nvSpPr>
        <p:spPr>
          <a:xfrm>
            <a:off x="5057775" y="1221358"/>
            <a:ext cx="3521869" cy="185166"/>
          </a:xfrm>
          <a:prstGeom prst="rect">
            <a:avLst/>
          </a:prstGeom>
          <a:noFill/>
          <a:ln/>
        </p:spPr>
        <p:txBody>
          <a:bodyPr wrap="none" lIns="0" tIns="0" rIns="0" bIns="0" rtlCol="0" anchor="t"/>
          <a:lstStyle/>
          <a:p>
            <a:pPr algn="l" indent="0" marL="0">
              <a:lnSpc>
                <a:spcPts val="1350"/>
              </a:lnSpc>
              <a:buNone/>
            </a:pPr>
            <a:r>
              <a:rPr lang="en-US" sz="900" b="1" dirty="0">
                <a:solidFill>
                  <a:srgbClr val="1F3864"/>
                </a:solidFill>
                <a:latin typeface="Carlito" pitchFamily="34" charset="0"/>
                <a:ea typeface="Carlito" pitchFamily="34" charset="-122"/>
                <a:cs typeface="Carlito" pitchFamily="34" charset="-120"/>
              </a:rPr>
              <a:t>Limitations of existing solutions</a:t>
            </a:r>
            <a:endParaRPr lang="en-US" sz="900" dirty="0"/>
          </a:p>
        </p:txBody>
      </p:sp>
      <p:sp>
        <p:nvSpPr>
          <p:cNvPr id="31" name="Text 28"/>
          <p:cNvSpPr/>
          <p:nvPr/>
        </p:nvSpPr>
        <p:spPr>
          <a:xfrm>
            <a:off x="4800600" y="1653332"/>
            <a:ext cx="242888" cy="242888"/>
          </a:xfrm>
          <a:prstGeom prst="roundRect">
            <a:avLst>
              <a:gd name="adj" fmla="val 31372"/>
            </a:avLst>
          </a:prstGeom>
          <a:solidFill>
            <a:srgbClr val="FDF0E7"/>
          </a:solidFill>
          <a:ln/>
        </p:spPr>
        <p:txBody>
          <a:bodyPr wrap="square" rtlCol="0" anchor="ctr"/>
          <a:lstStyle/>
          <a:p>
            <a:pPr indent="0" marL="0">
              <a:buNone/>
            </a:pPr>
            <a:endParaRPr lang="en-US" dirty="0"/>
          </a:p>
        </p:txBody>
      </p:sp>
      <p:sp>
        <p:nvSpPr>
          <p:cNvPr id="32" name="Text 29"/>
          <p:cNvSpPr/>
          <p:nvPr/>
        </p:nvSpPr>
        <p:spPr>
          <a:xfrm>
            <a:off x="4823639" y="1676370"/>
            <a:ext cx="196810" cy="196810"/>
          </a:xfrm>
          <a:prstGeom prst="rect">
            <a:avLst/>
          </a:prstGeom>
          <a:noFill/>
          <a:ln/>
        </p:spPr>
        <p:txBody>
          <a:bodyPr wrap="none" lIns="0" tIns="0" rIns="0" bIns="0" rtlCol="0" anchor="ctr"/>
          <a:lstStyle/>
          <a:p>
            <a:pPr algn="ctr" indent="0" marL="0">
              <a:buNone/>
            </a:pPr>
            <a:r>
              <a:rPr lang="en-US" sz="1336" dirty="0">
                <a:solidFill>
                  <a:srgbClr val="E86A27"/>
                </a:solidFill>
                <a:latin typeface="Segoe UI Symbol" pitchFamily="34" charset="0"/>
                <a:ea typeface="Segoe UI Symbol" pitchFamily="34" charset="-122"/>
                <a:cs typeface="Segoe UI Symbol" pitchFamily="34" charset="-120"/>
              </a:rPr>
              <a:t>✕</a:t>
            </a:r>
            <a:endParaRPr lang="en-US" sz="1336" dirty="0"/>
          </a:p>
        </p:txBody>
      </p:sp>
      <p:sp>
        <p:nvSpPr>
          <p:cNvPr id="33" name="Text 30"/>
          <p:cNvSpPr/>
          <p:nvPr/>
        </p:nvSpPr>
        <p:spPr>
          <a:xfrm>
            <a:off x="5129213" y="1653332"/>
            <a:ext cx="3450431" cy="340157"/>
          </a:xfrm>
          <a:prstGeom prst="rect">
            <a:avLst/>
          </a:prstGeom>
          <a:noFill/>
          <a:ln/>
        </p:spPr>
        <p:txBody>
          <a:bodyPr wrap="square" lIns="0" tIns="0" rIns="0" bIns="0" rtlCol="0" anchor="t"/>
          <a:lstStyle/>
          <a:p>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Centralized databases remain tamper-prone — privileged writes leave no trace.</a:t>
            </a:r>
            <a:endParaRPr lang="en-US" sz="800" dirty="0"/>
          </a:p>
        </p:txBody>
      </p:sp>
      <p:sp>
        <p:nvSpPr>
          <p:cNvPr id="34" name="Text 31"/>
          <p:cNvSpPr/>
          <p:nvPr/>
        </p:nvSpPr>
        <p:spPr>
          <a:xfrm>
            <a:off x="4800600" y="2190787"/>
            <a:ext cx="242888" cy="242888"/>
          </a:xfrm>
          <a:prstGeom prst="roundRect">
            <a:avLst>
              <a:gd name="adj" fmla="val 31372"/>
            </a:avLst>
          </a:prstGeom>
          <a:solidFill>
            <a:srgbClr val="FDF0E7"/>
          </a:solidFill>
          <a:ln/>
        </p:spPr>
        <p:txBody>
          <a:bodyPr wrap="square" rtlCol="0" anchor="ctr"/>
          <a:lstStyle/>
          <a:p>
            <a:pPr indent="0" marL="0">
              <a:buNone/>
            </a:pPr>
            <a:endParaRPr lang="en-US" dirty="0"/>
          </a:p>
        </p:txBody>
      </p:sp>
      <p:sp>
        <p:nvSpPr>
          <p:cNvPr id="35" name="Text 32"/>
          <p:cNvSpPr/>
          <p:nvPr/>
        </p:nvSpPr>
        <p:spPr>
          <a:xfrm>
            <a:off x="4823639" y="2213826"/>
            <a:ext cx="196810" cy="196810"/>
          </a:xfrm>
          <a:prstGeom prst="rect">
            <a:avLst/>
          </a:prstGeom>
          <a:noFill/>
          <a:ln/>
        </p:spPr>
        <p:txBody>
          <a:bodyPr wrap="none" lIns="0" tIns="0" rIns="0" bIns="0" rtlCol="0" anchor="ctr"/>
          <a:lstStyle/>
          <a:p>
            <a:pPr algn="ctr" indent="0" marL="0">
              <a:buNone/>
            </a:pPr>
            <a:r>
              <a:rPr lang="en-US" sz="1336" dirty="0">
                <a:solidFill>
                  <a:srgbClr val="E86A27"/>
                </a:solidFill>
                <a:latin typeface="Segoe UI Symbol" pitchFamily="34" charset="0"/>
                <a:ea typeface="Segoe UI Symbol" pitchFamily="34" charset="-122"/>
                <a:cs typeface="Segoe UI Symbol" pitchFamily="34" charset="-120"/>
              </a:rPr>
              <a:t>✕</a:t>
            </a:r>
            <a:endParaRPr lang="en-US" sz="1336" dirty="0"/>
          </a:p>
        </p:txBody>
      </p:sp>
      <p:sp>
        <p:nvSpPr>
          <p:cNvPr id="36" name="Text 33"/>
          <p:cNvSpPr/>
          <p:nvPr/>
        </p:nvSpPr>
        <p:spPr>
          <a:xfrm>
            <a:off x="5129213" y="2190787"/>
            <a:ext cx="3450431" cy="170078"/>
          </a:xfrm>
          <a:prstGeom prst="rect">
            <a:avLst/>
          </a:prstGeom>
          <a:noFill/>
          <a:ln/>
        </p:spPr>
        <p:txBody>
          <a:bodyPr wrap="square" lIns="0" tIns="0" rIns="0" bIns="0" rtlCol="0" anchor="t"/>
          <a:lstStyle/>
          <a:p>
            <a:pPr algn="l" indent="0" marL="0">
              <a:lnSpc>
                <a:spcPts val="1090"/>
              </a:lnSpc>
              <a:buNone/>
            </a:pPr>
            <a:r>
              <a:rPr lang="en-US" sz="703" dirty="0">
                <a:solidFill>
                  <a:srgbClr val="24313F"/>
                </a:solidFill>
                <a:latin typeface="Carlito" pitchFamily="34" charset="0"/>
                <a:ea typeface="Carlito" pitchFamily="34" charset="-122"/>
                <a:cs typeface="Carlito" pitchFamily="34" charset="-120"/>
              </a:rPr>
              <a:t>No end-to-end ownership provenance that a buyer can independently verify.</a:t>
            </a:r>
            <a:endParaRPr lang="en-US" sz="703" dirty="0"/>
          </a:p>
        </p:txBody>
      </p:sp>
      <p:sp>
        <p:nvSpPr>
          <p:cNvPr id="37" name="Text 34"/>
          <p:cNvSpPr/>
          <p:nvPr/>
        </p:nvSpPr>
        <p:spPr>
          <a:xfrm>
            <a:off x="4800600" y="2694198"/>
            <a:ext cx="242888" cy="242888"/>
          </a:xfrm>
          <a:prstGeom prst="roundRect">
            <a:avLst>
              <a:gd name="adj" fmla="val 31372"/>
            </a:avLst>
          </a:prstGeom>
          <a:solidFill>
            <a:srgbClr val="FDF0E7"/>
          </a:solidFill>
          <a:ln/>
        </p:spPr>
        <p:txBody>
          <a:bodyPr wrap="square" rtlCol="0" anchor="ctr"/>
          <a:lstStyle/>
          <a:p>
            <a:pPr indent="0" marL="0">
              <a:buNone/>
            </a:pPr>
            <a:endParaRPr lang="en-US" dirty="0"/>
          </a:p>
        </p:txBody>
      </p:sp>
      <p:sp>
        <p:nvSpPr>
          <p:cNvPr id="38" name="Text 35"/>
          <p:cNvSpPr/>
          <p:nvPr/>
        </p:nvSpPr>
        <p:spPr>
          <a:xfrm>
            <a:off x="4823639" y="2717237"/>
            <a:ext cx="196810" cy="196810"/>
          </a:xfrm>
          <a:prstGeom prst="rect">
            <a:avLst/>
          </a:prstGeom>
          <a:noFill/>
          <a:ln/>
        </p:spPr>
        <p:txBody>
          <a:bodyPr wrap="none" lIns="0" tIns="0" rIns="0" bIns="0" rtlCol="0" anchor="ctr"/>
          <a:lstStyle/>
          <a:p>
            <a:pPr algn="ctr" indent="0" marL="0">
              <a:buNone/>
            </a:pPr>
            <a:r>
              <a:rPr lang="en-US" sz="1336" dirty="0">
                <a:solidFill>
                  <a:srgbClr val="E86A27"/>
                </a:solidFill>
                <a:latin typeface="Segoe UI Symbol" pitchFamily="34" charset="0"/>
                <a:ea typeface="Segoe UI Symbol" pitchFamily="34" charset="-122"/>
                <a:cs typeface="Segoe UI Symbol" pitchFamily="34" charset="-120"/>
              </a:rPr>
              <a:t>✕</a:t>
            </a:r>
            <a:endParaRPr lang="en-US" sz="1336" dirty="0"/>
          </a:p>
        </p:txBody>
      </p:sp>
      <p:sp>
        <p:nvSpPr>
          <p:cNvPr id="39" name="Text 36"/>
          <p:cNvSpPr/>
          <p:nvPr/>
        </p:nvSpPr>
        <p:spPr>
          <a:xfrm>
            <a:off x="5129213" y="2694198"/>
            <a:ext cx="3450431" cy="340157"/>
          </a:xfrm>
          <a:prstGeom prst="rect">
            <a:avLst/>
          </a:prstGeom>
          <a:noFill/>
          <a:ln/>
        </p:spPr>
        <p:txBody>
          <a:bodyPr wrap="square" lIns="0" tIns="0" rIns="0" bIns="0" rtlCol="0" anchor="t"/>
          <a:lstStyle/>
          <a:p>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Fraud surfaces only after disputes arise; nothing is screened at submission time.</a:t>
            </a:r>
            <a:endParaRPr lang="en-US" sz="800" dirty="0"/>
          </a:p>
        </p:txBody>
      </p:sp>
      <p:sp>
        <p:nvSpPr>
          <p:cNvPr id="40" name="Text 37"/>
          <p:cNvSpPr/>
          <p:nvPr/>
        </p:nvSpPr>
        <p:spPr>
          <a:xfrm>
            <a:off x="4800600" y="3231654"/>
            <a:ext cx="242888" cy="242888"/>
          </a:xfrm>
          <a:prstGeom prst="roundRect">
            <a:avLst>
              <a:gd name="adj" fmla="val 31372"/>
            </a:avLst>
          </a:prstGeom>
          <a:solidFill>
            <a:srgbClr val="FDF0E7"/>
          </a:solidFill>
          <a:ln/>
        </p:spPr>
        <p:txBody>
          <a:bodyPr wrap="square" rtlCol="0" anchor="ctr"/>
          <a:lstStyle/>
          <a:p>
            <a:pPr indent="0" marL="0">
              <a:buNone/>
            </a:pPr>
            <a:endParaRPr lang="en-US" dirty="0"/>
          </a:p>
        </p:txBody>
      </p:sp>
      <p:sp>
        <p:nvSpPr>
          <p:cNvPr id="41" name="Text 38"/>
          <p:cNvSpPr/>
          <p:nvPr/>
        </p:nvSpPr>
        <p:spPr>
          <a:xfrm>
            <a:off x="4823639" y="3254693"/>
            <a:ext cx="196810" cy="196810"/>
          </a:xfrm>
          <a:prstGeom prst="rect">
            <a:avLst/>
          </a:prstGeom>
          <a:noFill/>
          <a:ln/>
        </p:spPr>
        <p:txBody>
          <a:bodyPr wrap="none" lIns="0" tIns="0" rIns="0" bIns="0" rtlCol="0" anchor="ctr"/>
          <a:lstStyle/>
          <a:p>
            <a:pPr algn="ctr" indent="0" marL="0">
              <a:buNone/>
            </a:pPr>
            <a:r>
              <a:rPr lang="en-US" sz="1336" dirty="0">
                <a:solidFill>
                  <a:srgbClr val="E86A27"/>
                </a:solidFill>
                <a:latin typeface="Segoe UI Symbol" pitchFamily="34" charset="0"/>
                <a:ea typeface="Segoe UI Symbol" pitchFamily="34" charset="-122"/>
                <a:cs typeface="Segoe UI Symbol" pitchFamily="34" charset="-120"/>
              </a:rPr>
              <a:t>✕</a:t>
            </a:r>
            <a:endParaRPr lang="en-US" sz="1336" dirty="0"/>
          </a:p>
        </p:txBody>
      </p:sp>
      <p:sp>
        <p:nvSpPr>
          <p:cNvPr id="42" name="Text 39"/>
          <p:cNvSpPr/>
          <p:nvPr/>
        </p:nvSpPr>
        <p:spPr>
          <a:xfrm>
            <a:off x="5129213" y="3231654"/>
            <a:ext cx="3450431" cy="340157"/>
          </a:xfrm>
          <a:prstGeom prst="rect">
            <a:avLst/>
          </a:prstGeom>
          <a:noFill/>
          <a:ln/>
        </p:spPr>
        <p:txBody>
          <a:bodyPr wrap="square" lIns="0" tIns="0" rIns="0" bIns="0" rtlCol="0" anchor="t"/>
          <a:lstStyle/>
          <a:p>
            <a:pPr algn="l" indent="0" marL="0">
              <a:lnSpc>
                <a:spcPts val="1090"/>
              </a:lnSpc>
              <a:buNone/>
            </a:pPr>
            <a:r>
              <a:rPr lang="en-US" sz="800" dirty="0">
                <a:solidFill>
                  <a:srgbClr val="24313F"/>
                </a:solidFill>
                <a:latin typeface="Carlito" pitchFamily="34" charset="0"/>
                <a:ea typeface="Carlito" pitchFamily="34" charset="-122"/>
                <a:cs typeface="Carlito" pitchFamily="34" charset="-120"/>
              </a:rPr>
              <a:t>Documents verified visually — scans carry no cryptographic proof of authenticity.</a:t>
            </a:r>
            <a:endParaRPr lang="en-US" sz="800" dirty="0"/>
          </a:p>
        </p:txBody>
      </p:sp>
      <p:sp>
        <p:nvSpPr>
          <p:cNvPr id="43" name="Text 40"/>
          <p:cNvSpPr/>
          <p:nvPr/>
        </p:nvSpPr>
        <p:spPr>
          <a:xfrm>
            <a:off x="400050" y="3983422"/>
            <a:ext cx="8343900" cy="874328"/>
          </a:xfrm>
          <a:prstGeom prst="roundRect">
            <a:avLst>
              <a:gd name="adj" fmla="val 10894"/>
            </a:avLst>
          </a:prstGeom>
          <a:solidFill>
            <a:srgbClr val="10243E"/>
          </a:solidFill>
          <a:ln/>
        </p:spPr>
        <p:txBody>
          <a:bodyPr wrap="square" rtlCol="0" anchor="ctr"/>
          <a:lstStyle/>
          <a:p>
            <a:pPr indent="0" marL="0">
              <a:buNone/>
            </a:pPr>
            <a:endParaRPr lang="en-US" dirty="0"/>
          </a:p>
        </p:txBody>
      </p:sp>
      <p:sp>
        <p:nvSpPr>
          <p:cNvPr id="44" name="Text 41"/>
          <p:cNvSpPr/>
          <p:nvPr/>
        </p:nvSpPr>
        <p:spPr>
          <a:xfrm>
            <a:off x="585788" y="4154872"/>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45" name="Text 42"/>
          <p:cNvSpPr/>
          <p:nvPr/>
        </p:nvSpPr>
        <p:spPr>
          <a:xfrm>
            <a:off x="842963" y="4104866"/>
            <a:ext cx="7715250" cy="164592"/>
          </a:xfrm>
          <a:prstGeom prst="rect">
            <a:avLst/>
          </a:prstGeom>
          <a:noFill/>
          <a:ln/>
        </p:spPr>
        <p:txBody>
          <a:bodyPr wrap="none" lIns="0" tIns="0" rIns="0" bIns="0" rtlCol="0" anchor="t"/>
          <a:lstStyle/>
          <a:p>
            <a:pPr algn="l" indent="0" marL="0">
              <a:lnSpc>
                <a:spcPts val="1013"/>
              </a:lnSpc>
              <a:buNone/>
            </a:pPr>
            <a:r>
              <a:rPr lang="en-US" sz="800" b="1" spc="124" kern="0" dirty="0">
                <a:solidFill>
                  <a:srgbClr val="E86A27"/>
                </a:solidFill>
                <a:latin typeface="Carlito" pitchFamily="34" charset="0"/>
                <a:ea typeface="Carlito" pitchFamily="34" charset="-122"/>
                <a:cs typeface="Carlito" pitchFamily="34" charset="-120"/>
              </a:rPr>
              <a:t>RESEARCH / MARKET GAP</a:t>
            </a:r>
            <a:endParaRPr lang="en-US" sz="800" dirty="0"/>
          </a:p>
        </p:txBody>
      </p:sp>
      <p:sp>
        <p:nvSpPr>
          <p:cNvPr id="46" name="Text 43"/>
          <p:cNvSpPr/>
          <p:nvPr/>
        </p:nvSpPr>
        <p:spPr>
          <a:xfrm>
            <a:off x="585788" y="4290603"/>
            <a:ext cx="7972425" cy="445703"/>
          </a:xfrm>
          <a:prstGeom prst="rect">
            <a:avLst/>
          </a:prstGeom>
          <a:noFill/>
          <a:ln/>
        </p:spPr>
        <p:txBody>
          <a:bodyPr wrap="square" lIns="0" tIns="0" rIns="0" bIns="0" rtlCol="0" anchor="t"/>
          <a:lstStyle/>
          <a:p>
            <a:pPr algn="l" indent="0" marL="0">
              <a:lnSpc>
                <a:spcPts val="1170"/>
              </a:lnSpc>
              <a:buNone/>
            </a:pPr>
            <a:r>
              <a:rPr lang="en-US" sz="800" dirty="0">
                <a:solidFill>
                  <a:srgbClr val="FFFFFF"/>
                </a:solidFill>
                <a:latin typeface="Carlito" pitchFamily="34" charset="0"/>
                <a:ea typeface="Carlito" pitchFamily="34" charset="-122"/>
                <a:cs typeface="Carlito" pitchFamily="34" charset="-120"/>
              </a:rPr>
              <a:t>No existing platform unifies property registry, document integrity, transfer workflow, fraud screening and immutable audit in one always-on system. Land Ledger integrates all five layers and compares favorably on every axis — ownership truth moves on-chain, documents are SHA-256 sealed, and every action is auditable in real time.</a:t>
            </a:r>
            <a:endParaRPr lang="en-US" sz="800" dirty="0"/>
          </a:p>
        </p:txBody>
      </p:sp>
      <p:sp>
        <p:nvSpPr>
          <p:cNvPr id="47" name="Text 44"/>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8" name="Text 45"/>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9" name="Text 46"/>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50" name="Text 47"/>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3 of 10</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2726942"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PROPOSED SOLUTION</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8343900" cy="592931"/>
          </a:xfrm>
          <a:prstGeom prst="roundRect">
            <a:avLst>
              <a:gd name="adj" fmla="val 16064"/>
            </a:avLst>
          </a:prstGeom>
          <a:solidFill>
            <a:srgbClr val="EEF2F7"/>
          </a:solidFill>
          <a:ln/>
        </p:spPr>
        <p:txBody>
          <a:bodyPr wrap="square" rtlCol="0" anchor="ctr"/>
          <a:lstStyle/>
          <a:p>
            <a:pPr indent="0" marL="0">
              <a:buNone/>
            </a:pPr>
            <a:endParaRPr lang="en-US" dirty="0"/>
          </a:p>
        </p:txBody>
      </p:sp>
      <p:sp>
        <p:nvSpPr>
          <p:cNvPr id="6" name="Shape 3"/>
          <p:cNvSpPr/>
          <p:nvPr/>
        </p:nvSpPr>
        <p:spPr>
          <a:xfrm>
            <a:off x="400050" y="1067767"/>
            <a:ext cx="8343900" cy="0"/>
          </a:xfrm>
          <a:prstGeom prst="line">
            <a:avLst/>
          </a:prstGeom>
          <a:noFill/>
          <a:ln w="7144">
            <a:solidFill>
              <a:srgbClr val="D9E0E8"/>
            </a:solidFill>
            <a:prstDash val="solid"/>
          </a:ln>
        </p:spPr>
      </p:sp>
      <p:sp>
        <p:nvSpPr>
          <p:cNvPr id="7" name="Shape 4"/>
          <p:cNvSpPr/>
          <p:nvPr/>
        </p:nvSpPr>
        <p:spPr>
          <a:xfrm>
            <a:off x="8740378" y="1064196"/>
            <a:ext cx="0" cy="592931"/>
          </a:xfrm>
          <a:prstGeom prst="line">
            <a:avLst/>
          </a:prstGeom>
          <a:noFill/>
          <a:ln w="7144">
            <a:solidFill>
              <a:srgbClr val="D9E0E8"/>
            </a:solidFill>
            <a:prstDash val="solid"/>
          </a:ln>
        </p:spPr>
      </p:sp>
      <p:sp>
        <p:nvSpPr>
          <p:cNvPr id="8" name="Shape 5"/>
          <p:cNvSpPr/>
          <p:nvPr/>
        </p:nvSpPr>
        <p:spPr>
          <a:xfrm>
            <a:off x="400050" y="1653555"/>
            <a:ext cx="8343900" cy="0"/>
          </a:xfrm>
          <a:prstGeom prst="line">
            <a:avLst/>
          </a:prstGeom>
          <a:noFill/>
          <a:ln w="7144">
            <a:solidFill>
              <a:srgbClr val="D9E0E8"/>
            </a:solidFill>
            <a:prstDash val="solid"/>
          </a:ln>
        </p:spPr>
      </p:sp>
      <p:sp>
        <p:nvSpPr>
          <p:cNvPr id="9" name="Shape 6"/>
          <p:cNvSpPr/>
          <p:nvPr/>
        </p:nvSpPr>
        <p:spPr>
          <a:xfrm>
            <a:off x="414338" y="1064196"/>
            <a:ext cx="0" cy="592931"/>
          </a:xfrm>
          <a:prstGeom prst="line">
            <a:avLst/>
          </a:prstGeom>
          <a:noFill/>
          <a:ln w="28575">
            <a:solidFill>
              <a:srgbClr val="1F3864"/>
            </a:solidFill>
            <a:prstDash val="solid"/>
          </a:ln>
        </p:spPr>
      </p:sp>
      <p:sp>
        <p:nvSpPr>
          <p:cNvPr id="10" name="Text 7"/>
          <p:cNvSpPr/>
          <p:nvPr/>
        </p:nvSpPr>
        <p:spPr>
          <a:xfrm>
            <a:off x="600075" y="1178496"/>
            <a:ext cx="7965281" cy="364331"/>
          </a:xfrm>
          <a:prstGeom prst="rect">
            <a:avLst/>
          </a:prstGeom>
          <a:noFill/>
          <a:ln/>
        </p:spPr>
        <p:txBody>
          <a:bodyPr wrap="square" lIns="0" tIns="0" rIns="0" bIns="0" rtlCol="0" anchor="t"/>
          <a:lstStyle/>
          <a:p>
            <a:pPr algn="l" indent="0" marL="0">
              <a:lnSpc>
                <a:spcPts val="1434"/>
              </a:lnSpc>
              <a:buNone/>
            </a:pPr>
            <a:r>
              <a:rPr lang="en-US" sz="956" b="1" dirty="0">
                <a:solidFill>
                  <a:srgbClr val="1F3864"/>
                </a:solidFill>
                <a:latin typeface="Carlito" pitchFamily="34" charset="0"/>
                <a:ea typeface="Carlito" pitchFamily="34" charset="-122"/>
                <a:cs typeface="Carlito" pitchFamily="34" charset="-120"/>
              </a:rPr>
              <a:t>LAND LEDGER — a role-based web registry where every property, document and ownership transfer is cryptographically verifiable and settled on a blockchain ledger.</a:t>
            </a:r>
            <a:endParaRPr lang="en-US" sz="956" dirty="0"/>
          </a:p>
        </p:txBody>
      </p:sp>
      <p:sp>
        <p:nvSpPr>
          <p:cNvPr id="11" name="Text 8"/>
          <p:cNvSpPr/>
          <p:nvPr/>
        </p:nvSpPr>
        <p:spPr>
          <a:xfrm>
            <a:off x="403622" y="1753567"/>
            <a:ext cx="8336756" cy="710803"/>
          </a:xfrm>
          <a:prstGeom prst="roundRect">
            <a:avLst>
              <a:gd name="adj" fmla="val 13400"/>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2" name="Text 9"/>
          <p:cNvSpPr/>
          <p:nvPr/>
        </p:nvSpPr>
        <p:spPr>
          <a:xfrm>
            <a:off x="550069" y="1966094"/>
            <a:ext cx="285750" cy="285750"/>
          </a:xfrm>
          <a:prstGeom prst="roundRect">
            <a:avLst>
              <a:gd name="adj" fmla="val 30000"/>
            </a:avLst>
          </a:prstGeom>
          <a:solidFill>
            <a:srgbClr val="E86A27"/>
          </a:solidFill>
          <a:ln/>
        </p:spPr>
        <p:txBody>
          <a:bodyPr wrap="square" rtlCol="0" anchor="ctr"/>
          <a:lstStyle/>
          <a:p>
            <a:pPr indent="0" marL="0">
              <a:buNone/>
            </a:pPr>
            <a:endParaRPr lang="en-US" dirty="0"/>
          </a:p>
        </p:txBody>
      </p:sp>
      <p:sp>
        <p:nvSpPr>
          <p:cNvPr id="13" name="Text 10"/>
          <p:cNvSpPr/>
          <p:nvPr/>
        </p:nvSpPr>
        <p:spPr>
          <a:xfrm>
            <a:off x="613358" y="2023244"/>
            <a:ext cx="222461"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01</a:t>
            </a:r>
            <a:endParaRPr lang="en-US" sz="900" dirty="0"/>
          </a:p>
        </p:txBody>
      </p:sp>
      <p:sp>
        <p:nvSpPr>
          <p:cNvPr id="14" name="Text 11"/>
          <p:cNvSpPr/>
          <p:nvPr/>
        </p:nvSpPr>
        <p:spPr>
          <a:xfrm>
            <a:off x="950119" y="1887513"/>
            <a:ext cx="142875" cy="142875"/>
          </a:xfrm>
          <a:prstGeom prst="rect">
            <a:avLst/>
          </a:prstGeom>
          <a:noFill/>
          <a:ln/>
        </p:spPr>
        <p:txBody>
          <a:bodyPr wrap="none" lIns="0" tIns="0" rIns="0" bIns="0" rtlCol="0" anchor="ctr"/>
          <a:lstStyle/>
          <a:p>
            <a:pPr algn="ctr" indent="0" marL="0">
              <a:buNone/>
            </a:pPr>
            <a:r>
              <a:rPr lang="en-US" sz="1406" dirty="0">
                <a:solidFill>
                  <a:srgbClr val="E86A27"/>
                </a:solidFill>
                <a:latin typeface="Segoe UI Symbol" pitchFamily="34" charset="0"/>
                <a:ea typeface="Segoe UI Symbol" pitchFamily="34" charset="-122"/>
                <a:cs typeface="Segoe UI Symbol" pitchFamily="34" charset="-120"/>
              </a:rPr>
              <a:t>◆</a:t>
            </a:r>
            <a:endParaRPr lang="en-US" sz="1406" dirty="0"/>
          </a:p>
        </p:txBody>
      </p:sp>
      <p:sp>
        <p:nvSpPr>
          <p:cNvPr id="15" name="Text 12"/>
          <p:cNvSpPr/>
          <p:nvPr/>
        </p:nvSpPr>
        <p:spPr>
          <a:xfrm>
            <a:off x="1157288" y="1875904"/>
            <a:ext cx="7436644" cy="179380"/>
          </a:xfrm>
          <a:prstGeom prst="rect">
            <a:avLst/>
          </a:prstGeom>
          <a:noFill/>
          <a:ln/>
        </p:spPr>
        <p:txBody>
          <a:bodyPr wrap="none" lIns="0" tIns="0" rIns="0" bIns="0" rtlCol="0" anchor="t"/>
          <a:lstStyle/>
          <a:p>
            <a:pPr algn="l" indent="0" marL="0">
              <a:lnSpc>
                <a:spcPts val="1308"/>
              </a:lnSpc>
              <a:buNone/>
            </a:pPr>
            <a:r>
              <a:rPr lang="en-US" sz="872" b="1" dirty="0">
                <a:solidFill>
                  <a:srgbClr val="1F3864"/>
                </a:solidFill>
                <a:latin typeface="Carlito" pitchFamily="34" charset="0"/>
                <a:ea typeface="Carlito" pitchFamily="34" charset="-122"/>
                <a:cs typeface="Carlito" pitchFamily="34" charset="-120"/>
              </a:rPr>
              <a:t>Project idea</a:t>
            </a:r>
            <a:endParaRPr lang="en-US" sz="872" dirty="0"/>
          </a:p>
        </p:txBody>
      </p:sp>
      <p:sp>
        <p:nvSpPr>
          <p:cNvPr id="16" name="Text 13"/>
          <p:cNvSpPr/>
          <p:nvPr/>
        </p:nvSpPr>
        <p:spPr>
          <a:xfrm>
            <a:off x="950119" y="2070571"/>
            <a:ext cx="7643813" cy="318790"/>
          </a:xfrm>
          <a:prstGeom prst="rect">
            <a:avLst/>
          </a:prstGeom>
          <a:noFill/>
          <a:ln/>
        </p:spPr>
        <p:txBody>
          <a:bodyPr wrap="square" lIns="0" tIns="0" rIns="0" bIns="0" rtlCol="0" anchor="t"/>
          <a:lstStyle/>
          <a:p>
            <a:pPr algn="l" indent="0" marL="0">
              <a:lnSpc>
                <a:spcPts val="1069"/>
              </a:lnSpc>
              <a:buNone/>
            </a:pPr>
            <a:r>
              <a:rPr lang="en-US" sz="800" dirty="0">
                <a:solidFill>
                  <a:srgbClr val="24313F"/>
                </a:solidFill>
                <a:latin typeface="Carlito" pitchFamily="34" charset="0"/>
                <a:ea typeface="Carlito" pitchFamily="34" charset="-122"/>
                <a:cs typeface="Carlito" pitchFamily="34" charset="-120"/>
              </a:rPr>
              <a:t>One integrated platform for citizens and registrars: register properties, upload deed documents, initiate transfers and trace provenance — with fraud screening built into the workflow itself.</a:t>
            </a:r>
            <a:endParaRPr lang="en-US" sz="800" dirty="0"/>
          </a:p>
        </p:txBody>
      </p:sp>
      <p:sp>
        <p:nvSpPr>
          <p:cNvPr id="17" name="Text 14"/>
          <p:cNvSpPr/>
          <p:nvPr/>
        </p:nvSpPr>
        <p:spPr>
          <a:xfrm>
            <a:off x="403622" y="2550096"/>
            <a:ext cx="8336756" cy="710915"/>
          </a:xfrm>
          <a:prstGeom prst="roundRect">
            <a:avLst>
              <a:gd name="adj" fmla="val 13398"/>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8" name="Text 15"/>
          <p:cNvSpPr/>
          <p:nvPr/>
        </p:nvSpPr>
        <p:spPr>
          <a:xfrm>
            <a:off x="550069" y="2762622"/>
            <a:ext cx="285750" cy="285750"/>
          </a:xfrm>
          <a:prstGeom prst="roundRect">
            <a:avLst>
              <a:gd name="adj" fmla="val 30000"/>
            </a:avLst>
          </a:prstGeom>
          <a:solidFill>
            <a:srgbClr val="E86A27"/>
          </a:solidFill>
          <a:ln/>
        </p:spPr>
        <p:txBody>
          <a:bodyPr wrap="square" rtlCol="0" anchor="ctr"/>
          <a:lstStyle/>
          <a:p>
            <a:pPr indent="0" marL="0">
              <a:buNone/>
            </a:pPr>
            <a:endParaRPr lang="en-US" dirty="0"/>
          </a:p>
        </p:txBody>
      </p:sp>
      <p:sp>
        <p:nvSpPr>
          <p:cNvPr id="19" name="Text 16"/>
          <p:cNvSpPr/>
          <p:nvPr/>
        </p:nvSpPr>
        <p:spPr>
          <a:xfrm>
            <a:off x="613358" y="2819772"/>
            <a:ext cx="222461"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02</a:t>
            </a:r>
            <a:endParaRPr lang="en-US" sz="900" dirty="0"/>
          </a:p>
        </p:txBody>
      </p:sp>
      <p:sp>
        <p:nvSpPr>
          <p:cNvPr id="20" name="Text 17"/>
          <p:cNvSpPr/>
          <p:nvPr/>
        </p:nvSpPr>
        <p:spPr>
          <a:xfrm>
            <a:off x="950119" y="2684041"/>
            <a:ext cx="142875" cy="142875"/>
          </a:xfrm>
          <a:prstGeom prst="rect">
            <a:avLst/>
          </a:prstGeom>
          <a:noFill/>
          <a:ln/>
        </p:spPr>
        <p:txBody>
          <a:bodyPr wrap="none" lIns="0" tIns="0" rIns="0" bIns="0" rtlCol="0" anchor="ctr"/>
          <a:lstStyle/>
          <a:p>
            <a:pPr algn="ctr" indent="0" marL="0">
              <a:buNone/>
            </a:pPr>
            <a:r>
              <a:rPr lang="en-US" sz="1406" dirty="0">
                <a:solidFill>
                  <a:srgbClr val="E86A27"/>
                </a:solidFill>
                <a:latin typeface="Segoe UI Symbol" pitchFamily="34" charset="0"/>
                <a:ea typeface="Segoe UI Symbol" pitchFamily="34" charset="-122"/>
                <a:cs typeface="Segoe UI Symbol" pitchFamily="34" charset="-120"/>
              </a:rPr>
              <a:t>✿</a:t>
            </a:r>
            <a:endParaRPr lang="en-US" sz="1406" dirty="0"/>
          </a:p>
        </p:txBody>
      </p:sp>
      <p:sp>
        <p:nvSpPr>
          <p:cNvPr id="21" name="Text 18"/>
          <p:cNvSpPr/>
          <p:nvPr/>
        </p:nvSpPr>
        <p:spPr>
          <a:xfrm>
            <a:off x="1157288" y="2672432"/>
            <a:ext cx="7436644" cy="179380"/>
          </a:xfrm>
          <a:prstGeom prst="rect">
            <a:avLst/>
          </a:prstGeom>
          <a:noFill/>
          <a:ln/>
        </p:spPr>
        <p:txBody>
          <a:bodyPr wrap="none" lIns="0" tIns="0" rIns="0" bIns="0" rtlCol="0" anchor="t"/>
          <a:lstStyle/>
          <a:p>
            <a:pPr algn="l" indent="0" marL="0">
              <a:lnSpc>
                <a:spcPts val="1308"/>
              </a:lnSpc>
              <a:buNone/>
            </a:pPr>
            <a:r>
              <a:rPr lang="en-US" sz="872" b="1" dirty="0">
                <a:solidFill>
                  <a:srgbClr val="1F3864"/>
                </a:solidFill>
                <a:latin typeface="Carlito" pitchFamily="34" charset="0"/>
                <a:ea typeface="Carlito" pitchFamily="34" charset="-122"/>
                <a:cs typeface="Carlito" pitchFamily="34" charset="-120"/>
              </a:rPr>
              <a:t>Proposed approach</a:t>
            </a:r>
            <a:endParaRPr lang="en-US" sz="872" dirty="0"/>
          </a:p>
        </p:txBody>
      </p:sp>
      <p:sp>
        <p:nvSpPr>
          <p:cNvPr id="22" name="Text 19"/>
          <p:cNvSpPr/>
          <p:nvPr/>
        </p:nvSpPr>
        <p:spPr>
          <a:xfrm>
            <a:off x="950119" y="2867099"/>
            <a:ext cx="7643813" cy="318901"/>
          </a:xfrm>
          <a:prstGeom prst="rect">
            <a:avLst/>
          </a:prstGeom>
          <a:noFill/>
          <a:ln/>
        </p:spPr>
        <p:txBody>
          <a:bodyPr wrap="square" lIns="0" tIns="0" rIns="0" bIns="0" rtlCol="0" anchor="t"/>
          <a:lstStyle/>
          <a:p>
            <a:pPr algn="l" indent="0" marL="0">
              <a:lnSpc>
                <a:spcPts val="1069"/>
              </a:lnSpc>
              <a:buNone/>
            </a:pPr>
            <a:r>
              <a:rPr lang="en-US" sz="800" dirty="0">
                <a:solidFill>
                  <a:srgbClr val="24313F"/>
                </a:solidFill>
                <a:latin typeface="Carlito" pitchFamily="34" charset="0"/>
                <a:ea typeface="Carlito" pitchFamily="34" charset="-122"/>
                <a:cs typeface="Carlito" pitchFamily="34" charset="-120"/>
              </a:rPr>
              <a:t>React SPA talks to an Express REST API; MongoDB Atlas stores users, properties, documents and transfers, while a Solidity smart contract (LandRegistry.sol) holds on-chain ownership truth. Documents are SHA-256 hashed at upload; every transfer is scored by a 9-check fraud engine before approval.</a:t>
            </a:r>
            <a:endParaRPr lang="en-US" sz="800" dirty="0"/>
          </a:p>
        </p:txBody>
      </p:sp>
      <p:sp>
        <p:nvSpPr>
          <p:cNvPr id="23" name="Text 20"/>
          <p:cNvSpPr/>
          <p:nvPr/>
        </p:nvSpPr>
        <p:spPr>
          <a:xfrm>
            <a:off x="403622" y="3346735"/>
            <a:ext cx="8336756" cy="710803"/>
          </a:xfrm>
          <a:prstGeom prst="roundRect">
            <a:avLst>
              <a:gd name="adj" fmla="val 13400"/>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24" name="Text 21"/>
          <p:cNvSpPr/>
          <p:nvPr/>
        </p:nvSpPr>
        <p:spPr>
          <a:xfrm>
            <a:off x="550069" y="3559262"/>
            <a:ext cx="285750" cy="285750"/>
          </a:xfrm>
          <a:prstGeom prst="roundRect">
            <a:avLst>
              <a:gd name="adj" fmla="val 30000"/>
            </a:avLst>
          </a:prstGeom>
          <a:solidFill>
            <a:srgbClr val="E86A27"/>
          </a:solidFill>
          <a:ln/>
        </p:spPr>
        <p:txBody>
          <a:bodyPr wrap="square" rtlCol="0" anchor="ctr"/>
          <a:lstStyle/>
          <a:p>
            <a:pPr indent="0" marL="0">
              <a:buNone/>
            </a:pPr>
            <a:endParaRPr lang="en-US" dirty="0"/>
          </a:p>
        </p:txBody>
      </p:sp>
      <p:sp>
        <p:nvSpPr>
          <p:cNvPr id="25" name="Text 22"/>
          <p:cNvSpPr/>
          <p:nvPr/>
        </p:nvSpPr>
        <p:spPr>
          <a:xfrm>
            <a:off x="613358" y="3616412"/>
            <a:ext cx="222461"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03</a:t>
            </a:r>
            <a:endParaRPr lang="en-US" sz="900" dirty="0"/>
          </a:p>
        </p:txBody>
      </p:sp>
      <p:sp>
        <p:nvSpPr>
          <p:cNvPr id="26" name="Text 23"/>
          <p:cNvSpPr/>
          <p:nvPr/>
        </p:nvSpPr>
        <p:spPr>
          <a:xfrm>
            <a:off x="950119" y="3480681"/>
            <a:ext cx="142875" cy="142875"/>
          </a:xfrm>
          <a:prstGeom prst="rect">
            <a:avLst/>
          </a:prstGeom>
          <a:noFill/>
          <a:ln/>
        </p:spPr>
        <p:txBody>
          <a:bodyPr wrap="none" lIns="0" tIns="0" rIns="0" bIns="0" rtlCol="0" anchor="ctr"/>
          <a:lstStyle/>
          <a:p>
            <a:pPr algn="ctr" indent="0" marL="0">
              <a:buNone/>
            </a:pPr>
            <a:r>
              <a:rPr lang="en-US" sz="1406" dirty="0">
                <a:solidFill>
                  <a:srgbClr val="E86A27"/>
                </a:solidFill>
                <a:latin typeface="Segoe UI Symbol" pitchFamily="34" charset="0"/>
                <a:ea typeface="Segoe UI Symbol" pitchFamily="34" charset="-122"/>
                <a:cs typeface="Segoe UI Symbol" pitchFamily="34" charset="-120"/>
              </a:rPr>
              <a:t>✦</a:t>
            </a:r>
            <a:endParaRPr lang="en-US" sz="1406" dirty="0"/>
          </a:p>
        </p:txBody>
      </p:sp>
      <p:sp>
        <p:nvSpPr>
          <p:cNvPr id="27" name="Text 24"/>
          <p:cNvSpPr/>
          <p:nvPr/>
        </p:nvSpPr>
        <p:spPr>
          <a:xfrm>
            <a:off x="1157288" y="3469072"/>
            <a:ext cx="7436644" cy="179380"/>
          </a:xfrm>
          <a:prstGeom prst="rect">
            <a:avLst/>
          </a:prstGeom>
          <a:noFill/>
          <a:ln/>
        </p:spPr>
        <p:txBody>
          <a:bodyPr wrap="none" lIns="0" tIns="0" rIns="0" bIns="0" rtlCol="0" anchor="t"/>
          <a:lstStyle/>
          <a:p>
            <a:pPr algn="l" indent="0" marL="0">
              <a:lnSpc>
                <a:spcPts val="1308"/>
              </a:lnSpc>
              <a:buNone/>
            </a:pPr>
            <a:r>
              <a:rPr lang="en-US" sz="872" b="1" dirty="0">
                <a:solidFill>
                  <a:srgbClr val="1F3864"/>
                </a:solidFill>
                <a:latin typeface="Carlito" pitchFamily="34" charset="0"/>
                <a:ea typeface="Carlito" pitchFamily="34" charset="-122"/>
                <a:cs typeface="Carlito" pitchFamily="34" charset="-120"/>
              </a:rPr>
              <a:t>Key innovation</a:t>
            </a:r>
            <a:endParaRPr lang="en-US" sz="872" dirty="0"/>
          </a:p>
        </p:txBody>
      </p:sp>
      <p:sp>
        <p:nvSpPr>
          <p:cNvPr id="28" name="Text 25"/>
          <p:cNvSpPr/>
          <p:nvPr/>
        </p:nvSpPr>
        <p:spPr>
          <a:xfrm>
            <a:off x="950119" y="3663739"/>
            <a:ext cx="7643813" cy="318790"/>
          </a:xfrm>
          <a:prstGeom prst="rect">
            <a:avLst/>
          </a:prstGeom>
          <a:noFill/>
          <a:ln/>
        </p:spPr>
        <p:txBody>
          <a:bodyPr wrap="square" lIns="0" tIns="0" rIns="0" bIns="0" rtlCol="0" anchor="t"/>
          <a:lstStyle/>
          <a:p>
            <a:pPr algn="l" indent="0" marL="0">
              <a:lnSpc>
                <a:spcPts val="1069"/>
              </a:lnSpc>
              <a:buNone/>
            </a:pPr>
            <a:r>
              <a:rPr lang="en-US" sz="800" dirty="0">
                <a:solidFill>
                  <a:srgbClr val="24313F"/>
                </a:solidFill>
                <a:latin typeface="Carlito" pitchFamily="34" charset="0"/>
                <a:ea typeface="Carlito" pitchFamily="34" charset="-122"/>
                <a:cs typeface="Carlito" pitchFamily="34" charset="-120"/>
              </a:rPr>
              <a:t>The smart contract itself rejects provenance mismatches — ownership can only move along the chain of legitimate owners. Fraud is screened at submission, not after the dispute, and every API action appends to an immutable audit stream streamed live to the dashboard.</a:t>
            </a:r>
            <a:endParaRPr lang="en-US" sz="800" dirty="0"/>
          </a:p>
        </p:txBody>
      </p:sp>
      <p:sp>
        <p:nvSpPr>
          <p:cNvPr id="29" name="Text 26"/>
          <p:cNvSpPr/>
          <p:nvPr/>
        </p:nvSpPr>
        <p:spPr>
          <a:xfrm>
            <a:off x="403622" y="4143263"/>
            <a:ext cx="8336756" cy="710915"/>
          </a:xfrm>
          <a:prstGeom prst="roundRect">
            <a:avLst>
              <a:gd name="adj" fmla="val 13398"/>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30" name="Text 27"/>
          <p:cNvSpPr/>
          <p:nvPr/>
        </p:nvSpPr>
        <p:spPr>
          <a:xfrm>
            <a:off x="550069" y="4355790"/>
            <a:ext cx="285750" cy="285750"/>
          </a:xfrm>
          <a:prstGeom prst="roundRect">
            <a:avLst>
              <a:gd name="adj" fmla="val 30000"/>
            </a:avLst>
          </a:prstGeom>
          <a:solidFill>
            <a:srgbClr val="E86A27"/>
          </a:solidFill>
          <a:ln/>
        </p:spPr>
        <p:txBody>
          <a:bodyPr wrap="square" rtlCol="0" anchor="ctr"/>
          <a:lstStyle/>
          <a:p>
            <a:pPr indent="0" marL="0">
              <a:buNone/>
            </a:pPr>
            <a:endParaRPr lang="en-US" dirty="0"/>
          </a:p>
        </p:txBody>
      </p:sp>
      <p:sp>
        <p:nvSpPr>
          <p:cNvPr id="31" name="Text 28"/>
          <p:cNvSpPr/>
          <p:nvPr/>
        </p:nvSpPr>
        <p:spPr>
          <a:xfrm>
            <a:off x="613358" y="4412940"/>
            <a:ext cx="222461" cy="185166"/>
          </a:xfrm>
          <a:prstGeom prst="rect">
            <a:avLst/>
          </a:prstGeom>
          <a:noFill/>
          <a:ln/>
        </p:spPr>
        <p:txBody>
          <a:bodyPr wrap="none" lIns="0" tIns="0" rIns="0" bIns="0" rtlCol="0" anchor="t"/>
          <a:lstStyle/>
          <a:p>
            <a:pPr algn="l"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04</a:t>
            </a:r>
            <a:endParaRPr lang="en-US" sz="900" dirty="0"/>
          </a:p>
        </p:txBody>
      </p:sp>
      <p:sp>
        <p:nvSpPr>
          <p:cNvPr id="32" name="Text 29"/>
          <p:cNvSpPr/>
          <p:nvPr/>
        </p:nvSpPr>
        <p:spPr>
          <a:xfrm>
            <a:off x="950119" y="4277209"/>
            <a:ext cx="142875" cy="142875"/>
          </a:xfrm>
          <a:prstGeom prst="rect">
            <a:avLst/>
          </a:prstGeom>
          <a:noFill/>
          <a:ln/>
        </p:spPr>
        <p:txBody>
          <a:bodyPr wrap="none" lIns="0" tIns="0" rIns="0" bIns="0" rtlCol="0" anchor="ctr"/>
          <a:lstStyle/>
          <a:p>
            <a:pPr algn="ctr" indent="0" marL="0">
              <a:buNone/>
            </a:pPr>
            <a:r>
              <a:rPr lang="en-US" sz="1406" dirty="0">
                <a:solidFill>
                  <a:srgbClr val="E86A27"/>
                </a:solidFill>
                <a:latin typeface="Segoe UI Symbol" pitchFamily="34" charset="0"/>
                <a:ea typeface="Segoe UI Symbol" pitchFamily="34" charset="-122"/>
                <a:cs typeface="Segoe UI Symbol" pitchFamily="34" charset="-120"/>
              </a:rPr>
              <a:t>⚑</a:t>
            </a:r>
            <a:endParaRPr lang="en-US" sz="1406" dirty="0"/>
          </a:p>
        </p:txBody>
      </p:sp>
      <p:sp>
        <p:nvSpPr>
          <p:cNvPr id="33" name="Text 30"/>
          <p:cNvSpPr/>
          <p:nvPr/>
        </p:nvSpPr>
        <p:spPr>
          <a:xfrm>
            <a:off x="1157288" y="4265600"/>
            <a:ext cx="7436644" cy="179380"/>
          </a:xfrm>
          <a:prstGeom prst="rect">
            <a:avLst/>
          </a:prstGeom>
          <a:noFill/>
          <a:ln/>
        </p:spPr>
        <p:txBody>
          <a:bodyPr wrap="none" lIns="0" tIns="0" rIns="0" bIns="0" rtlCol="0" anchor="t"/>
          <a:lstStyle/>
          <a:p>
            <a:pPr algn="l" indent="0" marL="0">
              <a:lnSpc>
                <a:spcPts val="1308"/>
              </a:lnSpc>
              <a:buNone/>
            </a:pPr>
            <a:r>
              <a:rPr lang="en-US" sz="872" b="1" dirty="0">
                <a:solidFill>
                  <a:srgbClr val="1F3864"/>
                </a:solidFill>
                <a:latin typeface="Carlito" pitchFamily="34" charset="0"/>
                <a:ea typeface="Carlito" pitchFamily="34" charset="-122"/>
                <a:cs typeface="Carlito" pitchFamily="34" charset="-120"/>
              </a:rPr>
              <a:t>Expected outcome</a:t>
            </a:r>
            <a:endParaRPr lang="en-US" sz="872" dirty="0"/>
          </a:p>
        </p:txBody>
      </p:sp>
      <p:sp>
        <p:nvSpPr>
          <p:cNvPr id="34" name="Text 31"/>
          <p:cNvSpPr/>
          <p:nvPr/>
        </p:nvSpPr>
        <p:spPr>
          <a:xfrm>
            <a:off x="950119" y="4460267"/>
            <a:ext cx="7643813" cy="318901"/>
          </a:xfrm>
          <a:prstGeom prst="rect">
            <a:avLst/>
          </a:prstGeom>
          <a:noFill/>
          <a:ln/>
        </p:spPr>
        <p:txBody>
          <a:bodyPr wrap="square" lIns="0" tIns="0" rIns="0" bIns="0" rtlCol="0" anchor="t"/>
          <a:lstStyle/>
          <a:p>
            <a:pPr algn="l" indent="0" marL="0">
              <a:lnSpc>
                <a:spcPts val="1069"/>
              </a:lnSpc>
              <a:buNone/>
            </a:pPr>
            <a:r>
              <a:rPr lang="en-US" sz="800" dirty="0">
                <a:solidFill>
                  <a:srgbClr val="24313F"/>
                </a:solidFill>
                <a:latin typeface="Carlito" pitchFamily="34" charset="0"/>
                <a:ea typeface="Carlito" pitchFamily="34" charset="-122"/>
                <a:cs typeface="Carlito" pitchFamily="34" charset="-120"/>
              </a:rPr>
              <a:t>A single trusted source of property truth, buyer-verifiable provenance, fraud blocked before settlement, and 24/7 availability from MongoDB Atlas cloud — no local database to keep running.</a:t>
            </a:r>
            <a:endParaRPr lang="en-US" sz="800" dirty="0"/>
          </a:p>
        </p:txBody>
      </p:sp>
      <p:sp>
        <p:nvSpPr>
          <p:cNvPr id="35" name="Text 32"/>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36" name="Text 33"/>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37" name="Text 34"/>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38" name="Text 35"/>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4 of 10</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1652386"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OBJECTIVES</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3622" y="1067767"/>
            <a:ext cx="8336756" cy="532879"/>
          </a:xfrm>
          <a:prstGeom prst="roundRect">
            <a:avLst>
              <a:gd name="adj" fmla="val 17875"/>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6" name="Text 3"/>
          <p:cNvSpPr/>
          <p:nvPr/>
        </p:nvSpPr>
        <p:spPr>
          <a:xfrm>
            <a:off x="550069" y="1177044"/>
            <a:ext cx="314325" cy="314325"/>
          </a:xfrm>
          <a:prstGeom prst="roundRect">
            <a:avLst>
              <a:gd name="adj" fmla="val 30303"/>
            </a:avLst>
          </a:prstGeom>
          <a:solidFill>
            <a:srgbClr val="FDF0E7"/>
          </a:solidFill>
          <a:ln/>
        </p:spPr>
        <p:txBody>
          <a:bodyPr wrap="square" rtlCol="0" anchor="ctr"/>
          <a:lstStyle/>
          <a:p>
            <a:pPr indent="0" marL="0">
              <a:buNone/>
            </a:pPr>
            <a:endParaRPr lang="en-US" dirty="0"/>
          </a:p>
        </p:txBody>
      </p:sp>
      <p:sp>
        <p:nvSpPr>
          <p:cNvPr id="7" name="Text 4"/>
          <p:cNvSpPr/>
          <p:nvPr/>
        </p:nvSpPr>
        <p:spPr>
          <a:xfrm>
            <a:off x="657448" y="1227051"/>
            <a:ext cx="206946" cy="231458"/>
          </a:xfrm>
          <a:prstGeom prst="rect">
            <a:avLst/>
          </a:prstGeom>
          <a:noFill/>
          <a:ln/>
        </p:spPr>
        <p:txBody>
          <a:bodyPr wrap="none" lIns="0" tIns="0" rIns="0" bIns="0" rtlCol="0" anchor="t"/>
          <a:lstStyle/>
          <a:p>
            <a:pPr algn="l" indent="0" marL="0">
              <a:lnSpc>
                <a:spcPts val="1688"/>
              </a:lnSpc>
              <a:buNone/>
            </a:pPr>
            <a:r>
              <a:rPr lang="en-US" sz="1125" b="1" dirty="0">
                <a:solidFill>
                  <a:srgbClr val="1F3864"/>
                </a:solidFill>
                <a:latin typeface="Liberation Sans Narrow" pitchFamily="34" charset="0"/>
                <a:ea typeface="Liberation Sans Narrow" pitchFamily="34" charset="-122"/>
                <a:cs typeface="Liberation Sans Narrow" pitchFamily="34" charset="-120"/>
              </a:rPr>
              <a:t>1</a:t>
            </a:r>
            <a:endParaRPr lang="en-US" sz="1125" dirty="0"/>
          </a:p>
        </p:txBody>
      </p:sp>
      <p:sp>
        <p:nvSpPr>
          <p:cNvPr id="8" name="Text 5"/>
          <p:cNvSpPr/>
          <p:nvPr/>
        </p:nvSpPr>
        <p:spPr>
          <a:xfrm>
            <a:off x="978694" y="1256742"/>
            <a:ext cx="7615238" cy="169980"/>
          </a:xfrm>
          <a:prstGeom prst="rect">
            <a:avLst/>
          </a:prstGeom>
          <a:noFill/>
          <a:ln/>
        </p:spPr>
        <p:txBody>
          <a:bodyPr wrap="square" lIns="0" tIns="0" rIns="0" bIns="0" rtlCol="0" anchor="t"/>
          <a:lstStyle/>
          <a:p>
            <a:pPr algn="l" indent="0" marL="0">
              <a:lnSpc>
                <a:spcPts val="1221"/>
              </a:lnSpc>
              <a:buNone/>
            </a:pPr>
            <a:r>
              <a:rPr lang="en-US" sz="800" dirty="0">
                <a:solidFill>
                  <a:srgbClr val="24313F"/>
                </a:solidFill>
                <a:latin typeface="Carlito" pitchFamily="34" charset="0"/>
                <a:ea typeface="Carlito" pitchFamily="34" charset="-122"/>
                <a:cs typeface="Carlito" pitchFamily="34" charset="-120"/>
              </a:rPr>
              <a:t>Digitize the land registry behind secure, role-based access — separate registrar and citizen portals with JWT + bcrypt authentication.</a:t>
            </a:r>
            <a:endParaRPr lang="en-US" sz="800" dirty="0"/>
          </a:p>
        </p:txBody>
      </p:sp>
      <p:sp>
        <p:nvSpPr>
          <p:cNvPr id="9" name="Text 6"/>
          <p:cNvSpPr/>
          <p:nvPr/>
        </p:nvSpPr>
        <p:spPr>
          <a:xfrm>
            <a:off x="403622" y="1672084"/>
            <a:ext cx="8336756" cy="532991"/>
          </a:xfrm>
          <a:prstGeom prst="roundRect">
            <a:avLst>
              <a:gd name="adj" fmla="val 17871"/>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0" name="Text 7"/>
          <p:cNvSpPr/>
          <p:nvPr/>
        </p:nvSpPr>
        <p:spPr>
          <a:xfrm>
            <a:off x="550069" y="1781361"/>
            <a:ext cx="314325" cy="314325"/>
          </a:xfrm>
          <a:prstGeom prst="roundRect">
            <a:avLst>
              <a:gd name="adj" fmla="val 30303"/>
            </a:avLst>
          </a:prstGeom>
          <a:solidFill>
            <a:srgbClr val="FDF0E7"/>
          </a:solidFill>
          <a:ln/>
        </p:spPr>
        <p:txBody>
          <a:bodyPr wrap="square" rtlCol="0" anchor="ctr"/>
          <a:lstStyle/>
          <a:p>
            <a:pPr indent="0" marL="0">
              <a:buNone/>
            </a:pPr>
            <a:endParaRPr lang="en-US" dirty="0"/>
          </a:p>
        </p:txBody>
      </p:sp>
      <p:sp>
        <p:nvSpPr>
          <p:cNvPr id="11" name="Text 8"/>
          <p:cNvSpPr/>
          <p:nvPr/>
        </p:nvSpPr>
        <p:spPr>
          <a:xfrm>
            <a:off x="657448" y="1831367"/>
            <a:ext cx="206946" cy="231458"/>
          </a:xfrm>
          <a:prstGeom prst="rect">
            <a:avLst/>
          </a:prstGeom>
          <a:noFill/>
          <a:ln/>
        </p:spPr>
        <p:txBody>
          <a:bodyPr wrap="none" lIns="0" tIns="0" rIns="0" bIns="0" rtlCol="0" anchor="t"/>
          <a:lstStyle/>
          <a:p>
            <a:pPr algn="l" indent="0" marL="0">
              <a:lnSpc>
                <a:spcPts val="1688"/>
              </a:lnSpc>
              <a:buNone/>
            </a:pPr>
            <a:r>
              <a:rPr lang="en-US" sz="1125" b="1" dirty="0">
                <a:solidFill>
                  <a:srgbClr val="1F3864"/>
                </a:solidFill>
                <a:latin typeface="Liberation Sans Narrow" pitchFamily="34" charset="0"/>
                <a:ea typeface="Liberation Sans Narrow" pitchFamily="34" charset="-122"/>
                <a:cs typeface="Liberation Sans Narrow" pitchFamily="34" charset="-120"/>
              </a:rPr>
              <a:t>2</a:t>
            </a:r>
            <a:endParaRPr lang="en-US" sz="1125" dirty="0"/>
          </a:p>
        </p:txBody>
      </p:sp>
      <p:sp>
        <p:nvSpPr>
          <p:cNvPr id="12" name="Text 9"/>
          <p:cNvSpPr/>
          <p:nvPr/>
        </p:nvSpPr>
        <p:spPr>
          <a:xfrm>
            <a:off x="978694" y="1861058"/>
            <a:ext cx="7615238" cy="169980"/>
          </a:xfrm>
          <a:prstGeom prst="rect">
            <a:avLst/>
          </a:prstGeom>
          <a:noFill/>
          <a:ln/>
        </p:spPr>
        <p:txBody>
          <a:bodyPr wrap="square" lIns="0" tIns="0" rIns="0" bIns="0" rtlCol="0" anchor="t"/>
          <a:lstStyle/>
          <a:p>
            <a:pPr algn="l" indent="0" marL="0">
              <a:lnSpc>
                <a:spcPts val="1221"/>
              </a:lnSpc>
              <a:buNone/>
            </a:pPr>
            <a:r>
              <a:rPr lang="en-US" sz="788" dirty="0">
                <a:solidFill>
                  <a:srgbClr val="24313F"/>
                </a:solidFill>
                <a:latin typeface="Carlito" pitchFamily="34" charset="0"/>
                <a:ea typeface="Carlito" pitchFamily="34" charset="-122"/>
                <a:cs typeface="Carlito" pitchFamily="34" charset="-120"/>
              </a:rPr>
              <a:t>Anchor every ownership change on an immutable EVM ledger through the LandRegistry.sol smart contract with on-chain provenance enforcement.</a:t>
            </a:r>
            <a:endParaRPr lang="en-US" sz="788" dirty="0"/>
          </a:p>
        </p:txBody>
      </p:sp>
      <p:sp>
        <p:nvSpPr>
          <p:cNvPr id="13" name="Text 10"/>
          <p:cNvSpPr/>
          <p:nvPr/>
        </p:nvSpPr>
        <p:spPr>
          <a:xfrm>
            <a:off x="403622" y="2276512"/>
            <a:ext cx="8336756" cy="532991"/>
          </a:xfrm>
          <a:prstGeom prst="roundRect">
            <a:avLst>
              <a:gd name="adj" fmla="val 17871"/>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4" name="Text 11"/>
          <p:cNvSpPr/>
          <p:nvPr/>
        </p:nvSpPr>
        <p:spPr>
          <a:xfrm>
            <a:off x="550069" y="2385789"/>
            <a:ext cx="314325" cy="314325"/>
          </a:xfrm>
          <a:prstGeom prst="roundRect">
            <a:avLst>
              <a:gd name="adj" fmla="val 30303"/>
            </a:avLst>
          </a:prstGeom>
          <a:solidFill>
            <a:srgbClr val="FDF0E7"/>
          </a:solidFill>
          <a:ln/>
        </p:spPr>
        <p:txBody>
          <a:bodyPr wrap="square" rtlCol="0" anchor="ctr"/>
          <a:lstStyle/>
          <a:p>
            <a:pPr indent="0" marL="0">
              <a:buNone/>
            </a:pPr>
            <a:endParaRPr lang="en-US" dirty="0"/>
          </a:p>
        </p:txBody>
      </p:sp>
      <p:sp>
        <p:nvSpPr>
          <p:cNvPr id="15" name="Text 12"/>
          <p:cNvSpPr/>
          <p:nvPr/>
        </p:nvSpPr>
        <p:spPr>
          <a:xfrm>
            <a:off x="657448" y="2435796"/>
            <a:ext cx="206946" cy="231458"/>
          </a:xfrm>
          <a:prstGeom prst="rect">
            <a:avLst/>
          </a:prstGeom>
          <a:noFill/>
          <a:ln/>
        </p:spPr>
        <p:txBody>
          <a:bodyPr wrap="none" lIns="0" tIns="0" rIns="0" bIns="0" rtlCol="0" anchor="t"/>
          <a:lstStyle/>
          <a:p>
            <a:pPr algn="l" indent="0" marL="0">
              <a:lnSpc>
                <a:spcPts val="1688"/>
              </a:lnSpc>
              <a:buNone/>
            </a:pPr>
            <a:r>
              <a:rPr lang="en-US" sz="1125" b="1" dirty="0">
                <a:solidFill>
                  <a:srgbClr val="1F3864"/>
                </a:solidFill>
                <a:latin typeface="Liberation Sans Narrow" pitchFamily="34" charset="0"/>
                <a:ea typeface="Liberation Sans Narrow" pitchFamily="34" charset="-122"/>
                <a:cs typeface="Liberation Sans Narrow" pitchFamily="34" charset="-120"/>
              </a:rPr>
              <a:t>3</a:t>
            </a:r>
            <a:endParaRPr lang="en-US" sz="1125" dirty="0"/>
          </a:p>
        </p:txBody>
      </p:sp>
      <p:sp>
        <p:nvSpPr>
          <p:cNvPr id="16" name="Text 13"/>
          <p:cNvSpPr/>
          <p:nvPr/>
        </p:nvSpPr>
        <p:spPr>
          <a:xfrm>
            <a:off x="978694" y="2465487"/>
            <a:ext cx="7615238" cy="169980"/>
          </a:xfrm>
          <a:prstGeom prst="rect">
            <a:avLst/>
          </a:prstGeom>
          <a:noFill/>
          <a:ln/>
        </p:spPr>
        <p:txBody>
          <a:bodyPr wrap="square" lIns="0" tIns="0" rIns="0" bIns="0" rtlCol="0" anchor="t"/>
          <a:lstStyle/>
          <a:p>
            <a:pPr algn="l" indent="0" marL="0">
              <a:lnSpc>
                <a:spcPts val="1221"/>
              </a:lnSpc>
              <a:buNone/>
            </a:pPr>
            <a:r>
              <a:rPr lang="en-US" sz="800" dirty="0">
                <a:solidFill>
                  <a:srgbClr val="24313F"/>
                </a:solidFill>
                <a:latin typeface="Carlito" pitchFamily="34" charset="0"/>
                <a:ea typeface="Carlito" pitchFamily="34" charset="-122"/>
                <a:cs typeface="Carlito" pitchFamily="34" charset="-120"/>
              </a:rPr>
              <a:t>Guarantee document integrity using SHA-256 hashing at upload with independent re-verification on demand.</a:t>
            </a:r>
            <a:endParaRPr lang="en-US" sz="800" dirty="0"/>
          </a:p>
        </p:txBody>
      </p:sp>
      <p:sp>
        <p:nvSpPr>
          <p:cNvPr id="17" name="Text 14"/>
          <p:cNvSpPr/>
          <p:nvPr/>
        </p:nvSpPr>
        <p:spPr>
          <a:xfrm>
            <a:off x="403622" y="2880940"/>
            <a:ext cx="8336756" cy="532991"/>
          </a:xfrm>
          <a:prstGeom prst="roundRect">
            <a:avLst>
              <a:gd name="adj" fmla="val 17871"/>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8" name="Text 15"/>
          <p:cNvSpPr/>
          <p:nvPr/>
        </p:nvSpPr>
        <p:spPr>
          <a:xfrm>
            <a:off x="550069" y="2990217"/>
            <a:ext cx="314325" cy="314325"/>
          </a:xfrm>
          <a:prstGeom prst="roundRect">
            <a:avLst>
              <a:gd name="adj" fmla="val 30303"/>
            </a:avLst>
          </a:prstGeom>
          <a:solidFill>
            <a:srgbClr val="FDF0E7"/>
          </a:solidFill>
          <a:ln/>
        </p:spPr>
        <p:txBody>
          <a:bodyPr wrap="square" rtlCol="0" anchor="ctr"/>
          <a:lstStyle/>
          <a:p>
            <a:pPr indent="0" marL="0">
              <a:buNone/>
            </a:pPr>
            <a:endParaRPr lang="en-US" dirty="0"/>
          </a:p>
        </p:txBody>
      </p:sp>
      <p:sp>
        <p:nvSpPr>
          <p:cNvPr id="19" name="Text 16"/>
          <p:cNvSpPr/>
          <p:nvPr/>
        </p:nvSpPr>
        <p:spPr>
          <a:xfrm>
            <a:off x="657448" y="3040224"/>
            <a:ext cx="206946" cy="231458"/>
          </a:xfrm>
          <a:prstGeom prst="rect">
            <a:avLst/>
          </a:prstGeom>
          <a:noFill/>
          <a:ln/>
        </p:spPr>
        <p:txBody>
          <a:bodyPr wrap="none" lIns="0" tIns="0" rIns="0" bIns="0" rtlCol="0" anchor="t"/>
          <a:lstStyle/>
          <a:p>
            <a:pPr algn="l" indent="0" marL="0">
              <a:lnSpc>
                <a:spcPts val="1688"/>
              </a:lnSpc>
              <a:buNone/>
            </a:pPr>
            <a:r>
              <a:rPr lang="en-US" sz="1125" b="1" dirty="0">
                <a:solidFill>
                  <a:srgbClr val="1F3864"/>
                </a:solidFill>
                <a:latin typeface="Liberation Sans Narrow" pitchFamily="34" charset="0"/>
                <a:ea typeface="Liberation Sans Narrow" pitchFamily="34" charset="-122"/>
                <a:cs typeface="Liberation Sans Narrow" pitchFamily="34" charset="-120"/>
              </a:rPr>
              <a:t>4</a:t>
            </a:r>
            <a:endParaRPr lang="en-US" sz="1125" dirty="0"/>
          </a:p>
        </p:txBody>
      </p:sp>
      <p:sp>
        <p:nvSpPr>
          <p:cNvPr id="20" name="Text 17"/>
          <p:cNvSpPr/>
          <p:nvPr/>
        </p:nvSpPr>
        <p:spPr>
          <a:xfrm>
            <a:off x="978694" y="3069915"/>
            <a:ext cx="7615238" cy="169980"/>
          </a:xfrm>
          <a:prstGeom prst="rect">
            <a:avLst/>
          </a:prstGeom>
          <a:noFill/>
          <a:ln/>
        </p:spPr>
        <p:txBody>
          <a:bodyPr wrap="square" lIns="0" tIns="0" rIns="0" bIns="0" rtlCol="0" anchor="t"/>
          <a:lstStyle/>
          <a:p>
            <a:pPr algn="l" indent="0" marL="0">
              <a:lnSpc>
                <a:spcPts val="1221"/>
              </a:lnSpc>
              <a:buNone/>
            </a:pPr>
            <a:r>
              <a:rPr lang="en-US" sz="800" dirty="0">
                <a:solidFill>
                  <a:srgbClr val="24313F"/>
                </a:solidFill>
                <a:latin typeface="Carlito" pitchFamily="34" charset="0"/>
                <a:ea typeface="Carlito" pitchFamily="34" charset="-122"/>
                <a:cs typeface="Carlito" pitchFamily="34" charset="-120"/>
              </a:rPr>
              <a:t>Automate transfer risk screening with a deterministic 9-check fraud engine (PASS / WARN / FAIL) before registrar approval.</a:t>
            </a:r>
            <a:endParaRPr lang="en-US" sz="800" dirty="0"/>
          </a:p>
        </p:txBody>
      </p:sp>
      <p:sp>
        <p:nvSpPr>
          <p:cNvPr id="21" name="Text 18"/>
          <p:cNvSpPr/>
          <p:nvPr/>
        </p:nvSpPr>
        <p:spPr>
          <a:xfrm>
            <a:off x="403622" y="3485369"/>
            <a:ext cx="8336756" cy="532991"/>
          </a:xfrm>
          <a:prstGeom prst="roundRect">
            <a:avLst>
              <a:gd name="adj" fmla="val 17871"/>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22" name="Text 19"/>
          <p:cNvSpPr/>
          <p:nvPr/>
        </p:nvSpPr>
        <p:spPr>
          <a:xfrm>
            <a:off x="550069" y="3594646"/>
            <a:ext cx="314325" cy="314325"/>
          </a:xfrm>
          <a:prstGeom prst="roundRect">
            <a:avLst>
              <a:gd name="adj" fmla="val 30303"/>
            </a:avLst>
          </a:prstGeom>
          <a:solidFill>
            <a:srgbClr val="FDF0E7"/>
          </a:solidFill>
          <a:ln/>
        </p:spPr>
        <p:txBody>
          <a:bodyPr wrap="square" rtlCol="0" anchor="ctr"/>
          <a:lstStyle/>
          <a:p>
            <a:pPr indent="0" marL="0">
              <a:buNone/>
            </a:pPr>
            <a:endParaRPr lang="en-US" dirty="0"/>
          </a:p>
        </p:txBody>
      </p:sp>
      <p:sp>
        <p:nvSpPr>
          <p:cNvPr id="23" name="Text 20"/>
          <p:cNvSpPr/>
          <p:nvPr/>
        </p:nvSpPr>
        <p:spPr>
          <a:xfrm>
            <a:off x="657448" y="3644652"/>
            <a:ext cx="206946" cy="231458"/>
          </a:xfrm>
          <a:prstGeom prst="rect">
            <a:avLst/>
          </a:prstGeom>
          <a:noFill/>
          <a:ln/>
        </p:spPr>
        <p:txBody>
          <a:bodyPr wrap="none" lIns="0" tIns="0" rIns="0" bIns="0" rtlCol="0" anchor="t"/>
          <a:lstStyle/>
          <a:p>
            <a:pPr algn="l" indent="0" marL="0">
              <a:lnSpc>
                <a:spcPts val="1688"/>
              </a:lnSpc>
              <a:buNone/>
            </a:pPr>
            <a:r>
              <a:rPr lang="en-US" sz="1125" b="1" dirty="0">
                <a:solidFill>
                  <a:srgbClr val="1F3864"/>
                </a:solidFill>
                <a:latin typeface="Liberation Sans Narrow" pitchFamily="34" charset="0"/>
                <a:ea typeface="Liberation Sans Narrow" pitchFamily="34" charset="-122"/>
                <a:cs typeface="Liberation Sans Narrow" pitchFamily="34" charset="-120"/>
              </a:rPr>
              <a:t>5</a:t>
            </a:r>
            <a:endParaRPr lang="en-US" sz="1125" dirty="0"/>
          </a:p>
        </p:txBody>
      </p:sp>
      <p:sp>
        <p:nvSpPr>
          <p:cNvPr id="24" name="Text 21"/>
          <p:cNvSpPr/>
          <p:nvPr/>
        </p:nvSpPr>
        <p:spPr>
          <a:xfrm>
            <a:off x="978694" y="3674343"/>
            <a:ext cx="7615238" cy="169980"/>
          </a:xfrm>
          <a:prstGeom prst="rect">
            <a:avLst/>
          </a:prstGeom>
          <a:noFill/>
          <a:ln/>
        </p:spPr>
        <p:txBody>
          <a:bodyPr wrap="square" lIns="0" tIns="0" rIns="0" bIns="0" rtlCol="0" anchor="t"/>
          <a:lstStyle/>
          <a:p>
            <a:pPr algn="l" indent="0" marL="0">
              <a:lnSpc>
                <a:spcPts val="1221"/>
              </a:lnSpc>
              <a:buNone/>
            </a:pPr>
            <a:r>
              <a:rPr lang="en-US" sz="800" dirty="0">
                <a:solidFill>
                  <a:srgbClr val="24313F"/>
                </a:solidFill>
                <a:latin typeface="Carlito" pitchFamily="34" charset="0"/>
                <a:ea typeface="Carlito" pitchFamily="34" charset="-122"/>
                <a:cs typeface="Carlito" pitchFamily="34" charset="-120"/>
              </a:rPr>
              <a:t>Ship a production-grade platform with CI/CD pipelines, Prometheus + Grafana observability and 24/7 MongoDB Atlas cloud storage.</a:t>
            </a:r>
            <a:endParaRPr lang="en-US" sz="800" dirty="0"/>
          </a:p>
        </p:txBody>
      </p:sp>
      <p:sp>
        <p:nvSpPr>
          <p:cNvPr id="25" name="Text 22"/>
          <p:cNvSpPr/>
          <p:nvPr/>
        </p:nvSpPr>
        <p:spPr>
          <a:xfrm>
            <a:off x="400050" y="4114800"/>
            <a:ext cx="8343900" cy="742950"/>
          </a:xfrm>
          <a:prstGeom prst="roundRect">
            <a:avLst>
              <a:gd name="adj" fmla="val 12821"/>
            </a:avLst>
          </a:prstGeom>
          <a:solidFill>
            <a:srgbClr val="10243E"/>
          </a:solidFill>
          <a:ln/>
        </p:spPr>
        <p:txBody>
          <a:bodyPr wrap="square" rtlCol="0" anchor="ctr"/>
          <a:lstStyle/>
          <a:p>
            <a:pPr indent="0" marL="0">
              <a:buNone/>
            </a:pPr>
            <a:endParaRPr lang="en-US" dirty="0"/>
          </a:p>
        </p:txBody>
      </p:sp>
      <p:sp>
        <p:nvSpPr>
          <p:cNvPr id="26" name="Text 23"/>
          <p:cNvSpPr/>
          <p:nvPr/>
        </p:nvSpPr>
        <p:spPr>
          <a:xfrm>
            <a:off x="860721" y="4327773"/>
            <a:ext cx="741700" cy="188220"/>
          </a:xfrm>
          <a:prstGeom prst="rect">
            <a:avLst/>
          </a:prstGeom>
          <a:noFill/>
          <a:ln/>
        </p:spPr>
        <p:txBody>
          <a:bodyPr wrap="none" lIns="0" tIns="0" rIns="0" bIns="0" rtlCol="0" anchor="t">
            <a:normAutofit/>
          </a:bodyPr>
          <a:lstStyle/>
          <a:p>
            <a:pPr algn="ctr" indent="0" marL="0">
              <a:lnSpc>
                <a:spcPts val="1418"/>
              </a:lnSpc>
              <a:buNone/>
            </a:pPr>
            <a:r>
              <a:rPr lang="en-US" sz="1181" b="1" dirty="0">
                <a:solidFill>
                  <a:srgbClr val="E86A27"/>
                </a:solidFill>
                <a:latin typeface="Liberation Sans Narrow" pitchFamily="34" charset="0"/>
                <a:ea typeface="Liberation Sans Narrow" pitchFamily="34" charset="-122"/>
                <a:cs typeface="Liberation Sans Narrow" pitchFamily="34" charset="-120"/>
              </a:rPr>
              <a:t>100%</a:t>
            </a:r>
            <a:endParaRPr lang="en-US" sz="1181" dirty="0"/>
          </a:p>
        </p:txBody>
      </p:sp>
      <p:sp>
        <p:nvSpPr>
          <p:cNvPr id="27" name="Text 24"/>
          <p:cNvSpPr/>
          <p:nvPr/>
        </p:nvSpPr>
        <p:spPr>
          <a:xfrm>
            <a:off x="710254" y="4543425"/>
            <a:ext cx="1042523" cy="148100"/>
          </a:xfrm>
          <a:prstGeom prst="rect">
            <a:avLst/>
          </a:prstGeom>
          <a:noFill/>
          <a:ln/>
        </p:spPr>
        <p:txBody>
          <a:bodyPr wrap="square" lIns="0" tIns="0" rIns="0" bIns="0" rtlCol="0" anchor="t"/>
          <a:lstStyle/>
          <a:p>
            <a:pPr algn="ctr" indent="0" marL="0">
              <a:lnSpc>
                <a:spcPts val="797"/>
              </a:lnSpc>
              <a:buNone/>
            </a:pPr>
            <a:r>
              <a:rPr lang="en-US" sz="600" dirty="0">
                <a:solidFill>
                  <a:srgbClr val="FFFFFF"/>
                </a:solidFill>
                <a:latin typeface="Carlito" pitchFamily="34" charset="0"/>
                <a:ea typeface="Carlito" pitchFamily="34" charset="-122"/>
                <a:cs typeface="Carlito" pitchFamily="34" charset="-120"/>
              </a:rPr>
              <a:t>transfers settled on-chain</a:t>
            </a:r>
            <a:endParaRPr lang="en-US" sz="600" dirty="0"/>
          </a:p>
        </p:txBody>
      </p:sp>
      <p:sp>
        <p:nvSpPr>
          <p:cNvPr id="28" name="Shape 25"/>
          <p:cNvSpPr/>
          <p:nvPr/>
        </p:nvSpPr>
        <p:spPr>
          <a:xfrm>
            <a:off x="2066665" y="4114800"/>
            <a:ext cx="0" cy="742950"/>
          </a:xfrm>
          <a:prstGeom prst="line">
            <a:avLst/>
          </a:prstGeom>
          <a:noFill/>
          <a:ln w="7144">
            <a:solidFill>
              <a:srgbClr val="FFFFFF"/>
            </a:solidFill>
            <a:prstDash val="solid"/>
          </a:ln>
        </p:spPr>
      </p:sp>
      <p:sp>
        <p:nvSpPr>
          <p:cNvPr id="29" name="Text 26"/>
          <p:cNvSpPr/>
          <p:nvPr/>
        </p:nvSpPr>
        <p:spPr>
          <a:xfrm>
            <a:off x="2818232" y="4327773"/>
            <a:ext cx="167164" cy="188220"/>
          </a:xfrm>
          <a:prstGeom prst="rect">
            <a:avLst/>
          </a:prstGeom>
          <a:noFill/>
          <a:ln/>
        </p:spPr>
        <p:txBody>
          <a:bodyPr wrap="none" lIns="0" tIns="0" rIns="0" bIns="0" rtlCol="0" anchor="t">
            <a:normAutofit/>
          </a:bodyPr>
          <a:lstStyle/>
          <a:p>
            <a:pPr algn="ctr" indent="0" marL="0">
              <a:lnSpc>
                <a:spcPts val="1418"/>
              </a:lnSpc>
              <a:buNone/>
            </a:pPr>
            <a:r>
              <a:rPr lang="en-US" sz="1181" b="1" dirty="0">
                <a:solidFill>
                  <a:srgbClr val="E86A27"/>
                </a:solidFill>
                <a:latin typeface="Liberation Sans Narrow" pitchFamily="34" charset="0"/>
                <a:ea typeface="Liberation Sans Narrow" pitchFamily="34" charset="-122"/>
                <a:cs typeface="Liberation Sans Narrow" pitchFamily="34" charset="-120"/>
              </a:rPr>
              <a:t>0</a:t>
            </a:r>
            <a:endParaRPr lang="en-US" sz="1181" dirty="0"/>
          </a:p>
        </p:txBody>
      </p:sp>
      <p:sp>
        <p:nvSpPr>
          <p:cNvPr id="30" name="Text 27"/>
          <p:cNvSpPr/>
          <p:nvPr/>
        </p:nvSpPr>
        <p:spPr>
          <a:xfrm>
            <a:off x="2259760" y="4543425"/>
            <a:ext cx="1284107" cy="148100"/>
          </a:xfrm>
          <a:prstGeom prst="rect">
            <a:avLst/>
          </a:prstGeom>
          <a:noFill/>
          <a:ln/>
        </p:spPr>
        <p:txBody>
          <a:bodyPr wrap="square" lIns="0" tIns="0" rIns="0" bIns="0" rtlCol="0" anchor="t"/>
          <a:lstStyle/>
          <a:p>
            <a:pPr algn="ctr" indent="0" marL="0">
              <a:lnSpc>
                <a:spcPts val="797"/>
              </a:lnSpc>
              <a:buNone/>
            </a:pPr>
            <a:r>
              <a:rPr lang="en-US" sz="600" dirty="0">
                <a:solidFill>
                  <a:srgbClr val="FFFFFF"/>
                </a:solidFill>
                <a:latin typeface="Carlito" pitchFamily="34" charset="0"/>
                <a:ea typeface="Carlito" pitchFamily="34" charset="-122"/>
                <a:cs typeface="Carlito" pitchFamily="34" charset="-120"/>
              </a:rPr>
              <a:t>unverified documents accepted</a:t>
            </a:r>
            <a:endParaRPr lang="en-US" sz="600" dirty="0"/>
          </a:p>
        </p:txBody>
      </p:sp>
      <p:sp>
        <p:nvSpPr>
          <p:cNvPr id="31" name="Shape 28"/>
          <p:cNvSpPr/>
          <p:nvPr/>
        </p:nvSpPr>
        <p:spPr>
          <a:xfrm>
            <a:off x="3736963" y="4114800"/>
            <a:ext cx="0" cy="742950"/>
          </a:xfrm>
          <a:prstGeom prst="line">
            <a:avLst/>
          </a:prstGeom>
          <a:noFill/>
          <a:ln w="7144">
            <a:solidFill>
              <a:srgbClr val="FFFFFF"/>
            </a:solidFill>
            <a:prstDash val="solid"/>
          </a:ln>
        </p:spPr>
      </p:sp>
      <p:sp>
        <p:nvSpPr>
          <p:cNvPr id="32" name="Text 29"/>
          <p:cNvSpPr/>
          <p:nvPr/>
        </p:nvSpPr>
        <p:spPr>
          <a:xfrm>
            <a:off x="4488418" y="4327773"/>
            <a:ext cx="167164" cy="188220"/>
          </a:xfrm>
          <a:prstGeom prst="rect">
            <a:avLst/>
          </a:prstGeom>
          <a:noFill/>
          <a:ln/>
        </p:spPr>
        <p:txBody>
          <a:bodyPr wrap="none" lIns="0" tIns="0" rIns="0" bIns="0" rtlCol="0" anchor="t">
            <a:normAutofit/>
          </a:bodyPr>
          <a:lstStyle/>
          <a:p>
            <a:pPr algn="ctr" indent="0" marL="0">
              <a:lnSpc>
                <a:spcPts val="1418"/>
              </a:lnSpc>
              <a:buNone/>
            </a:pPr>
            <a:r>
              <a:rPr lang="en-US" sz="1181" b="1" dirty="0">
                <a:solidFill>
                  <a:srgbClr val="E86A27"/>
                </a:solidFill>
                <a:latin typeface="Liberation Sans Narrow" pitchFamily="34" charset="0"/>
                <a:ea typeface="Liberation Sans Narrow" pitchFamily="34" charset="-122"/>
                <a:cs typeface="Liberation Sans Narrow" pitchFamily="34" charset="-120"/>
              </a:rPr>
              <a:t>1</a:t>
            </a:r>
            <a:endParaRPr lang="en-US" sz="1181" dirty="0"/>
          </a:p>
        </p:txBody>
      </p:sp>
      <p:sp>
        <p:nvSpPr>
          <p:cNvPr id="33" name="Text 30"/>
          <p:cNvSpPr/>
          <p:nvPr/>
        </p:nvSpPr>
        <p:spPr>
          <a:xfrm>
            <a:off x="4036046" y="4543425"/>
            <a:ext cx="1072020" cy="148100"/>
          </a:xfrm>
          <a:prstGeom prst="rect">
            <a:avLst/>
          </a:prstGeom>
          <a:noFill/>
          <a:ln/>
        </p:spPr>
        <p:txBody>
          <a:bodyPr wrap="none" lIns="0" tIns="0" rIns="0" bIns="0" rtlCol="0" anchor="t"/>
          <a:lstStyle/>
          <a:p>
            <a:pPr algn="ctr" indent="0" marL="0">
              <a:lnSpc>
                <a:spcPts val="797"/>
              </a:lnSpc>
              <a:buNone/>
            </a:pPr>
            <a:r>
              <a:rPr lang="en-US" sz="600" dirty="0">
                <a:solidFill>
                  <a:srgbClr val="FFFFFF"/>
                </a:solidFill>
                <a:latin typeface="Carlito" pitchFamily="34" charset="0"/>
                <a:ea typeface="Carlito" pitchFamily="34" charset="-122"/>
                <a:cs typeface="Carlito" pitchFamily="34" charset="-120"/>
              </a:rPr>
              <a:t>audit event per API action</a:t>
            </a:r>
            <a:endParaRPr lang="en-US" sz="600" dirty="0"/>
          </a:p>
        </p:txBody>
      </p:sp>
      <p:sp>
        <p:nvSpPr>
          <p:cNvPr id="34" name="Shape 31"/>
          <p:cNvSpPr/>
          <p:nvPr/>
        </p:nvSpPr>
        <p:spPr>
          <a:xfrm>
            <a:off x="5407149" y="4114800"/>
            <a:ext cx="0" cy="742950"/>
          </a:xfrm>
          <a:prstGeom prst="line">
            <a:avLst/>
          </a:prstGeom>
          <a:noFill/>
          <a:ln w="7144">
            <a:solidFill>
              <a:srgbClr val="FFFFFF"/>
            </a:solidFill>
            <a:prstDash val="solid"/>
          </a:ln>
        </p:spPr>
      </p:sp>
      <p:sp>
        <p:nvSpPr>
          <p:cNvPr id="35" name="Text 32"/>
          <p:cNvSpPr/>
          <p:nvPr/>
        </p:nvSpPr>
        <p:spPr>
          <a:xfrm>
            <a:off x="5864282" y="4327773"/>
            <a:ext cx="755809" cy="188220"/>
          </a:xfrm>
          <a:prstGeom prst="rect">
            <a:avLst/>
          </a:prstGeom>
          <a:noFill/>
          <a:ln/>
        </p:spPr>
        <p:txBody>
          <a:bodyPr wrap="none" lIns="0" tIns="0" rIns="0" bIns="0" rtlCol="0" anchor="t">
            <a:normAutofit/>
          </a:bodyPr>
          <a:lstStyle/>
          <a:p>
            <a:pPr algn="ctr" indent="0" marL="0">
              <a:lnSpc>
                <a:spcPts val="1418"/>
              </a:lnSpc>
              <a:buNone/>
            </a:pPr>
            <a:r>
              <a:rPr lang="en-US" sz="1181" b="1" dirty="0">
                <a:solidFill>
                  <a:srgbClr val="E86A27"/>
                </a:solidFill>
                <a:latin typeface="Liberation Sans Narrow" pitchFamily="34" charset="0"/>
                <a:ea typeface="Liberation Sans Narrow" pitchFamily="34" charset="-122"/>
                <a:cs typeface="Liberation Sans Narrow" pitchFamily="34" charset="-120"/>
              </a:rPr>
              <a:t>29/29</a:t>
            </a:r>
            <a:endParaRPr lang="en-US" sz="1181" dirty="0"/>
          </a:p>
        </p:txBody>
      </p:sp>
      <p:sp>
        <p:nvSpPr>
          <p:cNvPr id="36" name="Text 33"/>
          <p:cNvSpPr/>
          <p:nvPr/>
        </p:nvSpPr>
        <p:spPr>
          <a:xfrm>
            <a:off x="5720358" y="4543425"/>
            <a:ext cx="1043657" cy="148100"/>
          </a:xfrm>
          <a:prstGeom prst="rect">
            <a:avLst/>
          </a:prstGeom>
          <a:noFill/>
          <a:ln/>
        </p:spPr>
        <p:txBody>
          <a:bodyPr wrap="none" lIns="0" tIns="0" rIns="0" bIns="0" rtlCol="0" anchor="t"/>
          <a:lstStyle/>
          <a:p>
            <a:pPr algn="ctr" indent="0" marL="0">
              <a:lnSpc>
                <a:spcPts val="797"/>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API · 20/20 contract tests</a:t>
            </a:r>
            <a:endParaRPr lang="en-US" sz="600" dirty="0"/>
          </a:p>
        </p:txBody>
      </p:sp>
      <p:sp>
        <p:nvSpPr>
          <p:cNvPr id="37" name="Shape 34"/>
          <p:cNvSpPr/>
          <p:nvPr/>
        </p:nvSpPr>
        <p:spPr>
          <a:xfrm>
            <a:off x="7077335" y="4114800"/>
            <a:ext cx="0" cy="742950"/>
          </a:xfrm>
          <a:prstGeom prst="line">
            <a:avLst/>
          </a:prstGeom>
          <a:noFill/>
          <a:ln w="7144">
            <a:solidFill>
              <a:srgbClr val="FFFFFF"/>
            </a:solidFill>
            <a:prstDash val="solid"/>
          </a:ln>
        </p:spPr>
      </p:sp>
      <p:sp>
        <p:nvSpPr>
          <p:cNvPr id="38" name="Text 35"/>
          <p:cNvSpPr/>
          <p:nvPr/>
        </p:nvSpPr>
        <p:spPr>
          <a:xfrm>
            <a:off x="7828791" y="4327773"/>
            <a:ext cx="167164" cy="188220"/>
          </a:xfrm>
          <a:prstGeom prst="rect">
            <a:avLst/>
          </a:prstGeom>
          <a:noFill/>
          <a:ln/>
        </p:spPr>
        <p:txBody>
          <a:bodyPr wrap="none" lIns="0" tIns="0" rIns="0" bIns="0" rtlCol="0" anchor="t">
            <a:normAutofit/>
          </a:bodyPr>
          <a:lstStyle/>
          <a:p>
            <a:pPr algn="ctr" indent="0" marL="0">
              <a:lnSpc>
                <a:spcPts val="1418"/>
              </a:lnSpc>
              <a:buNone/>
            </a:pPr>
            <a:r>
              <a:rPr lang="en-US" sz="1181" b="1" dirty="0">
                <a:solidFill>
                  <a:srgbClr val="E86A27"/>
                </a:solidFill>
                <a:latin typeface="Liberation Sans Narrow" pitchFamily="34" charset="0"/>
                <a:ea typeface="Liberation Sans Narrow" pitchFamily="34" charset="-122"/>
                <a:cs typeface="Liberation Sans Narrow" pitchFamily="34" charset="-120"/>
              </a:rPr>
              <a:t>0</a:t>
            </a:r>
            <a:endParaRPr lang="en-US" sz="1181" dirty="0"/>
          </a:p>
        </p:txBody>
      </p:sp>
      <p:sp>
        <p:nvSpPr>
          <p:cNvPr id="39" name="Text 36"/>
          <p:cNvSpPr/>
          <p:nvPr/>
        </p:nvSpPr>
        <p:spPr>
          <a:xfrm>
            <a:off x="7265618" y="4543425"/>
            <a:ext cx="1293510" cy="148100"/>
          </a:xfrm>
          <a:prstGeom prst="rect">
            <a:avLst/>
          </a:prstGeom>
          <a:noFill/>
          <a:ln/>
        </p:spPr>
        <p:txBody>
          <a:bodyPr wrap="square" lIns="0" tIns="0" rIns="0" bIns="0" rtlCol="0" anchor="t"/>
          <a:lstStyle/>
          <a:p>
            <a:pPr algn="ctr" indent="0" marL="0">
              <a:lnSpc>
                <a:spcPts val="797"/>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local DB dependency (Atlas M0)</a:t>
            </a:r>
            <a:endParaRPr lang="en-US" sz="600" dirty="0"/>
          </a:p>
        </p:txBody>
      </p:sp>
      <p:sp>
        <p:nvSpPr>
          <p:cNvPr id="40" name="Text 37"/>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1" name="Text 38"/>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2" name="Text 39"/>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43" name="Text 40"/>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5 of 10</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5311467" cy="257255"/>
          </a:xfrm>
          <a:prstGeom prst="rect">
            <a:avLst/>
          </a:prstGeom>
          <a:noFill/>
          <a:ln/>
        </p:spPr>
        <p:txBody>
          <a:bodyPr wrap="squar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SYSTEM ARCHITECTURE / METHODOLOGY</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785813" cy="585788"/>
          </a:xfrm>
          <a:prstGeom prst="roundRect">
            <a:avLst>
              <a:gd name="adj" fmla="val 13008"/>
            </a:avLst>
          </a:prstGeom>
          <a:solidFill>
            <a:srgbClr val="10243E"/>
          </a:solidFill>
          <a:ln/>
        </p:spPr>
        <p:txBody>
          <a:bodyPr wrap="square" rtlCol="0" anchor="ctr"/>
          <a:lstStyle/>
          <a:p>
            <a:pPr indent="0" marL="0">
              <a:buNone/>
            </a:pPr>
            <a:endParaRPr lang="en-US" dirty="0"/>
          </a:p>
        </p:txBody>
      </p:sp>
      <p:sp>
        <p:nvSpPr>
          <p:cNvPr id="6" name="Text 3"/>
          <p:cNvSpPr/>
          <p:nvPr/>
        </p:nvSpPr>
        <p:spPr>
          <a:xfrm>
            <a:off x="400050" y="1064196"/>
            <a:ext cx="785813" cy="585788"/>
          </a:xfrm>
          <a:prstGeom prst="rect">
            <a:avLst/>
          </a:prstGeom>
          <a:noFill/>
          <a:ln/>
        </p:spPr>
        <p:txBody>
          <a:bodyPr wrap="none" lIns="57150" tIns="0" rIns="57150" bIns="0" rtlCol="0" anchor="ctr"/>
          <a:lstStyle/>
          <a:p>
            <a:pPr algn="ctr" indent="0" marL="0">
              <a:lnSpc>
                <a:spcPts val="827"/>
              </a:lnSpc>
              <a:buNone/>
            </a:pPr>
            <a:r>
              <a:rPr lang="en-US" sz="800" b="1" spc="79" kern="0" dirty="0">
                <a:solidFill>
                  <a:srgbClr val="FFFFFF"/>
                </a:solidFill>
                <a:latin typeface="Carlito" pitchFamily="34" charset="0"/>
                <a:ea typeface="Carlito" pitchFamily="34" charset="-122"/>
                <a:cs typeface="Carlito" pitchFamily="34" charset="-120"/>
              </a:rPr>
              <a:t>CLIENTS</a:t>
            </a:r>
            <a:endParaRPr lang="en-US" sz="800" dirty="0"/>
          </a:p>
        </p:txBody>
      </p:sp>
      <p:sp>
        <p:nvSpPr>
          <p:cNvPr id="7" name="Text 4"/>
          <p:cNvSpPr/>
          <p:nvPr/>
        </p:nvSpPr>
        <p:spPr>
          <a:xfrm>
            <a:off x="1275159" y="1067767"/>
            <a:ext cx="3607594"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8" name="Text 5"/>
          <p:cNvSpPr/>
          <p:nvPr/>
        </p:nvSpPr>
        <p:spPr>
          <a:xfrm>
            <a:off x="1378744" y="1233636"/>
            <a:ext cx="3400425"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Citizen Portal</a:t>
            </a:r>
            <a:endParaRPr lang="en-US" sz="800" dirty="0"/>
          </a:p>
        </p:txBody>
      </p:sp>
      <p:sp>
        <p:nvSpPr>
          <p:cNvPr id="9" name="Text 6"/>
          <p:cNvSpPr/>
          <p:nvPr/>
        </p:nvSpPr>
        <p:spPr>
          <a:xfrm>
            <a:off x="1378744" y="1375618"/>
            <a:ext cx="3400425" cy="153489"/>
          </a:xfrm>
          <a:prstGeom prst="rect">
            <a:avLst/>
          </a:prstGeom>
          <a:noFill/>
          <a:ln/>
        </p:spPr>
        <p:txBody>
          <a:bodyPr wrap="square" lIns="0" tIns="0" rIns="0" bIns="0" rtlCol="0" anchor="t"/>
          <a:lstStyle/>
          <a:p>
            <a:pPr algn="l" indent="0" marL="0">
              <a:lnSpc>
                <a:spcPts val="827"/>
              </a:lnSpc>
              <a:buNone/>
            </a:pPr>
            <a:r>
              <a:rPr lang="en-US" sz="800" dirty="0">
                <a:solidFill>
                  <a:srgbClr val="5D6B7A"/>
                </a:solidFill>
                <a:latin typeface="Carlito" pitchFamily="34" charset="0"/>
                <a:ea typeface="Carlito" pitchFamily="34" charset="-122"/>
                <a:cs typeface="Carlito" pitchFamily="34" charset="-120"/>
              </a:rPr>
              <a:t>React 18 · Vite · Tailwind CSS (responsive 360–1280 px)</a:t>
            </a:r>
            <a:endParaRPr lang="en-US" sz="800" dirty="0"/>
          </a:p>
        </p:txBody>
      </p:sp>
      <p:sp>
        <p:nvSpPr>
          <p:cNvPr id="10" name="Text 7"/>
          <p:cNvSpPr/>
          <p:nvPr/>
        </p:nvSpPr>
        <p:spPr>
          <a:xfrm>
            <a:off x="4943475" y="129993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11" name="Text 8"/>
          <p:cNvSpPr/>
          <p:nvPr/>
        </p:nvSpPr>
        <p:spPr>
          <a:xfrm>
            <a:off x="5132784" y="1067767"/>
            <a:ext cx="3607594"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12" name="Text 9"/>
          <p:cNvSpPr/>
          <p:nvPr/>
        </p:nvSpPr>
        <p:spPr>
          <a:xfrm>
            <a:off x="5236369" y="1233636"/>
            <a:ext cx="3400425"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Registrar Console</a:t>
            </a:r>
            <a:endParaRPr lang="en-US" sz="800" dirty="0"/>
          </a:p>
        </p:txBody>
      </p:sp>
      <p:sp>
        <p:nvSpPr>
          <p:cNvPr id="13" name="Text 10"/>
          <p:cNvSpPr/>
          <p:nvPr/>
        </p:nvSpPr>
        <p:spPr>
          <a:xfrm>
            <a:off x="5236369" y="1375618"/>
            <a:ext cx="3400425" cy="153489"/>
          </a:xfrm>
          <a:prstGeom prst="rect">
            <a:avLst/>
          </a:prstGeom>
          <a:noFill/>
          <a:ln/>
        </p:spPr>
        <p:txBody>
          <a:bodyPr wrap="square" lIns="0" tIns="0" rIns="0" bIns="0" rtlCol="0" anchor="t"/>
          <a:lstStyle/>
          <a:p>
            <a:pPr algn="l" indent="0" marL="0">
              <a:lnSpc>
                <a:spcPts val="827"/>
              </a:lnSpc>
              <a:buNone/>
            </a:pPr>
            <a:r>
              <a:rPr lang="en-US" sz="800" dirty="0">
                <a:solidFill>
                  <a:srgbClr val="5D6B7A"/>
                </a:solidFill>
                <a:latin typeface="Carlito" pitchFamily="34" charset="0"/>
                <a:ea typeface="Carlito" pitchFamily="34" charset="-122"/>
                <a:cs typeface="Carlito" pitchFamily="34" charset="-120"/>
              </a:rPr>
              <a:t>React 18 · Vite · Tailwind CSS (responsive 360–1280 px)</a:t>
            </a:r>
            <a:endParaRPr lang="en-US" sz="800" dirty="0"/>
          </a:p>
        </p:txBody>
      </p:sp>
      <p:sp>
        <p:nvSpPr>
          <p:cNvPr id="14" name="Text 11"/>
          <p:cNvSpPr/>
          <p:nvPr/>
        </p:nvSpPr>
        <p:spPr>
          <a:xfrm rot="5400000">
            <a:off x="4962785" y="1674986"/>
            <a:ext cx="91440" cy="107156"/>
          </a:xfrm>
          <a:prstGeom prst="rect">
            <a:avLst/>
          </a:prstGeom>
          <a:noFill/>
          <a:ln/>
        </p:spPr>
        <p:txBody>
          <a:bodyPr wrap="none" lIns="0" tIns="0" rIns="0" bIns="0" rtlCol="0" anchor="ctr"/>
          <a:lstStyle/>
          <a:p>
            <a:pPr algn="ctr" indent="0" marL="0">
              <a:buNone/>
            </a:pPr>
            <a:r>
              <a:rPr lang="en-US" sz="844" b="1" dirty="0">
                <a:solidFill>
                  <a:srgbClr val="E86A27"/>
                </a:solidFill>
                <a:latin typeface="Segoe UI Symbol" pitchFamily="34" charset="0"/>
                <a:ea typeface="Segoe UI Symbol" pitchFamily="34" charset="-122"/>
                <a:cs typeface="Segoe UI Symbol" pitchFamily="34" charset="-120"/>
              </a:rPr>
              <a:t>→</a:t>
            </a:r>
            <a:endParaRPr lang="en-US" sz="844" dirty="0"/>
          </a:p>
        </p:txBody>
      </p:sp>
      <p:sp>
        <p:nvSpPr>
          <p:cNvPr id="15" name="Text 12"/>
          <p:cNvSpPr/>
          <p:nvPr/>
        </p:nvSpPr>
        <p:spPr>
          <a:xfrm>
            <a:off x="400050" y="1807146"/>
            <a:ext cx="785813" cy="585788"/>
          </a:xfrm>
          <a:prstGeom prst="roundRect">
            <a:avLst>
              <a:gd name="adj" fmla="val 13008"/>
            </a:avLst>
          </a:prstGeom>
          <a:solidFill>
            <a:srgbClr val="10243E"/>
          </a:solidFill>
          <a:ln/>
        </p:spPr>
        <p:txBody>
          <a:bodyPr wrap="square" rtlCol="0" anchor="ctr"/>
          <a:lstStyle/>
          <a:p>
            <a:pPr indent="0" marL="0">
              <a:buNone/>
            </a:pPr>
            <a:endParaRPr lang="en-US" dirty="0"/>
          </a:p>
        </p:txBody>
      </p:sp>
      <p:sp>
        <p:nvSpPr>
          <p:cNvPr id="16" name="Text 13"/>
          <p:cNvSpPr/>
          <p:nvPr/>
        </p:nvSpPr>
        <p:spPr>
          <a:xfrm>
            <a:off x="400050" y="1807146"/>
            <a:ext cx="785813" cy="585788"/>
          </a:xfrm>
          <a:prstGeom prst="rect">
            <a:avLst/>
          </a:prstGeom>
          <a:noFill/>
          <a:ln/>
        </p:spPr>
        <p:txBody>
          <a:bodyPr wrap="none" lIns="57150" tIns="0" rIns="57150" bIns="0" rtlCol="0" anchor="ctr"/>
          <a:lstStyle/>
          <a:p>
            <a:pPr algn="ctr" indent="0" marL="0">
              <a:lnSpc>
                <a:spcPts val="827"/>
              </a:lnSpc>
              <a:buNone/>
            </a:pPr>
            <a:r>
              <a:rPr lang="en-US" sz="800" b="1" spc="79" kern="0" dirty="0">
                <a:solidFill>
                  <a:srgbClr val="FFFFFF"/>
                </a:solidFill>
                <a:latin typeface="Carlito" pitchFamily="34" charset="0"/>
                <a:ea typeface="Carlito" pitchFamily="34" charset="-122"/>
                <a:cs typeface="Carlito" pitchFamily="34" charset="-120"/>
              </a:rPr>
              <a:t>API LAYER</a:t>
            </a:r>
            <a:endParaRPr lang="en-US" sz="800" dirty="0"/>
          </a:p>
        </p:txBody>
      </p:sp>
      <p:sp>
        <p:nvSpPr>
          <p:cNvPr id="17" name="Text 14"/>
          <p:cNvSpPr/>
          <p:nvPr/>
        </p:nvSpPr>
        <p:spPr>
          <a:xfrm>
            <a:off x="1275159" y="1810717"/>
            <a:ext cx="7465219"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18" name="Text 15"/>
          <p:cNvSpPr/>
          <p:nvPr/>
        </p:nvSpPr>
        <p:spPr>
          <a:xfrm>
            <a:off x="1378744" y="1976586"/>
            <a:ext cx="7258050"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Express REST API</a:t>
            </a:r>
            <a:endParaRPr lang="en-US" sz="800" dirty="0"/>
          </a:p>
        </p:txBody>
      </p:sp>
      <p:sp>
        <p:nvSpPr>
          <p:cNvPr id="19" name="Text 16"/>
          <p:cNvSpPr/>
          <p:nvPr/>
        </p:nvSpPr>
        <p:spPr>
          <a:xfrm>
            <a:off x="1378744" y="2118568"/>
            <a:ext cx="7258050" cy="153489"/>
          </a:xfrm>
          <a:prstGeom prst="rect">
            <a:avLst/>
          </a:prstGeom>
          <a:noFill/>
          <a:ln/>
        </p:spPr>
        <p:txBody>
          <a:bodyPr wrap="square" lIns="0" tIns="0" rIns="0" bIns="0" rtlCol="0" anchor="t"/>
          <a:lstStyle/>
          <a:p>
            <a:pPr algn="l" indent="0" marL="0">
              <a:lnSpc>
                <a:spcPts val="827"/>
              </a:lnSpc>
              <a:buNone/>
            </a:pPr>
            <a:r>
              <a:rPr lang="en-US" sz="800" dirty="0">
                <a:solidFill>
                  <a:srgbClr val="5D6B7A"/>
                </a:solidFill>
                <a:latin typeface="Carlito" pitchFamily="34" charset="0"/>
                <a:ea typeface="Carlito" pitchFamily="34" charset="-122"/>
                <a:cs typeface="Carlito" pitchFamily="34" charset="-120"/>
              </a:rPr>
              <a:t>Helmet · JWT + bcrypt auth · RBAC · rate limiting · /health · /metrics</a:t>
            </a:r>
            <a:endParaRPr lang="en-US" sz="800" dirty="0"/>
          </a:p>
        </p:txBody>
      </p:sp>
      <p:sp>
        <p:nvSpPr>
          <p:cNvPr id="20" name="Text 17"/>
          <p:cNvSpPr/>
          <p:nvPr/>
        </p:nvSpPr>
        <p:spPr>
          <a:xfrm rot="5400000">
            <a:off x="4962785" y="2417936"/>
            <a:ext cx="91440" cy="107156"/>
          </a:xfrm>
          <a:prstGeom prst="rect">
            <a:avLst/>
          </a:prstGeom>
          <a:noFill/>
          <a:ln/>
        </p:spPr>
        <p:txBody>
          <a:bodyPr wrap="none" lIns="0" tIns="0" rIns="0" bIns="0" rtlCol="0" anchor="ctr"/>
          <a:lstStyle/>
          <a:p>
            <a:pPr algn="ctr" indent="0" marL="0">
              <a:buNone/>
            </a:pPr>
            <a:r>
              <a:rPr lang="en-US" sz="844" b="1" dirty="0">
                <a:solidFill>
                  <a:srgbClr val="E86A27"/>
                </a:solidFill>
                <a:latin typeface="Segoe UI Symbol" pitchFamily="34" charset="0"/>
                <a:ea typeface="Segoe UI Symbol" pitchFamily="34" charset="-122"/>
                <a:cs typeface="Segoe UI Symbol" pitchFamily="34" charset="-120"/>
              </a:rPr>
              <a:t>→</a:t>
            </a:r>
            <a:endParaRPr lang="en-US" sz="844" dirty="0"/>
          </a:p>
        </p:txBody>
      </p:sp>
      <p:sp>
        <p:nvSpPr>
          <p:cNvPr id="21" name="Text 18"/>
          <p:cNvSpPr/>
          <p:nvPr/>
        </p:nvSpPr>
        <p:spPr>
          <a:xfrm>
            <a:off x="400050" y="2550096"/>
            <a:ext cx="785813" cy="585788"/>
          </a:xfrm>
          <a:prstGeom prst="roundRect">
            <a:avLst>
              <a:gd name="adj" fmla="val 13008"/>
            </a:avLst>
          </a:prstGeom>
          <a:solidFill>
            <a:srgbClr val="10243E"/>
          </a:solidFill>
          <a:ln/>
        </p:spPr>
        <p:txBody>
          <a:bodyPr wrap="square" rtlCol="0" anchor="ctr"/>
          <a:lstStyle/>
          <a:p>
            <a:pPr indent="0" marL="0">
              <a:buNone/>
            </a:pPr>
            <a:endParaRPr lang="en-US" dirty="0"/>
          </a:p>
        </p:txBody>
      </p:sp>
      <p:sp>
        <p:nvSpPr>
          <p:cNvPr id="22" name="Text 19"/>
          <p:cNvSpPr/>
          <p:nvPr/>
        </p:nvSpPr>
        <p:spPr>
          <a:xfrm>
            <a:off x="400050" y="2550096"/>
            <a:ext cx="785813" cy="585788"/>
          </a:xfrm>
          <a:prstGeom prst="rect">
            <a:avLst/>
          </a:prstGeom>
          <a:noFill/>
          <a:ln/>
        </p:spPr>
        <p:txBody>
          <a:bodyPr wrap="none" lIns="57150" tIns="0" rIns="57150" bIns="0" rtlCol="0" anchor="ctr"/>
          <a:lstStyle/>
          <a:p>
            <a:pPr algn="ctr" indent="0" marL="0">
              <a:lnSpc>
                <a:spcPts val="827"/>
              </a:lnSpc>
              <a:buNone/>
            </a:pPr>
            <a:r>
              <a:rPr lang="en-US" sz="800" b="1" spc="79" kern="0" dirty="0">
                <a:solidFill>
                  <a:srgbClr val="FFFFFF"/>
                </a:solidFill>
                <a:latin typeface="Carlito" pitchFamily="34" charset="0"/>
                <a:ea typeface="Carlito" pitchFamily="34" charset="-122"/>
                <a:cs typeface="Carlito" pitchFamily="34" charset="-120"/>
              </a:rPr>
              <a:t>CORE SERVICES</a:t>
            </a:r>
            <a:endParaRPr lang="en-US" sz="800" dirty="0"/>
          </a:p>
        </p:txBody>
      </p:sp>
      <p:sp>
        <p:nvSpPr>
          <p:cNvPr id="23" name="Text 20"/>
          <p:cNvSpPr/>
          <p:nvPr/>
        </p:nvSpPr>
        <p:spPr>
          <a:xfrm>
            <a:off x="1275159" y="2553667"/>
            <a:ext cx="1678781"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24" name="Text 21"/>
          <p:cNvSpPr/>
          <p:nvPr/>
        </p:nvSpPr>
        <p:spPr>
          <a:xfrm>
            <a:off x="1378744" y="2719536"/>
            <a:ext cx="1471612"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Fraud engine</a:t>
            </a:r>
            <a:endParaRPr lang="en-US" sz="800" dirty="0"/>
          </a:p>
        </p:txBody>
      </p:sp>
      <p:sp>
        <p:nvSpPr>
          <p:cNvPr id="25" name="Text 22"/>
          <p:cNvSpPr/>
          <p:nvPr/>
        </p:nvSpPr>
        <p:spPr>
          <a:xfrm>
            <a:off x="1378744" y="2861518"/>
            <a:ext cx="1471613" cy="153489"/>
          </a:xfrm>
          <a:prstGeom prst="rect">
            <a:avLst/>
          </a:prstGeom>
          <a:noFill/>
          <a:ln/>
        </p:spPr>
        <p:txBody>
          <a:bodyPr wrap="none" lIns="0" tIns="0" rIns="0" bIns="0" rtlCol="0" anchor="t"/>
          <a:lstStyle/>
          <a:p>
            <a:pPr algn="l" indent="0" marL="0">
              <a:lnSpc>
                <a:spcPts val="827"/>
              </a:lnSpc>
              <a:buNone/>
            </a:pPr>
            <a:r>
              <a:rPr lang="en-US" sz="800" dirty="0">
                <a:solidFill>
                  <a:srgbClr val="5D6B7A"/>
                </a:solidFill>
                <a:latin typeface="Liberation Sans Narrow" pitchFamily="34" charset="0"/>
                <a:ea typeface="Liberation Sans Narrow" pitchFamily="34" charset="-122"/>
                <a:cs typeface="Liberation Sans Narrow" pitchFamily="34" charset="-120"/>
              </a:rPr>
              <a:t>9 deterministic checks</a:t>
            </a:r>
            <a:endParaRPr lang="en-US" sz="800" dirty="0"/>
          </a:p>
        </p:txBody>
      </p:sp>
      <p:sp>
        <p:nvSpPr>
          <p:cNvPr id="26" name="Text 23"/>
          <p:cNvSpPr/>
          <p:nvPr/>
        </p:nvSpPr>
        <p:spPr>
          <a:xfrm>
            <a:off x="3014663" y="278583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27" name="Text 24"/>
          <p:cNvSpPr/>
          <p:nvPr/>
        </p:nvSpPr>
        <p:spPr>
          <a:xfrm>
            <a:off x="3203972" y="2553667"/>
            <a:ext cx="1678781"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28" name="Text 25"/>
          <p:cNvSpPr/>
          <p:nvPr/>
        </p:nvSpPr>
        <p:spPr>
          <a:xfrm>
            <a:off x="3307556" y="2719536"/>
            <a:ext cx="1471613"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Document service</a:t>
            </a:r>
            <a:endParaRPr lang="en-US" sz="800" dirty="0"/>
          </a:p>
        </p:txBody>
      </p:sp>
      <p:sp>
        <p:nvSpPr>
          <p:cNvPr id="29" name="Text 26"/>
          <p:cNvSpPr/>
          <p:nvPr/>
        </p:nvSpPr>
        <p:spPr>
          <a:xfrm>
            <a:off x="3307556" y="2861518"/>
            <a:ext cx="1471613" cy="153489"/>
          </a:xfrm>
          <a:prstGeom prst="rect">
            <a:avLst/>
          </a:prstGeom>
          <a:noFill/>
          <a:ln/>
        </p:spPr>
        <p:txBody>
          <a:bodyPr wrap="none" lIns="0" tIns="0" rIns="0" bIns="0" rtlCol="0" anchor="t"/>
          <a:lstStyle/>
          <a:p>
            <a:pPr algn="l" indent="0" marL="0">
              <a:lnSpc>
                <a:spcPts val="827"/>
              </a:lnSpc>
              <a:buNone/>
            </a:pPr>
            <a:r>
              <a:rPr lang="en-US" sz="800" dirty="0">
                <a:solidFill>
                  <a:srgbClr val="5D6B7A"/>
                </a:solidFill>
                <a:latin typeface="Liberation Sans Narrow" pitchFamily="34" charset="0"/>
                <a:ea typeface="Liberation Sans Narrow" pitchFamily="34" charset="-122"/>
                <a:cs typeface="Liberation Sans Narrow" pitchFamily="34" charset="-120"/>
              </a:rPr>
              <a:t>SHA-256 + Multer</a:t>
            </a:r>
            <a:endParaRPr lang="en-US" sz="800" dirty="0"/>
          </a:p>
        </p:txBody>
      </p:sp>
      <p:sp>
        <p:nvSpPr>
          <p:cNvPr id="30" name="Text 27"/>
          <p:cNvSpPr/>
          <p:nvPr/>
        </p:nvSpPr>
        <p:spPr>
          <a:xfrm>
            <a:off x="4943475" y="278583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31" name="Text 28"/>
          <p:cNvSpPr/>
          <p:nvPr/>
        </p:nvSpPr>
        <p:spPr>
          <a:xfrm>
            <a:off x="5132784" y="2553667"/>
            <a:ext cx="1678781"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32" name="Text 29"/>
          <p:cNvSpPr/>
          <p:nvPr/>
        </p:nvSpPr>
        <p:spPr>
          <a:xfrm>
            <a:off x="5236369" y="2782714"/>
            <a:ext cx="1471613" cy="137160"/>
          </a:xfrm>
          <a:prstGeom prst="rect">
            <a:avLst/>
          </a:prstGeom>
          <a:noFill/>
          <a:ln/>
        </p:spPr>
        <p:txBody>
          <a:bodyPr wrap="none" lIns="0" tIns="0" rIns="0" bIns="0" rtlCol="0" anchor="t"/>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Transfer orchestrator</a:t>
            </a:r>
            <a:endParaRPr lang="en-US" sz="800" dirty="0"/>
          </a:p>
        </p:txBody>
      </p:sp>
      <p:sp>
        <p:nvSpPr>
          <p:cNvPr id="33" name="Text 30"/>
          <p:cNvSpPr/>
          <p:nvPr/>
        </p:nvSpPr>
        <p:spPr>
          <a:xfrm>
            <a:off x="6872288" y="278583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34" name="Text 31"/>
          <p:cNvSpPr/>
          <p:nvPr/>
        </p:nvSpPr>
        <p:spPr>
          <a:xfrm>
            <a:off x="7061597" y="2553667"/>
            <a:ext cx="1678781"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35" name="Text 32"/>
          <p:cNvSpPr/>
          <p:nvPr/>
        </p:nvSpPr>
        <p:spPr>
          <a:xfrm>
            <a:off x="7165181" y="2782714"/>
            <a:ext cx="1471612" cy="137160"/>
          </a:xfrm>
          <a:prstGeom prst="rect">
            <a:avLst/>
          </a:prstGeom>
          <a:noFill/>
          <a:ln/>
        </p:spPr>
        <p:txBody>
          <a:bodyPr wrap="none" lIns="0" tIns="0" rIns="0" bIns="0" rtlCol="0" anchor="t"/>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Audit service</a:t>
            </a:r>
            <a:endParaRPr lang="en-US" sz="800" dirty="0"/>
          </a:p>
        </p:txBody>
      </p:sp>
      <p:sp>
        <p:nvSpPr>
          <p:cNvPr id="36" name="Text 33"/>
          <p:cNvSpPr/>
          <p:nvPr/>
        </p:nvSpPr>
        <p:spPr>
          <a:xfrm rot="5400000">
            <a:off x="4962785" y="3160886"/>
            <a:ext cx="91440" cy="107156"/>
          </a:xfrm>
          <a:prstGeom prst="rect">
            <a:avLst/>
          </a:prstGeom>
          <a:noFill/>
          <a:ln/>
        </p:spPr>
        <p:txBody>
          <a:bodyPr wrap="none" lIns="0" tIns="0" rIns="0" bIns="0" rtlCol="0" anchor="ctr"/>
          <a:lstStyle/>
          <a:p>
            <a:pPr algn="ctr" indent="0" marL="0">
              <a:buNone/>
            </a:pPr>
            <a:r>
              <a:rPr lang="en-US" sz="844" b="1" dirty="0">
                <a:solidFill>
                  <a:srgbClr val="E86A27"/>
                </a:solidFill>
                <a:latin typeface="Segoe UI Symbol" pitchFamily="34" charset="0"/>
                <a:ea typeface="Segoe UI Symbol" pitchFamily="34" charset="-122"/>
                <a:cs typeface="Segoe UI Symbol" pitchFamily="34" charset="-120"/>
              </a:rPr>
              <a:t>→</a:t>
            </a:r>
            <a:endParaRPr lang="en-US" sz="844" dirty="0"/>
          </a:p>
        </p:txBody>
      </p:sp>
      <p:sp>
        <p:nvSpPr>
          <p:cNvPr id="37" name="Text 34"/>
          <p:cNvSpPr/>
          <p:nvPr/>
        </p:nvSpPr>
        <p:spPr>
          <a:xfrm>
            <a:off x="400050" y="3293046"/>
            <a:ext cx="785813" cy="585788"/>
          </a:xfrm>
          <a:prstGeom prst="roundRect">
            <a:avLst>
              <a:gd name="adj" fmla="val 13008"/>
            </a:avLst>
          </a:prstGeom>
          <a:solidFill>
            <a:srgbClr val="10243E"/>
          </a:solidFill>
          <a:ln/>
        </p:spPr>
        <p:txBody>
          <a:bodyPr wrap="square" rtlCol="0" anchor="ctr"/>
          <a:lstStyle/>
          <a:p>
            <a:pPr indent="0" marL="0">
              <a:buNone/>
            </a:pPr>
            <a:endParaRPr lang="en-US" dirty="0"/>
          </a:p>
        </p:txBody>
      </p:sp>
      <p:sp>
        <p:nvSpPr>
          <p:cNvPr id="38" name="Text 35"/>
          <p:cNvSpPr/>
          <p:nvPr/>
        </p:nvSpPr>
        <p:spPr>
          <a:xfrm>
            <a:off x="400050" y="3293046"/>
            <a:ext cx="785813" cy="585788"/>
          </a:xfrm>
          <a:prstGeom prst="rect">
            <a:avLst/>
          </a:prstGeom>
          <a:noFill/>
          <a:ln/>
        </p:spPr>
        <p:txBody>
          <a:bodyPr wrap="none" lIns="57150" tIns="0" rIns="57150" bIns="0" rtlCol="0" anchor="ctr"/>
          <a:lstStyle/>
          <a:p>
            <a:pPr algn="ctr" indent="0" marL="0">
              <a:lnSpc>
                <a:spcPts val="827"/>
              </a:lnSpc>
              <a:buNone/>
            </a:pPr>
            <a:r>
              <a:rPr lang="en-US" sz="800" b="1" spc="79" kern="0" dirty="0">
                <a:solidFill>
                  <a:srgbClr val="FFFFFF"/>
                </a:solidFill>
                <a:latin typeface="Carlito" pitchFamily="34" charset="0"/>
                <a:ea typeface="Carlito" pitchFamily="34" charset="-122"/>
                <a:cs typeface="Carlito" pitchFamily="34" charset="-120"/>
              </a:rPr>
              <a:t>DATA &amp; LEDGER</a:t>
            </a:r>
            <a:endParaRPr lang="en-US" sz="800" dirty="0"/>
          </a:p>
        </p:txBody>
      </p:sp>
      <p:sp>
        <p:nvSpPr>
          <p:cNvPr id="39" name="Text 36"/>
          <p:cNvSpPr/>
          <p:nvPr/>
        </p:nvSpPr>
        <p:spPr>
          <a:xfrm>
            <a:off x="1271588" y="3293046"/>
            <a:ext cx="2343150" cy="585788"/>
          </a:xfrm>
          <a:prstGeom prst="roundRect">
            <a:avLst>
              <a:gd name="adj" fmla="val 13008"/>
            </a:avLst>
          </a:prstGeom>
          <a:solidFill>
            <a:srgbClr val="F5F8FB"/>
          </a:solidFill>
          <a:ln/>
        </p:spPr>
        <p:txBody>
          <a:bodyPr wrap="square" rtlCol="0" anchor="ctr"/>
          <a:lstStyle/>
          <a:p>
            <a:pPr indent="0" marL="0">
              <a:buNone/>
            </a:pPr>
            <a:endParaRPr lang="en-US" dirty="0"/>
          </a:p>
        </p:txBody>
      </p:sp>
      <p:sp>
        <p:nvSpPr>
          <p:cNvPr id="40" name="Shape 37"/>
          <p:cNvSpPr/>
          <p:nvPr/>
        </p:nvSpPr>
        <p:spPr>
          <a:xfrm>
            <a:off x="1271588" y="3296617"/>
            <a:ext cx="2343150" cy="0"/>
          </a:xfrm>
          <a:prstGeom prst="line">
            <a:avLst/>
          </a:prstGeom>
          <a:noFill/>
          <a:ln w="7144">
            <a:solidFill>
              <a:srgbClr val="D9E0E8"/>
            </a:solidFill>
            <a:prstDash val="solid"/>
          </a:ln>
        </p:spPr>
      </p:sp>
      <p:sp>
        <p:nvSpPr>
          <p:cNvPr id="41" name="Shape 38"/>
          <p:cNvSpPr/>
          <p:nvPr/>
        </p:nvSpPr>
        <p:spPr>
          <a:xfrm>
            <a:off x="3611166" y="3293046"/>
            <a:ext cx="0" cy="585788"/>
          </a:xfrm>
          <a:prstGeom prst="line">
            <a:avLst/>
          </a:prstGeom>
          <a:noFill/>
          <a:ln w="7144">
            <a:solidFill>
              <a:srgbClr val="D9E0E8"/>
            </a:solidFill>
            <a:prstDash val="solid"/>
          </a:ln>
        </p:spPr>
      </p:sp>
      <p:sp>
        <p:nvSpPr>
          <p:cNvPr id="42" name="Shape 39"/>
          <p:cNvSpPr/>
          <p:nvPr/>
        </p:nvSpPr>
        <p:spPr>
          <a:xfrm>
            <a:off x="1271588" y="3875261"/>
            <a:ext cx="2343150" cy="0"/>
          </a:xfrm>
          <a:prstGeom prst="line">
            <a:avLst/>
          </a:prstGeom>
          <a:noFill/>
          <a:ln w="7144">
            <a:solidFill>
              <a:srgbClr val="D9E0E8"/>
            </a:solidFill>
            <a:prstDash val="solid"/>
          </a:ln>
        </p:spPr>
      </p:sp>
      <p:sp>
        <p:nvSpPr>
          <p:cNvPr id="43" name="Shape 40"/>
          <p:cNvSpPr/>
          <p:nvPr/>
        </p:nvSpPr>
        <p:spPr>
          <a:xfrm>
            <a:off x="1285875" y="3293046"/>
            <a:ext cx="0" cy="585788"/>
          </a:xfrm>
          <a:prstGeom prst="line">
            <a:avLst/>
          </a:prstGeom>
          <a:noFill/>
          <a:ln w="28575">
            <a:solidFill>
              <a:srgbClr val="E86A27"/>
            </a:solidFill>
            <a:prstDash val="solid"/>
          </a:ln>
        </p:spPr>
      </p:sp>
      <p:sp>
        <p:nvSpPr>
          <p:cNvPr id="44" name="Text 41"/>
          <p:cNvSpPr/>
          <p:nvPr/>
        </p:nvSpPr>
        <p:spPr>
          <a:xfrm>
            <a:off x="1400175" y="3462486"/>
            <a:ext cx="2107406"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MongoDB Atlas</a:t>
            </a:r>
            <a:endParaRPr lang="en-US" sz="800" dirty="0"/>
          </a:p>
        </p:txBody>
      </p:sp>
      <p:sp>
        <p:nvSpPr>
          <p:cNvPr id="45" name="Text 42"/>
          <p:cNvSpPr/>
          <p:nvPr/>
        </p:nvSpPr>
        <p:spPr>
          <a:xfrm>
            <a:off x="1400175" y="3604468"/>
            <a:ext cx="2107406" cy="153489"/>
          </a:xfrm>
          <a:prstGeom prst="rect">
            <a:avLst/>
          </a:prstGeom>
          <a:noFill/>
          <a:ln/>
        </p:spPr>
        <p:txBody>
          <a:bodyPr wrap="none" lIns="0" tIns="0" rIns="0" bIns="0" rtlCol="0" anchor="t"/>
          <a:lstStyle/>
          <a:p>
            <a:pPr algn="l" indent="0" marL="0">
              <a:lnSpc>
                <a:spcPts val="827"/>
              </a:lnSpc>
              <a:buNone/>
            </a:pPr>
            <a:r>
              <a:rPr lang="en-US" sz="800" dirty="0">
                <a:solidFill>
                  <a:srgbClr val="5D6B7A"/>
                </a:solidFill>
                <a:latin typeface="Liberation Sans Narrow" pitchFamily="34" charset="0"/>
                <a:ea typeface="Liberation Sans Narrow" pitchFamily="34" charset="-122"/>
                <a:cs typeface="Liberation Sans Narrow" pitchFamily="34" charset="-120"/>
              </a:rPr>
              <a:t>8 collections · 24/7 cloud</a:t>
            </a:r>
            <a:endParaRPr lang="en-US" sz="800" dirty="0"/>
          </a:p>
        </p:txBody>
      </p:sp>
      <p:sp>
        <p:nvSpPr>
          <p:cNvPr id="46" name="Text 43"/>
          <p:cNvSpPr/>
          <p:nvPr/>
        </p:nvSpPr>
        <p:spPr>
          <a:xfrm>
            <a:off x="3671888" y="352878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47" name="Text 44"/>
          <p:cNvSpPr/>
          <p:nvPr/>
        </p:nvSpPr>
        <p:spPr>
          <a:xfrm>
            <a:off x="3861197" y="3296617"/>
            <a:ext cx="2314575"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48" name="Text 45"/>
          <p:cNvSpPr/>
          <p:nvPr/>
        </p:nvSpPr>
        <p:spPr>
          <a:xfrm>
            <a:off x="3964781" y="3462486"/>
            <a:ext cx="2107406"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LandRegistry.sol</a:t>
            </a:r>
            <a:endParaRPr lang="en-US" sz="800" dirty="0"/>
          </a:p>
        </p:txBody>
      </p:sp>
      <p:sp>
        <p:nvSpPr>
          <p:cNvPr id="49" name="Text 46"/>
          <p:cNvSpPr/>
          <p:nvPr/>
        </p:nvSpPr>
        <p:spPr>
          <a:xfrm>
            <a:off x="3964781" y="3604468"/>
            <a:ext cx="2217134" cy="153489"/>
          </a:xfrm>
          <a:prstGeom prst="rect">
            <a:avLst/>
          </a:prstGeom>
          <a:noFill/>
          <a:ln/>
        </p:spPr>
        <p:txBody>
          <a:bodyPr wrap="square" lIns="0" tIns="0" rIns="0" bIns="0" rtlCol="0" anchor="t"/>
          <a:lstStyle/>
          <a:p>
            <a:pPr algn="l" indent="0" marL="0">
              <a:lnSpc>
                <a:spcPts val="827"/>
              </a:lnSpc>
              <a:buNone/>
            </a:pPr>
            <a:r>
              <a:rPr lang="en-US" sz="800" dirty="0">
                <a:solidFill>
                  <a:srgbClr val="5D6B7A"/>
                </a:solidFill>
                <a:latin typeface="Liberation Sans Narrow" pitchFamily="34" charset="0"/>
                <a:ea typeface="Liberation Sans Narrow" pitchFamily="34" charset="-122"/>
                <a:cs typeface="Liberation Sans Narrow" pitchFamily="34" charset="-120"/>
              </a:rPr>
              <a:t>local EVM via Hardhat · ethers v6</a:t>
            </a:r>
            <a:endParaRPr lang="en-US" sz="800" dirty="0"/>
          </a:p>
        </p:txBody>
      </p:sp>
      <p:sp>
        <p:nvSpPr>
          <p:cNvPr id="50" name="Text 47"/>
          <p:cNvSpPr/>
          <p:nvPr/>
        </p:nvSpPr>
        <p:spPr>
          <a:xfrm>
            <a:off x="6236494" y="3528789"/>
            <a:ext cx="128588" cy="114300"/>
          </a:xfrm>
          <a:prstGeom prst="rect">
            <a:avLst/>
          </a:prstGeom>
          <a:noFill/>
          <a:ln/>
        </p:spPr>
        <p:txBody>
          <a:bodyPr wrap="none" lIns="0" tIns="0" rIns="0" bIns="0" rtlCol="0" anchor="ctr"/>
          <a:lstStyle/>
          <a:p>
            <a:pPr algn="ctr" indent="0" marL="0">
              <a:buNone/>
            </a:pPr>
            <a:r>
              <a:rPr lang="en-US" sz="900" b="1" dirty="0">
                <a:solidFill>
                  <a:srgbClr val="E86A27"/>
                </a:solidFill>
                <a:latin typeface="Segoe UI Symbol" pitchFamily="34" charset="0"/>
                <a:ea typeface="Segoe UI Symbol" pitchFamily="34" charset="-122"/>
                <a:cs typeface="Segoe UI Symbol" pitchFamily="34" charset="-120"/>
              </a:rPr>
              <a:t>→</a:t>
            </a:r>
            <a:endParaRPr lang="en-US" sz="900" dirty="0"/>
          </a:p>
        </p:txBody>
      </p:sp>
      <p:sp>
        <p:nvSpPr>
          <p:cNvPr id="51" name="Text 48"/>
          <p:cNvSpPr/>
          <p:nvPr/>
        </p:nvSpPr>
        <p:spPr>
          <a:xfrm>
            <a:off x="6425803" y="3296617"/>
            <a:ext cx="2314575" cy="578644"/>
          </a:xfrm>
          <a:prstGeom prst="roundRect">
            <a:avLst>
              <a:gd name="adj" fmla="val 13169"/>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52" name="Text 49"/>
          <p:cNvSpPr/>
          <p:nvPr/>
        </p:nvSpPr>
        <p:spPr>
          <a:xfrm>
            <a:off x="6529388" y="3462486"/>
            <a:ext cx="2107406" cy="114550"/>
          </a:xfrm>
          <a:prstGeom prst="rect">
            <a:avLst/>
          </a:prstGeom>
          <a:noFill/>
          <a:ln/>
        </p:spPr>
        <p:txBody>
          <a:bodyPr wrap="none" lIns="0" tIns="0" rIns="0" bIns="0" rtlCol="0" anchor="t">
            <a:normAutofit/>
          </a:bodyPr>
          <a:lstStyle/>
          <a:p>
            <a:pPr algn="l" indent="0" marL="0">
              <a:lnSpc>
                <a:spcPts val="949"/>
              </a:lnSpc>
              <a:buNone/>
            </a:pPr>
            <a:r>
              <a:rPr lang="en-US" sz="800" b="1" dirty="0">
                <a:solidFill>
                  <a:srgbClr val="1F3864"/>
                </a:solidFill>
                <a:latin typeface="Carlito" pitchFamily="34" charset="0"/>
                <a:ea typeface="Carlito" pitchFamily="34" charset="-122"/>
                <a:cs typeface="Carlito" pitchFamily="34" charset="-120"/>
              </a:rPr>
              <a:t>Uploads volume</a:t>
            </a:r>
            <a:endParaRPr lang="en-US" sz="800" dirty="0"/>
          </a:p>
        </p:txBody>
      </p:sp>
      <p:sp>
        <p:nvSpPr>
          <p:cNvPr id="53" name="Text 50"/>
          <p:cNvSpPr/>
          <p:nvPr/>
        </p:nvSpPr>
        <p:spPr>
          <a:xfrm>
            <a:off x="6529388" y="3604468"/>
            <a:ext cx="2107406" cy="153489"/>
          </a:xfrm>
          <a:prstGeom prst="rect">
            <a:avLst/>
          </a:prstGeom>
          <a:noFill/>
          <a:ln/>
        </p:spPr>
        <p:txBody>
          <a:bodyPr wrap="none" lIns="0" tIns="0" rIns="0" bIns="0" rtlCol="0" anchor="t"/>
          <a:lstStyle/>
          <a:p>
            <a:pPr algn="l" indent="0" marL="0">
              <a:lnSpc>
                <a:spcPts val="827"/>
              </a:lnSpc>
              <a:buNone/>
            </a:pPr>
            <a:r>
              <a:rPr lang="en-US" sz="800" dirty="0">
                <a:solidFill>
                  <a:srgbClr val="5D6B7A"/>
                </a:solidFill>
                <a:latin typeface="Carlito" pitchFamily="34" charset="0"/>
                <a:ea typeface="Carlito" pitchFamily="34" charset="-122"/>
                <a:cs typeface="Carlito" pitchFamily="34" charset="-120"/>
              </a:rPr>
              <a:t>original PDFs</a:t>
            </a:r>
            <a:endParaRPr lang="en-US" sz="800" dirty="0"/>
          </a:p>
        </p:txBody>
      </p:sp>
      <p:sp>
        <p:nvSpPr>
          <p:cNvPr id="54" name="Text 51"/>
          <p:cNvSpPr/>
          <p:nvPr/>
        </p:nvSpPr>
        <p:spPr>
          <a:xfrm>
            <a:off x="403622" y="4067696"/>
            <a:ext cx="8336756" cy="686470"/>
          </a:xfrm>
          <a:prstGeom prst="roundRect">
            <a:avLst>
              <a:gd name="adj" fmla="val 13875"/>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55" name="Text 52"/>
          <p:cNvSpPr/>
          <p:nvPr/>
        </p:nvSpPr>
        <p:spPr>
          <a:xfrm>
            <a:off x="521494" y="4201641"/>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56" name="Text 53"/>
          <p:cNvSpPr/>
          <p:nvPr/>
        </p:nvSpPr>
        <p:spPr>
          <a:xfrm>
            <a:off x="764381" y="4156993"/>
            <a:ext cx="7858125" cy="164592"/>
          </a:xfrm>
          <a:prstGeom prst="rect">
            <a:avLst/>
          </a:prstGeom>
          <a:noFill/>
          <a:ln/>
        </p:spPr>
        <p:txBody>
          <a:bodyPr wrap="none" lIns="0" tIns="0" rIns="0" bIns="0" rtlCol="0" anchor="t"/>
          <a:lstStyle/>
          <a:p>
            <a:pPr algn="l" indent="0" marL="0">
              <a:lnSpc>
                <a:spcPts val="928"/>
              </a:lnSpc>
              <a:buNone/>
            </a:pPr>
            <a:r>
              <a:rPr lang="en-US" sz="800" b="1" spc="90" kern="0" dirty="0">
                <a:solidFill>
                  <a:srgbClr val="1F3864"/>
                </a:solidFill>
                <a:latin typeface="Carlito" pitchFamily="34" charset="0"/>
                <a:ea typeface="Carlito" pitchFamily="34" charset="-122"/>
                <a:cs typeface="Carlito" pitchFamily="34" charset="-120"/>
              </a:rPr>
              <a:t>END-TO-END TRANSFER WORKFLOW</a:t>
            </a:r>
            <a:endParaRPr lang="en-US" sz="800" dirty="0"/>
          </a:p>
        </p:txBody>
      </p:sp>
      <p:sp>
        <p:nvSpPr>
          <p:cNvPr id="57" name="Text 54"/>
          <p:cNvSpPr/>
          <p:nvPr/>
        </p:nvSpPr>
        <p:spPr>
          <a:xfrm>
            <a:off x="521494" y="4326357"/>
            <a:ext cx="1024124"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58" name="Text 55"/>
          <p:cNvSpPr/>
          <p:nvPr/>
        </p:nvSpPr>
        <p:spPr>
          <a:xfrm>
            <a:off x="600075"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59" name="Text 56"/>
          <p:cNvSpPr/>
          <p:nvPr/>
        </p:nvSpPr>
        <p:spPr>
          <a:xfrm>
            <a:off x="600075"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01</a:t>
            </a:r>
            <a:endParaRPr lang="en-US" sz="800" dirty="0"/>
          </a:p>
        </p:txBody>
      </p:sp>
      <p:sp>
        <p:nvSpPr>
          <p:cNvPr id="60" name="Text 57"/>
          <p:cNvSpPr/>
          <p:nvPr/>
        </p:nvSpPr>
        <p:spPr>
          <a:xfrm>
            <a:off x="814388" y="4396308"/>
            <a:ext cx="652649"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Register property</a:t>
            </a:r>
            <a:endParaRPr lang="en-US" sz="800" dirty="0"/>
          </a:p>
        </p:txBody>
      </p:sp>
      <p:sp>
        <p:nvSpPr>
          <p:cNvPr id="61" name="Text 58"/>
          <p:cNvSpPr/>
          <p:nvPr/>
        </p:nvSpPr>
        <p:spPr>
          <a:xfrm>
            <a:off x="1581336"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62" name="Text 59"/>
          <p:cNvSpPr/>
          <p:nvPr/>
        </p:nvSpPr>
        <p:spPr>
          <a:xfrm>
            <a:off x="1704454" y="4342730"/>
            <a:ext cx="1017091" cy="311423"/>
          </a:xfrm>
          <a:prstGeom prst="roundRect">
            <a:avLst>
              <a:gd name="adj" fmla="val 24468"/>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63" name="Text 60"/>
          <p:cNvSpPr/>
          <p:nvPr/>
        </p:nvSpPr>
        <p:spPr>
          <a:xfrm>
            <a:off x="1779463"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64" name="Text 61"/>
          <p:cNvSpPr/>
          <p:nvPr/>
        </p:nvSpPr>
        <p:spPr>
          <a:xfrm>
            <a:off x="1779463"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02</a:t>
            </a:r>
            <a:endParaRPr lang="en-US" sz="800" dirty="0"/>
          </a:p>
        </p:txBody>
      </p:sp>
      <p:sp>
        <p:nvSpPr>
          <p:cNvPr id="65" name="Text 62"/>
          <p:cNvSpPr/>
          <p:nvPr/>
        </p:nvSpPr>
        <p:spPr>
          <a:xfrm>
            <a:off x="1993776" y="4396308"/>
            <a:ext cx="652760"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Upload &amp; hash documents</a:t>
            </a:r>
            <a:endParaRPr lang="en-US" sz="800" dirty="0"/>
          </a:p>
        </p:txBody>
      </p:sp>
      <p:sp>
        <p:nvSpPr>
          <p:cNvPr id="66" name="Text 63"/>
          <p:cNvSpPr/>
          <p:nvPr/>
        </p:nvSpPr>
        <p:spPr>
          <a:xfrm>
            <a:off x="2760836"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67" name="Text 64"/>
          <p:cNvSpPr/>
          <p:nvPr/>
        </p:nvSpPr>
        <p:spPr>
          <a:xfrm>
            <a:off x="2880382" y="4326357"/>
            <a:ext cx="1024124"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68" name="Text 65"/>
          <p:cNvSpPr/>
          <p:nvPr/>
        </p:nvSpPr>
        <p:spPr>
          <a:xfrm>
            <a:off x="2958964"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69" name="Text 66"/>
          <p:cNvSpPr/>
          <p:nvPr/>
        </p:nvSpPr>
        <p:spPr>
          <a:xfrm>
            <a:off x="2958964"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03</a:t>
            </a:r>
            <a:endParaRPr lang="en-US" sz="800" dirty="0"/>
          </a:p>
        </p:txBody>
      </p:sp>
      <p:sp>
        <p:nvSpPr>
          <p:cNvPr id="70" name="Text 67"/>
          <p:cNvSpPr/>
          <p:nvPr/>
        </p:nvSpPr>
        <p:spPr>
          <a:xfrm>
            <a:off x="3173276" y="4396308"/>
            <a:ext cx="652649"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Initiate transfer</a:t>
            </a:r>
            <a:endParaRPr lang="en-US" sz="800" dirty="0"/>
          </a:p>
        </p:txBody>
      </p:sp>
      <p:sp>
        <p:nvSpPr>
          <p:cNvPr id="71" name="Text 68"/>
          <p:cNvSpPr/>
          <p:nvPr/>
        </p:nvSpPr>
        <p:spPr>
          <a:xfrm>
            <a:off x="3940225"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72" name="Text 69"/>
          <p:cNvSpPr/>
          <p:nvPr/>
        </p:nvSpPr>
        <p:spPr>
          <a:xfrm>
            <a:off x="4059771" y="4326357"/>
            <a:ext cx="1024235"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73" name="Text 70"/>
          <p:cNvSpPr/>
          <p:nvPr/>
        </p:nvSpPr>
        <p:spPr>
          <a:xfrm>
            <a:off x="4138352"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74" name="Text 71"/>
          <p:cNvSpPr/>
          <p:nvPr/>
        </p:nvSpPr>
        <p:spPr>
          <a:xfrm>
            <a:off x="4138352"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04</a:t>
            </a:r>
            <a:endParaRPr lang="en-US" sz="800" dirty="0"/>
          </a:p>
        </p:txBody>
      </p:sp>
      <p:sp>
        <p:nvSpPr>
          <p:cNvPr id="75" name="Text 72"/>
          <p:cNvSpPr/>
          <p:nvPr/>
        </p:nvSpPr>
        <p:spPr>
          <a:xfrm>
            <a:off x="4352665" y="4396308"/>
            <a:ext cx="652760"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Fraud screening</a:t>
            </a:r>
            <a:endParaRPr lang="en-US" sz="800" dirty="0"/>
          </a:p>
        </p:txBody>
      </p:sp>
      <p:sp>
        <p:nvSpPr>
          <p:cNvPr id="76" name="Text 73"/>
          <p:cNvSpPr/>
          <p:nvPr/>
        </p:nvSpPr>
        <p:spPr>
          <a:xfrm>
            <a:off x="5119725"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77" name="Text 74"/>
          <p:cNvSpPr/>
          <p:nvPr/>
        </p:nvSpPr>
        <p:spPr>
          <a:xfrm>
            <a:off x="5239271" y="4326357"/>
            <a:ext cx="1024235"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78" name="Text 75"/>
          <p:cNvSpPr/>
          <p:nvPr/>
        </p:nvSpPr>
        <p:spPr>
          <a:xfrm>
            <a:off x="5317852"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79" name="Text 76"/>
          <p:cNvSpPr/>
          <p:nvPr/>
        </p:nvSpPr>
        <p:spPr>
          <a:xfrm>
            <a:off x="5317852"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05</a:t>
            </a:r>
            <a:endParaRPr lang="en-US" sz="800" dirty="0"/>
          </a:p>
        </p:txBody>
      </p:sp>
      <p:sp>
        <p:nvSpPr>
          <p:cNvPr id="80" name="Text 77"/>
          <p:cNvSpPr/>
          <p:nvPr/>
        </p:nvSpPr>
        <p:spPr>
          <a:xfrm>
            <a:off x="5532165" y="4396308"/>
            <a:ext cx="652760"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Registrar approval</a:t>
            </a:r>
            <a:endParaRPr lang="en-US" sz="800" dirty="0"/>
          </a:p>
        </p:txBody>
      </p:sp>
      <p:sp>
        <p:nvSpPr>
          <p:cNvPr id="81" name="Text 78"/>
          <p:cNvSpPr/>
          <p:nvPr/>
        </p:nvSpPr>
        <p:spPr>
          <a:xfrm>
            <a:off x="6299225"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82" name="Text 79"/>
          <p:cNvSpPr/>
          <p:nvPr/>
        </p:nvSpPr>
        <p:spPr>
          <a:xfrm>
            <a:off x="6418771" y="4326357"/>
            <a:ext cx="1024235"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83" name="Text 80"/>
          <p:cNvSpPr/>
          <p:nvPr/>
        </p:nvSpPr>
        <p:spPr>
          <a:xfrm>
            <a:off x="6497352"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84" name="Text 81"/>
          <p:cNvSpPr/>
          <p:nvPr/>
        </p:nvSpPr>
        <p:spPr>
          <a:xfrm>
            <a:off x="6497352"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06</a:t>
            </a:r>
            <a:endParaRPr lang="en-US" sz="800" dirty="0"/>
          </a:p>
        </p:txBody>
      </p:sp>
      <p:sp>
        <p:nvSpPr>
          <p:cNvPr id="85" name="Text 82"/>
          <p:cNvSpPr/>
          <p:nvPr/>
        </p:nvSpPr>
        <p:spPr>
          <a:xfrm>
            <a:off x="6711665" y="4396308"/>
            <a:ext cx="652760"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On-chain settlement</a:t>
            </a:r>
            <a:endParaRPr lang="en-US" sz="800" dirty="0"/>
          </a:p>
        </p:txBody>
      </p:sp>
      <p:sp>
        <p:nvSpPr>
          <p:cNvPr id="86" name="Text 83"/>
          <p:cNvSpPr/>
          <p:nvPr/>
        </p:nvSpPr>
        <p:spPr>
          <a:xfrm>
            <a:off x="7478725" y="4448435"/>
            <a:ext cx="91440" cy="100013"/>
          </a:xfrm>
          <a:prstGeom prst="rect">
            <a:avLst/>
          </a:prstGeom>
          <a:noFill/>
          <a:ln/>
        </p:spPr>
        <p:txBody>
          <a:bodyPr wrap="none" lIns="0" tIns="0" rIns="0" bIns="0" rtlCol="0" anchor="ctr"/>
          <a:lstStyle/>
          <a:p>
            <a:pPr algn="ctr" indent="0" marL="0">
              <a:buNone/>
            </a:pPr>
            <a:r>
              <a:rPr lang="en-US" sz="800" b="1" dirty="0">
                <a:solidFill>
                  <a:srgbClr val="E86A27"/>
                </a:solidFill>
                <a:latin typeface="Segoe UI Symbol" pitchFamily="34" charset="0"/>
                <a:ea typeface="Segoe UI Symbol" pitchFamily="34" charset="-122"/>
                <a:cs typeface="Segoe UI Symbol" pitchFamily="34" charset="-120"/>
              </a:rPr>
              <a:t>→</a:t>
            </a:r>
            <a:endParaRPr lang="en-US" sz="800" dirty="0"/>
          </a:p>
        </p:txBody>
      </p:sp>
      <p:sp>
        <p:nvSpPr>
          <p:cNvPr id="87" name="Text 84"/>
          <p:cNvSpPr/>
          <p:nvPr/>
        </p:nvSpPr>
        <p:spPr>
          <a:xfrm>
            <a:off x="7598271" y="4326357"/>
            <a:ext cx="1024235" cy="344170"/>
          </a:xfrm>
          <a:prstGeom prst="roundRect">
            <a:avLst>
              <a:gd name="adj" fmla="val 22140"/>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88" name="Text 85"/>
          <p:cNvSpPr/>
          <p:nvPr/>
        </p:nvSpPr>
        <p:spPr>
          <a:xfrm>
            <a:off x="7676852" y="4419860"/>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89" name="Text 86"/>
          <p:cNvSpPr/>
          <p:nvPr/>
        </p:nvSpPr>
        <p:spPr>
          <a:xfrm>
            <a:off x="7676852" y="4419860"/>
            <a:ext cx="185738" cy="157163"/>
          </a:xfrm>
          <a:prstGeom prst="rect">
            <a:avLst/>
          </a:prstGeom>
          <a:noFill/>
          <a:ln/>
        </p:spPr>
        <p:txBody>
          <a:bodyPr wrap="none" lIns="0" tIns="0" rIns="0" bIns="0" rtlCol="0" anchor="ctr"/>
          <a:lstStyle/>
          <a:p>
            <a:pPr algn="ctr" indent="0" marL="0">
              <a:lnSpc>
                <a:spcPts val="886"/>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07</a:t>
            </a:r>
            <a:endParaRPr lang="en-US" sz="800" dirty="0"/>
          </a:p>
        </p:txBody>
      </p:sp>
      <p:sp>
        <p:nvSpPr>
          <p:cNvPr id="90" name="Text 87"/>
          <p:cNvSpPr/>
          <p:nvPr/>
        </p:nvSpPr>
        <p:spPr>
          <a:xfrm>
            <a:off x="7891165" y="4396308"/>
            <a:ext cx="652760" cy="204267"/>
          </a:xfrm>
          <a:prstGeom prst="rect">
            <a:avLst/>
          </a:prstGeom>
          <a:noFill/>
          <a:ln/>
        </p:spPr>
        <p:txBody>
          <a:bodyPr wrap="square" lIns="0" tIns="0" rIns="0" bIns="0" rtlCol="0" anchor="t"/>
          <a:lstStyle/>
          <a:p>
            <a:pPr algn="l" indent="0" marL="0">
              <a:lnSpc>
                <a:spcPts val="804"/>
              </a:lnSpc>
              <a:buNone/>
            </a:pPr>
            <a:r>
              <a:rPr lang="en-US" sz="800" dirty="0">
                <a:solidFill>
                  <a:srgbClr val="24313F"/>
                </a:solidFill>
                <a:latin typeface="Carlito" pitchFamily="34" charset="0"/>
                <a:ea typeface="Carlito" pitchFamily="34" charset="-122"/>
                <a:cs typeface="Carlito" pitchFamily="34" charset="-120"/>
              </a:rPr>
              <a:t>Audit event logged</a:t>
            </a:r>
            <a:endParaRPr lang="en-US" sz="800" dirty="0"/>
          </a:p>
        </p:txBody>
      </p:sp>
      <p:sp>
        <p:nvSpPr>
          <p:cNvPr id="91" name="Text 88"/>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92" name="Text 89"/>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93" name="Text 90"/>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94" name="Text 91"/>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6 of 10</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2222973"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IMPLEMENTATION</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3622" y="1067767"/>
            <a:ext cx="2328193"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6" name="Text 3"/>
          <p:cNvSpPr/>
          <p:nvPr/>
        </p:nvSpPr>
        <p:spPr>
          <a:xfrm>
            <a:off x="535781" y="1332979"/>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7" name="Text 4"/>
          <p:cNvSpPr/>
          <p:nvPr/>
        </p:nvSpPr>
        <p:spPr>
          <a:xfrm>
            <a:off x="575072" y="1372270"/>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8" name="Text 5"/>
          <p:cNvSpPr/>
          <p:nvPr/>
        </p:nvSpPr>
        <p:spPr>
          <a:xfrm>
            <a:off x="900113" y="1403524"/>
            <a:ext cx="1699543"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Frontend</a:t>
            </a:r>
            <a:endParaRPr lang="en-US" sz="800" dirty="0"/>
          </a:p>
        </p:txBody>
      </p:sp>
      <p:sp>
        <p:nvSpPr>
          <p:cNvPr id="9" name="Text 6"/>
          <p:cNvSpPr/>
          <p:nvPr/>
        </p:nvSpPr>
        <p:spPr>
          <a:xfrm>
            <a:off x="535781" y="1690167"/>
            <a:ext cx="2063874"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React 18 · Vite · Tailwind CSS · light/dark themes · responsive to 360 px</a:t>
            </a:r>
            <a:endParaRPr lang="en-US" sz="800" dirty="0"/>
          </a:p>
        </p:txBody>
      </p:sp>
      <p:sp>
        <p:nvSpPr>
          <p:cNvPr id="10" name="Text 7"/>
          <p:cNvSpPr/>
          <p:nvPr/>
        </p:nvSpPr>
        <p:spPr>
          <a:xfrm>
            <a:off x="2824683" y="1067767"/>
            <a:ext cx="2328304"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11" name="Text 8"/>
          <p:cNvSpPr/>
          <p:nvPr/>
        </p:nvSpPr>
        <p:spPr>
          <a:xfrm>
            <a:off x="2956843" y="1332979"/>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12" name="Text 9"/>
          <p:cNvSpPr/>
          <p:nvPr/>
        </p:nvSpPr>
        <p:spPr>
          <a:xfrm>
            <a:off x="2996133" y="1372270"/>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13" name="Text 10"/>
          <p:cNvSpPr/>
          <p:nvPr/>
        </p:nvSpPr>
        <p:spPr>
          <a:xfrm>
            <a:off x="3321174" y="1403524"/>
            <a:ext cx="1699654"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Backend</a:t>
            </a:r>
            <a:endParaRPr lang="en-US" sz="800" dirty="0"/>
          </a:p>
        </p:txBody>
      </p:sp>
      <p:sp>
        <p:nvSpPr>
          <p:cNvPr id="14" name="Text 11"/>
          <p:cNvSpPr/>
          <p:nvPr/>
        </p:nvSpPr>
        <p:spPr>
          <a:xfrm>
            <a:off x="2956843" y="1690167"/>
            <a:ext cx="2063986"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Node.js · Express · Helmet · JWT + bcrypt · Multer uploads</a:t>
            </a:r>
            <a:endParaRPr lang="en-US" sz="800" dirty="0"/>
          </a:p>
        </p:txBody>
      </p:sp>
      <p:sp>
        <p:nvSpPr>
          <p:cNvPr id="15" name="Text 12"/>
          <p:cNvSpPr/>
          <p:nvPr/>
        </p:nvSpPr>
        <p:spPr>
          <a:xfrm>
            <a:off x="403622" y="2327523"/>
            <a:ext cx="2328193"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16" name="Text 13"/>
          <p:cNvSpPr/>
          <p:nvPr/>
        </p:nvSpPr>
        <p:spPr>
          <a:xfrm>
            <a:off x="535781" y="2592735"/>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17" name="Text 14"/>
          <p:cNvSpPr/>
          <p:nvPr/>
        </p:nvSpPr>
        <p:spPr>
          <a:xfrm>
            <a:off x="575072" y="2632025"/>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18" name="Text 15"/>
          <p:cNvSpPr/>
          <p:nvPr/>
        </p:nvSpPr>
        <p:spPr>
          <a:xfrm>
            <a:off x="900113" y="2663279"/>
            <a:ext cx="1699543"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Database</a:t>
            </a:r>
            <a:endParaRPr lang="en-US" sz="800" dirty="0"/>
          </a:p>
        </p:txBody>
      </p:sp>
      <p:sp>
        <p:nvSpPr>
          <p:cNvPr id="19" name="Text 16"/>
          <p:cNvSpPr/>
          <p:nvPr/>
        </p:nvSpPr>
        <p:spPr>
          <a:xfrm>
            <a:off x="535781" y="2949922"/>
            <a:ext cx="2063874"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MongoDB Atlas M0 · Mongoose 8 · atomic counters · 8 collections</a:t>
            </a:r>
            <a:endParaRPr lang="en-US" sz="800" dirty="0"/>
          </a:p>
        </p:txBody>
      </p:sp>
      <p:sp>
        <p:nvSpPr>
          <p:cNvPr id="20" name="Text 17"/>
          <p:cNvSpPr/>
          <p:nvPr/>
        </p:nvSpPr>
        <p:spPr>
          <a:xfrm>
            <a:off x="2824683" y="2327523"/>
            <a:ext cx="2328304"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21" name="Text 18"/>
          <p:cNvSpPr/>
          <p:nvPr/>
        </p:nvSpPr>
        <p:spPr>
          <a:xfrm>
            <a:off x="2956843" y="2592735"/>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22" name="Text 19"/>
          <p:cNvSpPr/>
          <p:nvPr/>
        </p:nvSpPr>
        <p:spPr>
          <a:xfrm>
            <a:off x="2996133" y="2632025"/>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23" name="Text 20"/>
          <p:cNvSpPr/>
          <p:nvPr/>
        </p:nvSpPr>
        <p:spPr>
          <a:xfrm>
            <a:off x="3321174" y="2663279"/>
            <a:ext cx="1699654"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Blockchain</a:t>
            </a:r>
            <a:endParaRPr lang="en-US" sz="800" dirty="0"/>
          </a:p>
        </p:txBody>
      </p:sp>
      <p:sp>
        <p:nvSpPr>
          <p:cNvPr id="24" name="Text 21"/>
          <p:cNvSpPr/>
          <p:nvPr/>
        </p:nvSpPr>
        <p:spPr>
          <a:xfrm>
            <a:off x="2956843" y="2949922"/>
            <a:ext cx="2063986"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Solidity 0.8.24 · LandRegistry.sol · Hardhat · ethers v6</a:t>
            </a:r>
            <a:endParaRPr lang="en-US" sz="800" dirty="0"/>
          </a:p>
        </p:txBody>
      </p:sp>
      <p:sp>
        <p:nvSpPr>
          <p:cNvPr id="25" name="Text 22"/>
          <p:cNvSpPr/>
          <p:nvPr/>
        </p:nvSpPr>
        <p:spPr>
          <a:xfrm>
            <a:off x="403622" y="3587279"/>
            <a:ext cx="2328193"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26" name="Text 23"/>
          <p:cNvSpPr/>
          <p:nvPr/>
        </p:nvSpPr>
        <p:spPr>
          <a:xfrm>
            <a:off x="535781" y="3852490"/>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27" name="Text 24"/>
          <p:cNvSpPr/>
          <p:nvPr/>
        </p:nvSpPr>
        <p:spPr>
          <a:xfrm>
            <a:off x="575072" y="3891781"/>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28" name="Text 25"/>
          <p:cNvSpPr/>
          <p:nvPr/>
        </p:nvSpPr>
        <p:spPr>
          <a:xfrm>
            <a:off x="900113" y="3923035"/>
            <a:ext cx="1699543"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DevOps</a:t>
            </a:r>
            <a:endParaRPr lang="en-US" sz="800" dirty="0"/>
          </a:p>
        </p:txBody>
      </p:sp>
      <p:sp>
        <p:nvSpPr>
          <p:cNvPr id="29" name="Text 26"/>
          <p:cNvSpPr/>
          <p:nvPr/>
        </p:nvSpPr>
        <p:spPr>
          <a:xfrm>
            <a:off x="535781" y="4209678"/>
            <a:ext cx="2063874"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Docker · docker-compose · Jenkins (10-stage) · Kubernetes · Prometheus + Grafana</a:t>
            </a:r>
            <a:endParaRPr lang="en-US" sz="800" dirty="0"/>
          </a:p>
        </p:txBody>
      </p:sp>
      <p:sp>
        <p:nvSpPr>
          <p:cNvPr id="30" name="Text 27"/>
          <p:cNvSpPr/>
          <p:nvPr/>
        </p:nvSpPr>
        <p:spPr>
          <a:xfrm>
            <a:off x="2824683" y="3587279"/>
            <a:ext cx="2328304" cy="1166887"/>
          </a:xfrm>
          <a:prstGeom prst="roundRect">
            <a:avLst>
              <a:gd name="adj" fmla="val 8163"/>
            </a:avLst>
          </a:prstGeom>
          <a:solidFill>
            <a:srgbClr val="F5F8FB"/>
          </a:solidFill>
          <a:ln w="7144">
            <a:solidFill>
              <a:srgbClr val="D9E0E8"/>
            </a:solidFill>
            <a:prstDash val="solid"/>
          </a:ln>
        </p:spPr>
        <p:txBody>
          <a:bodyPr wrap="square" rtlCol="0" anchor="ctr"/>
          <a:lstStyle/>
          <a:p>
            <a:pPr indent="0" marL="0">
              <a:buNone/>
            </a:pPr>
            <a:endParaRPr lang="en-US" dirty="0"/>
          </a:p>
        </p:txBody>
      </p:sp>
      <p:sp>
        <p:nvSpPr>
          <p:cNvPr id="31" name="Text 28"/>
          <p:cNvSpPr/>
          <p:nvPr/>
        </p:nvSpPr>
        <p:spPr>
          <a:xfrm>
            <a:off x="2956843" y="3852490"/>
            <a:ext cx="285750" cy="285750"/>
          </a:xfrm>
          <a:prstGeom prst="roundRect">
            <a:avLst>
              <a:gd name="adj" fmla="val 30000"/>
            </a:avLst>
          </a:prstGeom>
          <a:solidFill>
            <a:srgbClr val="1F3864"/>
          </a:solidFill>
          <a:ln/>
        </p:spPr>
        <p:txBody>
          <a:bodyPr wrap="square" rtlCol="0" anchor="ctr"/>
          <a:lstStyle/>
          <a:p>
            <a:pPr indent="0" marL="0">
              <a:buNone/>
            </a:pPr>
            <a:endParaRPr lang="en-US" dirty="0"/>
          </a:p>
        </p:txBody>
      </p:sp>
      <p:sp>
        <p:nvSpPr>
          <p:cNvPr id="32" name="Text 29"/>
          <p:cNvSpPr/>
          <p:nvPr/>
        </p:nvSpPr>
        <p:spPr>
          <a:xfrm>
            <a:off x="2996133" y="3891781"/>
            <a:ext cx="207169" cy="207169"/>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
        <p:nvSpPr>
          <p:cNvPr id="33" name="Text 30"/>
          <p:cNvSpPr/>
          <p:nvPr/>
        </p:nvSpPr>
        <p:spPr>
          <a:xfrm>
            <a:off x="3321174" y="3923035"/>
            <a:ext cx="1699654" cy="164592"/>
          </a:xfrm>
          <a:prstGeom prst="rect">
            <a:avLst/>
          </a:prstGeom>
          <a:noFill/>
          <a:ln/>
        </p:spPr>
        <p:txBody>
          <a:bodyPr wrap="none" lIns="0" tIns="0" rIns="0" bIns="0" rtlCol="0" anchor="t"/>
          <a:lstStyle/>
          <a:p>
            <a:pPr algn="l" indent="0" marL="0">
              <a:lnSpc>
                <a:spcPts val="1139"/>
              </a:lnSpc>
              <a:buNone/>
            </a:pPr>
            <a:r>
              <a:rPr lang="en-US" sz="800" b="1" dirty="0">
                <a:solidFill>
                  <a:srgbClr val="1F3864"/>
                </a:solidFill>
                <a:latin typeface="Carlito" pitchFamily="34" charset="0"/>
                <a:ea typeface="Carlito" pitchFamily="34" charset="-122"/>
                <a:cs typeface="Carlito" pitchFamily="34" charset="-120"/>
              </a:rPr>
              <a:t>Testing</a:t>
            </a:r>
            <a:endParaRPr lang="en-US" sz="800" dirty="0"/>
          </a:p>
        </p:txBody>
      </p:sp>
      <p:sp>
        <p:nvSpPr>
          <p:cNvPr id="34" name="Text 31"/>
          <p:cNvSpPr/>
          <p:nvPr/>
        </p:nvSpPr>
        <p:spPr>
          <a:xfrm>
            <a:off x="2956843" y="4209678"/>
            <a:ext cx="2063986" cy="373016"/>
          </a:xfrm>
          <a:prstGeom prst="rect">
            <a:avLst/>
          </a:prstGeom>
          <a:noFill/>
          <a:ln/>
        </p:spPr>
        <p:txBody>
          <a:bodyPr wrap="square" lIns="0" tIns="0" rIns="0" bIns="0" rtlCol="0" anchor="t"/>
          <a:lstStyle/>
          <a:p>
            <a:pPr algn="l" indent="0" marL="0">
              <a:lnSpc>
                <a:spcPts val="1100"/>
              </a:lnSpc>
              <a:buNone/>
            </a:pPr>
            <a:r>
              <a:rPr lang="en-US" sz="800" dirty="0">
                <a:solidFill>
                  <a:srgbClr val="5D6B7A"/>
                </a:solidFill>
                <a:latin typeface="Carlito" pitchFamily="34" charset="0"/>
                <a:ea typeface="Carlito" pitchFamily="34" charset="-122"/>
                <a:cs typeface="Carlito" pitchFamily="34" charset="-120"/>
              </a:rPr>
              <a:t>supertest (29 API tests) · Hardhat toolbox (20 contract tests) · browser E2E sweep</a:t>
            </a:r>
            <a:endParaRPr lang="en-US" sz="800" dirty="0"/>
          </a:p>
        </p:txBody>
      </p:sp>
      <p:sp>
        <p:nvSpPr>
          <p:cNvPr id="35" name="Text 32"/>
          <p:cNvSpPr/>
          <p:nvPr/>
        </p:nvSpPr>
        <p:spPr>
          <a:xfrm>
            <a:off x="5303007" y="1067767"/>
            <a:ext cx="3437260" cy="3222054"/>
          </a:xfrm>
          <a:prstGeom prst="roundRect">
            <a:avLst>
              <a:gd name="adj" fmla="val 2365"/>
            </a:avLst>
          </a:prstGeom>
          <a:solidFill>
            <a:srgbClr val="FFFFFF"/>
          </a:solidFill>
          <a:ln w="7144">
            <a:solidFill>
              <a:srgbClr val="D9E0E8"/>
            </a:solidFill>
            <a:prstDash val="solid"/>
          </a:ln>
          <a:effectLst>
            <a:outerShdw sx="100000" sy="100000" kx="0" ky="0" algn="bl" rotWithShape="0" blurRad="209550" dist="95250" dir="5400000">
              <a:srgbClr val="10243E">
                <a:alpha val="14000"/>
              </a:srgbClr>
            </a:outerShdw>
          </a:effectLst>
        </p:spPr>
        <p:txBody>
          <a:bodyPr wrap="square" rtlCol="0" anchor="ctr"/>
          <a:lstStyle/>
          <a:p>
            <a:pPr indent="0" marL="0">
              <a:buNone/>
            </a:pPr>
            <a:endParaRPr lang="en-US" dirty="0"/>
          </a:p>
        </p:txBody>
      </p:sp>
      <p:pic>
        <p:nvPicPr>
          <p:cNvPr id="36" name="Image 1" descr="/tmp/h2p-fit-1789243836663-evhccs.png">    </p:cNvPr>
          <p:cNvPicPr>
            <a:picLocks noChangeAspect="1"/>
          </p:cNvPicPr>
          <p:nvPr/>
        </p:nvPicPr>
        <p:blipFill>
          <a:blip r:embed="rId2"/>
          <a:stretch>
            <a:fillRect/>
          </a:stretch>
        </p:blipFill>
        <p:spPr>
          <a:xfrm>
            <a:off x="5306578" y="1071339"/>
            <a:ext cx="3430116" cy="3214911"/>
          </a:xfrm>
          <a:prstGeom prst="rect">
            <a:avLst/>
          </a:prstGeom>
        </p:spPr>
      </p:pic>
      <p:sp>
        <p:nvSpPr>
          <p:cNvPr id="37" name="Text 33"/>
          <p:cNvSpPr/>
          <p:nvPr/>
        </p:nvSpPr>
        <p:spPr>
          <a:xfrm>
            <a:off x="5299435" y="4379119"/>
            <a:ext cx="3444404" cy="378619"/>
          </a:xfrm>
          <a:prstGeom prst="roundRect">
            <a:avLst>
              <a:gd name="adj" fmla="val 20126"/>
            </a:avLst>
          </a:prstGeom>
          <a:solidFill>
            <a:srgbClr val="10243E"/>
          </a:solidFill>
          <a:ln/>
        </p:spPr>
        <p:txBody>
          <a:bodyPr wrap="square" rtlCol="0" anchor="ctr"/>
          <a:lstStyle/>
          <a:p>
            <a:pPr indent="0" marL="0">
              <a:buNone/>
            </a:pPr>
            <a:endParaRPr lang="en-US" dirty="0"/>
          </a:p>
        </p:txBody>
      </p:sp>
      <p:sp>
        <p:nvSpPr>
          <p:cNvPr id="38" name="Text 34"/>
          <p:cNvSpPr/>
          <p:nvPr/>
        </p:nvSpPr>
        <p:spPr>
          <a:xfrm>
            <a:off x="5399447" y="4511278"/>
            <a:ext cx="114300" cy="114300"/>
          </a:xfrm>
          <a:prstGeom prst="rect">
            <a:avLst/>
          </a:prstGeom>
          <a:noFill/>
          <a:ln/>
        </p:spPr>
        <p:txBody>
          <a:bodyPr wrap="none" lIns="0" tIns="0" rIns="0" bIns="0" rtlCol="0" anchor="ctr"/>
          <a:lstStyle/>
          <a:p>
            <a:pPr algn="ctr" indent="0" marL="0">
              <a:buNone/>
            </a:pPr>
            <a:r>
              <a:rPr lang="en-US" sz="1125" dirty="0">
                <a:solidFill>
                  <a:srgbClr val="E86A27"/>
                </a:solidFill>
                <a:latin typeface="Segoe UI Symbol" pitchFamily="34" charset="0"/>
                <a:ea typeface="Segoe UI Symbol" pitchFamily="34" charset="-122"/>
                <a:cs typeface="Segoe UI Symbol" pitchFamily="34" charset="-120"/>
              </a:rPr>
              <a:t>✦</a:t>
            </a:r>
            <a:endParaRPr lang="en-US" sz="1125" dirty="0"/>
          </a:p>
        </p:txBody>
      </p:sp>
      <p:sp>
        <p:nvSpPr>
          <p:cNvPr id="39" name="Text 35"/>
          <p:cNvSpPr/>
          <p:nvPr/>
        </p:nvSpPr>
        <p:spPr>
          <a:xfrm>
            <a:off x="5578041" y="4450556"/>
            <a:ext cx="3065785" cy="235744"/>
          </a:xfrm>
          <a:prstGeom prst="rect">
            <a:avLst/>
          </a:prstGeom>
          <a:noFill/>
          <a:ln/>
        </p:spPr>
        <p:txBody>
          <a:bodyPr wrap="square" lIns="0" tIns="0" rIns="0" bIns="0" rtlCol="0" anchor="t"/>
          <a:lstStyle/>
          <a:p>
            <a:pPr algn="l" indent="0" marL="0">
              <a:lnSpc>
                <a:spcPts val="928"/>
              </a:lnSpc>
              <a:buNone/>
            </a:pPr>
            <a:r>
              <a:rPr lang="en-US" sz="800" dirty="0">
                <a:solidFill>
                  <a:srgbClr val="FFFFFF"/>
                </a:solidFill>
                <a:latin typeface="Carlito" pitchFamily="34" charset="0"/>
                <a:ea typeface="Carlito" pitchFamily="34" charset="-122"/>
                <a:cs typeface="Carlito" pitchFamily="34" charset="-120"/>
              </a:rPr>
              <a:t>Live registrar console — real ownership-transfer settlements on the local chain (block 15, tx 0x9c706cbe…)</a:t>
            </a:r>
            <a:endParaRPr lang="en-US" sz="800" dirty="0"/>
          </a:p>
        </p:txBody>
      </p:sp>
      <p:sp>
        <p:nvSpPr>
          <p:cNvPr id="40" name="Text 36"/>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1" name="Text 37"/>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2" name="Text 38"/>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43" name="Text 39"/>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7 of 10</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2818360"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RESULTS / PROTOTYPE</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3622" y="1067767"/>
            <a:ext cx="2707481" cy="1721644"/>
          </a:xfrm>
          <a:prstGeom prst="roundRect">
            <a:avLst>
              <a:gd name="adj" fmla="val 4426"/>
            </a:avLst>
          </a:prstGeom>
          <a:solidFill>
            <a:srgbClr val="FFFFFF"/>
          </a:solidFill>
          <a:ln w="7144">
            <a:solidFill>
              <a:srgbClr val="D9E0E8"/>
            </a:solidFill>
            <a:prstDash val="solid"/>
          </a:ln>
          <a:effectLst>
            <a:outerShdw sx="100000" sy="100000" kx="0" ky="0" algn="bl" rotWithShape="0" blurRad="209550" dist="95250" dir="5400000">
              <a:srgbClr val="10243E">
                <a:alpha val="14000"/>
              </a:srgbClr>
            </a:outerShdw>
          </a:effectLst>
        </p:spPr>
        <p:txBody>
          <a:bodyPr wrap="square" rtlCol="0" anchor="ctr"/>
          <a:lstStyle/>
          <a:p>
            <a:pPr indent="0" marL="0">
              <a:buNone/>
            </a:pPr>
            <a:endParaRPr lang="en-US" dirty="0"/>
          </a:p>
        </p:txBody>
      </p:sp>
      <p:pic>
        <p:nvPicPr>
          <p:cNvPr id="6" name="Image 1" descr="/tmp/h2p-fit-1789243836894-dctbqm.png">    </p:cNvPr>
          <p:cNvPicPr>
            <a:picLocks noChangeAspect="1"/>
          </p:cNvPicPr>
          <p:nvPr/>
        </p:nvPicPr>
        <p:blipFill>
          <a:blip r:embed="rId2"/>
          <a:stretch>
            <a:fillRect/>
          </a:stretch>
        </p:blipFill>
        <p:spPr>
          <a:xfrm>
            <a:off x="407194" y="1071339"/>
            <a:ext cx="2700338" cy="1714500"/>
          </a:xfrm>
          <a:prstGeom prst="rect">
            <a:avLst/>
          </a:prstGeom>
        </p:spPr>
      </p:pic>
      <p:sp>
        <p:nvSpPr>
          <p:cNvPr id="7" name="Text 3"/>
          <p:cNvSpPr/>
          <p:nvPr/>
        </p:nvSpPr>
        <p:spPr>
          <a:xfrm>
            <a:off x="920762" y="2850133"/>
            <a:ext cx="1673089" cy="172678"/>
          </a:xfrm>
          <a:prstGeom prst="roundRect">
            <a:avLst>
              <a:gd name="adj" fmla="val 5510531"/>
            </a:avLst>
          </a:prstGeom>
          <a:solidFill>
            <a:srgbClr val="FDF0E7"/>
          </a:solidFill>
          <a:ln/>
        </p:spPr>
        <p:txBody>
          <a:bodyPr wrap="square" rtlCol="0" anchor="ctr"/>
          <a:lstStyle/>
          <a:p>
            <a:pPr indent="0" marL="0">
              <a:buNone/>
            </a:pPr>
            <a:endParaRPr lang="en-US" dirty="0"/>
          </a:p>
        </p:txBody>
      </p:sp>
      <p:sp>
        <p:nvSpPr>
          <p:cNvPr id="8" name="Text 4"/>
          <p:cNvSpPr/>
          <p:nvPr/>
        </p:nvSpPr>
        <p:spPr>
          <a:xfrm>
            <a:off x="920762" y="2850133"/>
            <a:ext cx="1673089" cy="252603"/>
          </a:xfrm>
          <a:prstGeom prst="rect">
            <a:avLst/>
          </a:prstGeom>
          <a:noFill/>
          <a:ln/>
        </p:spPr>
        <p:txBody>
          <a:bodyPr wrap="none" lIns="92869" tIns="35719" rIns="92869" bIns="35719" rtlCol="0" anchor="t"/>
          <a:lstStyle/>
          <a:p>
            <a:pPr algn="l" indent="0" marL="0">
              <a:lnSpc>
                <a:spcPts val="797"/>
              </a:lnSpc>
              <a:buNone/>
            </a:pPr>
            <a:r>
              <a:rPr lang="en-US" sz="600" dirty="0">
                <a:solidFill>
                  <a:srgbClr val="24313F"/>
                </a:solidFill>
                <a:latin typeface="Carlito" pitchFamily="34" charset="0"/>
                <a:ea typeface="Carlito" pitchFamily="34" charset="-122"/>
                <a:cs typeface="Carlito" pitchFamily="34" charset="-120"/>
              </a:rPr>
              <a:t>Secure sign-in — role-based access</a:t>
            </a:r>
            <a:endParaRPr lang="en-US" sz="600" dirty="0"/>
          </a:p>
        </p:txBody>
      </p:sp>
      <p:sp>
        <p:nvSpPr>
          <p:cNvPr id="9" name="Text 5"/>
          <p:cNvSpPr/>
          <p:nvPr/>
        </p:nvSpPr>
        <p:spPr>
          <a:xfrm>
            <a:off x="3218259" y="1067767"/>
            <a:ext cx="2707481" cy="1721644"/>
          </a:xfrm>
          <a:prstGeom prst="roundRect">
            <a:avLst>
              <a:gd name="adj" fmla="val 4426"/>
            </a:avLst>
          </a:prstGeom>
          <a:solidFill>
            <a:srgbClr val="FFFFFF"/>
          </a:solidFill>
          <a:ln w="7144">
            <a:solidFill>
              <a:srgbClr val="D9E0E8"/>
            </a:solidFill>
            <a:prstDash val="solid"/>
          </a:ln>
          <a:effectLst>
            <a:outerShdw sx="100000" sy="100000" kx="0" ky="0" algn="bl" rotWithShape="0" blurRad="209550" dist="95250" dir="5400000">
              <a:srgbClr val="10243E">
                <a:alpha val="14000"/>
              </a:srgbClr>
            </a:outerShdw>
          </a:effectLst>
        </p:spPr>
        <p:txBody>
          <a:bodyPr wrap="square" rtlCol="0" anchor="ctr"/>
          <a:lstStyle/>
          <a:p>
            <a:pPr indent="0" marL="0">
              <a:buNone/>
            </a:pPr>
            <a:endParaRPr lang="en-US" dirty="0"/>
          </a:p>
        </p:txBody>
      </p:sp>
      <p:pic>
        <p:nvPicPr>
          <p:cNvPr id="10" name="Image 2" descr="/tmp/h2p-fit-1789243836895-4yr3wk.png">    </p:cNvPr>
          <p:cNvPicPr>
            <a:picLocks noChangeAspect="1"/>
          </p:cNvPicPr>
          <p:nvPr/>
        </p:nvPicPr>
        <p:blipFill>
          <a:blip r:embed="rId3"/>
          <a:stretch>
            <a:fillRect/>
          </a:stretch>
        </p:blipFill>
        <p:spPr>
          <a:xfrm>
            <a:off x="3221831" y="1071339"/>
            <a:ext cx="2700338" cy="1714500"/>
          </a:xfrm>
          <a:prstGeom prst="rect">
            <a:avLst/>
          </a:prstGeom>
        </p:spPr>
      </p:pic>
      <p:sp>
        <p:nvSpPr>
          <p:cNvPr id="11" name="Text 6"/>
          <p:cNvSpPr/>
          <p:nvPr/>
        </p:nvSpPr>
        <p:spPr>
          <a:xfrm>
            <a:off x="3407792" y="2850133"/>
            <a:ext cx="2328304" cy="172678"/>
          </a:xfrm>
          <a:prstGeom prst="roundRect">
            <a:avLst>
              <a:gd name="adj" fmla="val 5510531"/>
            </a:avLst>
          </a:prstGeom>
          <a:solidFill>
            <a:srgbClr val="FDF0E7"/>
          </a:solidFill>
          <a:ln/>
        </p:spPr>
        <p:txBody>
          <a:bodyPr wrap="square" rtlCol="0" anchor="ctr"/>
          <a:lstStyle/>
          <a:p>
            <a:pPr indent="0" marL="0">
              <a:buNone/>
            </a:pPr>
            <a:endParaRPr lang="en-US" dirty="0"/>
          </a:p>
        </p:txBody>
      </p:sp>
      <p:sp>
        <p:nvSpPr>
          <p:cNvPr id="12" name="Text 7"/>
          <p:cNvSpPr/>
          <p:nvPr/>
        </p:nvSpPr>
        <p:spPr>
          <a:xfrm>
            <a:off x="3407792" y="2850133"/>
            <a:ext cx="2328304" cy="252603"/>
          </a:xfrm>
          <a:prstGeom prst="rect">
            <a:avLst/>
          </a:prstGeom>
          <a:noFill/>
          <a:ln/>
        </p:spPr>
        <p:txBody>
          <a:bodyPr wrap="none" lIns="92869" tIns="35719" rIns="92869" bIns="35719" rtlCol="0" anchor="t"/>
          <a:lstStyle/>
          <a:p>
            <a:pPr algn="l" indent="0" marL="0">
              <a:lnSpc>
                <a:spcPts val="797"/>
              </a:lnSpc>
              <a:buNone/>
            </a:pPr>
            <a:r>
              <a:rPr lang="en-US" sz="600" dirty="0">
                <a:solidFill>
                  <a:srgbClr val="24313F"/>
                </a:solidFill>
                <a:latin typeface="Carlito" pitchFamily="34" charset="0"/>
                <a:ea typeface="Carlito" pitchFamily="34" charset="-122"/>
                <a:cs typeface="Carlito" pitchFamily="34" charset="-120"/>
              </a:rPr>
              <a:t>Citizen dashboard — owned properties &amp; transfers</a:t>
            </a:r>
            <a:endParaRPr lang="en-US" sz="600" dirty="0"/>
          </a:p>
        </p:txBody>
      </p:sp>
      <p:sp>
        <p:nvSpPr>
          <p:cNvPr id="13" name="Text 8"/>
          <p:cNvSpPr/>
          <p:nvPr/>
        </p:nvSpPr>
        <p:spPr>
          <a:xfrm>
            <a:off x="6032897" y="1067767"/>
            <a:ext cx="2707481" cy="1721644"/>
          </a:xfrm>
          <a:prstGeom prst="roundRect">
            <a:avLst>
              <a:gd name="adj" fmla="val 4426"/>
            </a:avLst>
          </a:prstGeom>
          <a:solidFill>
            <a:srgbClr val="FFFFFF"/>
          </a:solidFill>
          <a:ln w="7144">
            <a:solidFill>
              <a:srgbClr val="D9E0E8"/>
            </a:solidFill>
            <a:prstDash val="solid"/>
          </a:ln>
          <a:effectLst>
            <a:outerShdw sx="100000" sy="100000" kx="0" ky="0" algn="bl" rotWithShape="0" blurRad="209550" dist="95250" dir="5400000">
              <a:srgbClr val="10243E">
                <a:alpha val="14000"/>
              </a:srgbClr>
            </a:outerShdw>
          </a:effectLst>
        </p:spPr>
        <p:txBody>
          <a:bodyPr wrap="square" rtlCol="0" anchor="ctr"/>
          <a:lstStyle/>
          <a:p>
            <a:pPr indent="0" marL="0">
              <a:buNone/>
            </a:pPr>
            <a:endParaRPr lang="en-US" dirty="0"/>
          </a:p>
        </p:txBody>
      </p:sp>
      <p:pic>
        <p:nvPicPr>
          <p:cNvPr id="14" name="Image 3" descr="/tmp/h2p-fit-1789243836901-x4emow.png">    </p:cNvPr>
          <p:cNvPicPr>
            <a:picLocks noChangeAspect="1"/>
          </p:cNvPicPr>
          <p:nvPr/>
        </p:nvPicPr>
        <p:blipFill>
          <a:blip r:embed="rId4"/>
          <a:stretch>
            <a:fillRect/>
          </a:stretch>
        </p:blipFill>
        <p:spPr>
          <a:xfrm>
            <a:off x="6036469" y="1071339"/>
            <a:ext cx="2700338" cy="1714500"/>
          </a:xfrm>
          <a:prstGeom prst="rect">
            <a:avLst/>
          </a:prstGeom>
        </p:spPr>
      </p:pic>
      <p:sp>
        <p:nvSpPr>
          <p:cNvPr id="15" name="Text 9"/>
          <p:cNvSpPr/>
          <p:nvPr/>
        </p:nvSpPr>
        <p:spPr>
          <a:xfrm>
            <a:off x="6384392" y="2850133"/>
            <a:ext cx="2004492" cy="172678"/>
          </a:xfrm>
          <a:prstGeom prst="roundRect">
            <a:avLst>
              <a:gd name="adj" fmla="val 5510531"/>
            </a:avLst>
          </a:prstGeom>
          <a:solidFill>
            <a:srgbClr val="FDF0E7"/>
          </a:solidFill>
          <a:ln/>
        </p:spPr>
        <p:txBody>
          <a:bodyPr wrap="square" rtlCol="0" anchor="ctr"/>
          <a:lstStyle/>
          <a:p>
            <a:pPr indent="0" marL="0">
              <a:buNone/>
            </a:pPr>
            <a:endParaRPr lang="en-US" dirty="0"/>
          </a:p>
        </p:txBody>
      </p:sp>
      <p:sp>
        <p:nvSpPr>
          <p:cNvPr id="16" name="Text 10"/>
          <p:cNvSpPr/>
          <p:nvPr/>
        </p:nvSpPr>
        <p:spPr>
          <a:xfrm>
            <a:off x="6384392" y="2850133"/>
            <a:ext cx="2004492" cy="252603"/>
          </a:xfrm>
          <a:prstGeom prst="rect">
            <a:avLst/>
          </a:prstGeom>
          <a:noFill/>
          <a:ln/>
        </p:spPr>
        <p:txBody>
          <a:bodyPr wrap="none" lIns="92869" tIns="35719" rIns="92869" bIns="35719" rtlCol="0" anchor="t"/>
          <a:lstStyle/>
          <a:p>
            <a:pPr algn="l" indent="0" marL="0">
              <a:lnSpc>
                <a:spcPts val="797"/>
              </a:lnSpc>
              <a:buNone/>
            </a:pPr>
            <a:r>
              <a:rPr lang="en-US" sz="600" dirty="0">
                <a:solidFill>
                  <a:srgbClr val="24313F"/>
                </a:solidFill>
                <a:latin typeface="Carlito" pitchFamily="34" charset="0"/>
                <a:ea typeface="Carlito" pitchFamily="34" charset="-122"/>
                <a:cs typeface="Carlito" pitchFamily="34" charset="-120"/>
              </a:rPr>
              <a:t>Public ledger — every on-chain transaction</a:t>
            </a:r>
            <a:endParaRPr lang="en-US" sz="600" dirty="0"/>
          </a:p>
        </p:txBody>
      </p:sp>
      <p:sp>
        <p:nvSpPr>
          <p:cNvPr id="17" name="Text 11"/>
          <p:cNvSpPr/>
          <p:nvPr/>
        </p:nvSpPr>
        <p:spPr>
          <a:xfrm>
            <a:off x="400050" y="3229980"/>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18" name="Text 12"/>
          <p:cNvSpPr/>
          <p:nvPr/>
        </p:nvSpPr>
        <p:spPr>
          <a:xfrm>
            <a:off x="650081" y="3183545"/>
            <a:ext cx="121444" cy="121444"/>
          </a:xfrm>
          <a:prstGeom prst="rect">
            <a:avLst/>
          </a:prstGeom>
          <a:noFill/>
          <a:ln/>
        </p:spPr>
        <p:txBody>
          <a:bodyPr wrap="none" lIns="0" tIns="0" rIns="0" bIns="0" rtlCol="0" anchor="ctr"/>
          <a:lstStyle/>
          <a:p>
            <a:pPr algn="ctr" indent="0" marL="0">
              <a:buNone/>
            </a:pPr>
            <a:r>
              <a:rPr lang="en-US" sz="1195" dirty="0">
                <a:solidFill>
                  <a:srgbClr val="E86A27"/>
                </a:solidFill>
                <a:latin typeface="Segoe UI Symbol" pitchFamily="34" charset="0"/>
                <a:ea typeface="Segoe UI Symbol" pitchFamily="34" charset="-122"/>
                <a:cs typeface="Segoe UI Symbol" pitchFamily="34" charset="-120"/>
              </a:rPr>
              <a:t>✓</a:t>
            </a:r>
            <a:endParaRPr lang="en-US" sz="1195" dirty="0"/>
          </a:p>
        </p:txBody>
      </p:sp>
      <p:sp>
        <p:nvSpPr>
          <p:cNvPr id="19" name="Text 13"/>
          <p:cNvSpPr/>
          <p:nvPr/>
        </p:nvSpPr>
        <p:spPr>
          <a:xfrm>
            <a:off x="835819" y="3179973"/>
            <a:ext cx="1461068" cy="164592"/>
          </a:xfrm>
          <a:prstGeom prst="rect">
            <a:avLst/>
          </a:prstGeom>
          <a:noFill/>
          <a:ln/>
        </p:spPr>
        <p:txBody>
          <a:bodyPr wrap="none" lIns="0" tIns="0" rIns="0" bIns="0" rtlCol="0" anchor="t"/>
          <a:lstStyle/>
          <a:p>
            <a:pPr algn="l" indent="0" marL="0">
              <a:lnSpc>
                <a:spcPts val="1013"/>
              </a:lnSpc>
              <a:buNone/>
            </a:pPr>
            <a:r>
              <a:rPr lang="en-US" sz="800" b="1" spc="90" kern="0" dirty="0">
                <a:solidFill>
                  <a:srgbClr val="1F3864"/>
                </a:solidFill>
                <a:latin typeface="Carlito" pitchFamily="34" charset="0"/>
                <a:ea typeface="Carlito" pitchFamily="34" charset="-122"/>
                <a:cs typeface="Carlito" pitchFamily="34" charset="-120"/>
              </a:rPr>
              <a:t>VERIFIED RESULTS</a:t>
            </a:r>
            <a:endParaRPr lang="en-US" sz="800" dirty="0"/>
          </a:p>
        </p:txBody>
      </p:sp>
      <p:sp>
        <p:nvSpPr>
          <p:cNvPr id="20" name="Text 14"/>
          <p:cNvSpPr/>
          <p:nvPr/>
        </p:nvSpPr>
        <p:spPr>
          <a:xfrm>
            <a:off x="1972456" y="3240695"/>
            <a:ext cx="6771494" cy="7144"/>
          </a:xfrm>
          <a:prstGeom prst="rect">
            <a:avLst/>
          </a:prstGeom>
          <a:solidFill>
            <a:srgbClr val="D9E0E8"/>
          </a:solidFill>
          <a:ln/>
        </p:spPr>
        <p:txBody>
          <a:bodyPr wrap="square" rtlCol="0" anchor="ctr"/>
          <a:lstStyle/>
          <a:p>
            <a:pPr indent="0" marL="0">
              <a:buNone/>
            </a:pPr>
            <a:endParaRPr lang="en-US" dirty="0"/>
          </a:p>
        </p:txBody>
      </p:sp>
      <p:sp>
        <p:nvSpPr>
          <p:cNvPr id="21" name="Text 15"/>
          <p:cNvSpPr/>
          <p:nvPr/>
        </p:nvSpPr>
        <p:spPr>
          <a:xfrm>
            <a:off x="403622" y="3376426"/>
            <a:ext cx="1323938"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22" name="Text 16"/>
          <p:cNvSpPr/>
          <p:nvPr/>
        </p:nvSpPr>
        <p:spPr>
          <a:xfrm>
            <a:off x="507206" y="3905064"/>
            <a:ext cx="1116769" cy="184202"/>
          </a:xfrm>
          <a:prstGeom prst="rect">
            <a:avLst/>
          </a:prstGeom>
          <a:noFill/>
          <a:ln/>
        </p:spPr>
        <p:txBody>
          <a:bodyPr wrap="none" lIns="0" tIns="0" rIns="0" bIns="0" rtlCol="0" anchor="t">
            <a:normAutofit/>
          </a:bodyPr>
          <a:lstStyle/>
          <a:p>
            <a:pPr algn="l" indent="0" marL="0">
              <a:lnSpc>
                <a:spcPts val="1386"/>
              </a:lnSpc>
              <a:buNone/>
            </a:pPr>
            <a:r>
              <a:rPr lang="en-US" sz="1238" b="1" dirty="0">
                <a:solidFill>
                  <a:srgbClr val="E86A27"/>
                </a:solidFill>
                <a:latin typeface="Liberation Sans Narrow" pitchFamily="34" charset="0"/>
                <a:ea typeface="Liberation Sans Narrow" pitchFamily="34" charset="-122"/>
                <a:cs typeface="Liberation Sans Narrow" pitchFamily="34" charset="-120"/>
              </a:rPr>
              <a:t>29/29</a:t>
            </a:r>
            <a:endParaRPr lang="en-US" sz="1238" dirty="0"/>
          </a:p>
        </p:txBody>
      </p:sp>
      <p:sp>
        <p:nvSpPr>
          <p:cNvPr id="23" name="Text 17"/>
          <p:cNvSpPr/>
          <p:nvPr/>
        </p:nvSpPr>
        <p:spPr>
          <a:xfrm>
            <a:off x="507206" y="4116698"/>
            <a:ext cx="1116769" cy="159040"/>
          </a:xfrm>
          <a:prstGeom prst="rect">
            <a:avLst/>
          </a:prstGeom>
          <a:noFill/>
          <a:ln/>
        </p:spPr>
        <p:txBody>
          <a:bodyPr wrap="none" lIns="0" tIns="0" rIns="0" bIns="0" rtlCol="0" anchor="t"/>
          <a:lstStyle/>
          <a:p>
            <a:pPr algn="l" indent="0" marL="0">
              <a:lnSpc>
                <a:spcPts val="856"/>
              </a:lnSpc>
              <a:buNone/>
            </a:pPr>
            <a:r>
              <a:rPr lang="en-US" sz="600" dirty="0">
                <a:solidFill>
                  <a:srgbClr val="5D6B7A"/>
                </a:solidFill>
                <a:latin typeface="Carlito" pitchFamily="34" charset="0"/>
                <a:ea typeface="Carlito" pitchFamily="34" charset="-122"/>
                <a:cs typeface="Carlito" pitchFamily="34" charset="-120"/>
              </a:rPr>
              <a:t>backend API tests passing</a:t>
            </a:r>
            <a:endParaRPr lang="en-US" sz="600" dirty="0"/>
          </a:p>
        </p:txBody>
      </p:sp>
      <p:sp>
        <p:nvSpPr>
          <p:cNvPr id="24" name="Text 18"/>
          <p:cNvSpPr/>
          <p:nvPr/>
        </p:nvSpPr>
        <p:spPr>
          <a:xfrm>
            <a:off x="1806141" y="3376426"/>
            <a:ext cx="1323938"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25" name="Text 19"/>
          <p:cNvSpPr/>
          <p:nvPr/>
        </p:nvSpPr>
        <p:spPr>
          <a:xfrm>
            <a:off x="1909725" y="3905064"/>
            <a:ext cx="1116769" cy="184202"/>
          </a:xfrm>
          <a:prstGeom prst="rect">
            <a:avLst/>
          </a:prstGeom>
          <a:noFill/>
          <a:ln/>
        </p:spPr>
        <p:txBody>
          <a:bodyPr wrap="none" lIns="0" tIns="0" rIns="0" bIns="0" rtlCol="0" anchor="t">
            <a:normAutofit/>
          </a:bodyPr>
          <a:lstStyle/>
          <a:p>
            <a:pPr algn="l" indent="0" marL="0">
              <a:lnSpc>
                <a:spcPts val="1386"/>
              </a:lnSpc>
              <a:buNone/>
            </a:pPr>
            <a:r>
              <a:rPr lang="en-US" sz="1238" b="1" dirty="0">
                <a:solidFill>
                  <a:srgbClr val="E86A27"/>
                </a:solidFill>
                <a:latin typeface="Liberation Sans Narrow" pitchFamily="34" charset="0"/>
                <a:ea typeface="Liberation Sans Narrow" pitchFamily="34" charset="-122"/>
                <a:cs typeface="Liberation Sans Narrow" pitchFamily="34" charset="-120"/>
              </a:rPr>
              <a:t>20/20</a:t>
            </a:r>
            <a:endParaRPr lang="en-US" sz="1238" dirty="0"/>
          </a:p>
        </p:txBody>
      </p:sp>
      <p:sp>
        <p:nvSpPr>
          <p:cNvPr id="26" name="Text 20"/>
          <p:cNvSpPr/>
          <p:nvPr/>
        </p:nvSpPr>
        <p:spPr>
          <a:xfrm>
            <a:off x="1909725" y="4116698"/>
            <a:ext cx="1183775" cy="159040"/>
          </a:xfrm>
          <a:prstGeom prst="rect">
            <a:avLst/>
          </a:prstGeom>
          <a:noFill/>
          <a:ln/>
        </p:spPr>
        <p:txBody>
          <a:bodyPr wrap="square" lIns="0" tIns="0" rIns="0" bIns="0" rtlCol="0" anchor="t"/>
          <a:lstStyle/>
          <a:p>
            <a:pPr algn="l" indent="0" marL="0">
              <a:lnSpc>
                <a:spcPts val="856"/>
              </a:lnSpc>
              <a:buNone/>
            </a:pPr>
            <a:r>
              <a:rPr lang="en-US" sz="600" dirty="0">
                <a:solidFill>
                  <a:srgbClr val="5D6B7A"/>
                </a:solidFill>
                <a:latin typeface="Carlito" pitchFamily="34" charset="0"/>
                <a:ea typeface="Carlito" pitchFamily="34" charset="-122"/>
                <a:cs typeface="Carlito" pitchFamily="34" charset="-120"/>
              </a:rPr>
              <a:t>smart-contract tests passing</a:t>
            </a:r>
            <a:endParaRPr lang="en-US" sz="600" dirty="0"/>
          </a:p>
        </p:txBody>
      </p:sp>
      <p:sp>
        <p:nvSpPr>
          <p:cNvPr id="27" name="Text 21"/>
          <p:cNvSpPr/>
          <p:nvPr/>
        </p:nvSpPr>
        <p:spPr>
          <a:xfrm>
            <a:off x="3208660" y="3376426"/>
            <a:ext cx="1323938"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28" name="Text 22"/>
          <p:cNvSpPr/>
          <p:nvPr/>
        </p:nvSpPr>
        <p:spPr>
          <a:xfrm>
            <a:off x="3312244" y="3905064"/>
            <a:ext cx="1116769" cy="184202"/>
          </a:xfrm>
          <a:prstGeom prst="rect">
            <a:avLst/>
          </a:prstGeom>
          <a:noFill/>
          <a:ln/>
        </p:spPr>
        <p:txBody>
          <a:bodyPr wrap="none" lIns="0" tIns="0" rIns="0" bIns="0" rtlCol="0" anchor="t">
            <a:normAutofit/>
          </a:bodyPr>
          <a:lstStyle/>
          <a:p>
            <a:pPr algn="l" indent="0" marL="0">
              <a:lnSpc>
                <a:spcPts val="1386"/>
              </a:lnSpc>
              <a:buNone/>
            </a:pPr>
            <a:r>
              <a:rPr lang="en-US" sz="1238" b="1" dirty="0">
                <a:solidFill>
                  <a:srgbClr val="E86A27"/>
                </a:solidFill>
                <a:latin typeface="Liberation Sans Narrow" pitchFamily="34" charset="0"/>
                <a:ea typeface="Liberation Sans Narrow" pitchFamily="34" charset="-122"/>
                <a:cs typeface="Liberation Sans Narrow" pitchFamily="34" charset="-120"/>
              </a:rPr>
              <a:t>29/29</a:t>
            </a:r>
            <a:endParaRPr lang="en-US" sz="1238" dirty="0"/>
          </a:p>
        </p:txBody>
      </p:sp>
      <p:sp>
        <p:nvSpPr>
          <p:cNvPr id="29" name="Text 23"/>
          <p:cNvSpPr/>
          <p:nvPr/>
        </p:nvSpPr>
        <p:spPr>
          <a:xfrm>
            <a:off x="3312244" y="4116698"/>
            <a:ext cx="1116769" cy="159040"/>
          </a:xfrm>
          <a:prstGeom prst="rect">
            <a:avLst/>
          </a:prstGeom>
          <a:noFill/>
          <a:ln/>
        </p:spPr>
        <p:txBody>
          <a:bodyPr wrap="none" lIns="0" tIns="0" rIns="0" bIns="0" rtlCol="0" anchor="t"/>
          <a:lstStyle/>
          <a:p>
            <a:pPr algn="l" indent="0" marL="0">
              <a:lnSpc>
                <a:spcPts val="856"/>
              </a:lnSpc>
              <a:buNone/>
            </a:pPr>
            <a:r>
              <a:rPr lang="en-US" sz="600" dirty="0">
                <a:solidFill>
                  <a:srgbClr val="5D6B7A"/>
                </a:solidFill>
                <a:latin typeface="Carlito" pitchFamily="34" charset="0"/>
                <a:ea typeface="Carlito" pitchFamily="34" charset="-122"/>
                <a:cs typeface="Carlito" pitchFamily="34" charset="-120"/>
              </a:rPr>
              <a:t>end-to-end demo checks</a:t>
            </a:r>
            <a:endParaRPr lang="en-US" sz="600" dirty="0"/>
          </a:p>
        </p:txBody>
      </p:sp>
      <p:sp>
        <p:nvSpPr>
          <p:cNvPr id="30" name="Text 24"/>
          <p:cNvSpPr/>
          <p:nvPr/>
        </p:nvSpPr>
        <p:spPr>
          <a:xfrm>
            <a:off x="4611179" y="3376426"/>
            <a:ext cx="1324049"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31" name="Text 25"/>
          <p:cNvSpPr/>
          <p:nvPr/>
        </p:nvSpPr>
        <p:spPr>
          <a:xfrm>
            <a:off x="4714763" y="3841105"/>
            <a:ext cx="1116881" cy="312119"/>
          </a:xfrm>
          <a:prstGeom prst="rect">
            <a:avLst/>
          </a:prstGeom>
          <a:noFill/>
          <a:ln/>
        </p:spPr>
        <p:txBody>
          <a:bodyPr wrap="none" lIns="0" tIns="0" rIns="0" bIns="0" rtlCol="0" anchor="t">
            <a:normAutofit/>
          </a:bodyPr>
          <a:lstStyle/>
          <a:p>
            <a:pPr algn="l" indent="0" marL="0">
              <a:lnSpc>
                <a:spcPts val="1197"/>
              </a:lnSpc>
              <a:buNone/>
            </a:pPr>
            <a:r>
              <a:rPr lang="en-US" sz="1069" b="1" dirty="0">
                <a:solidFill>
                  <a:srgbClr val="E86A27"/>
                </a:solidFill>
                <a:latin typeface="Carlito" pitchFamily="34" charset="0"/>
                <a:ea typeface="Carlito" pitchFamily="34" charset="-122"/>
                <a:cs typeface="Carlito" pitchFamily="34" charset="-120"/>
              </a:rPr>
              <a:t>Real tx settled</a:t>
            </a:r>
            <a:endParaRPr lang="en-US" sz="1069" dirty="0"/>
          </a:p>
        </p:txBody>
      </p:sp>
      <p:sp>
        <p:nvSpPr>
          <p:cNvPr id="32" name="Text 26"/>
          <p:cNvSpPr/>
          <p:nvPr/>
        </p:nvSpPr>
        <p:spPr>
          <a:xfrm>
            <a:off x="4714763" y="4180656"/>
            <a:ext cx="1116881" cy="159040"/>
          </a:xfrm>
          <a:prstGeom prst="rect">
            <a:avLst/>
          </a:prstGeom>
          <a:noFill/>
          <a:ln/>
        </p:spPr>
        <p:txBody>
          <a:bodyPr wrap="none" lIns="0" tIns="0" rIns="0" bIns="0" rtlCol="0" anchor="t"/>
          <a:lstStyle/>
          <a:p>
            <a:pPr algn="l" indent="0" marL="0">
              <a:lnSpc>
                <a:spcPts val="856"/>
              </a:lnSpc>
              <a:buNone/>
            </a:pPr>
            <a:r>
              <a:rPr lang="en-US" sz="600" dirty="0">
                <a:solidFill>
                  <a:srgbClr val="5D6B7A"/>
                </a:solidFill>
                <a:latin typeface="Liberation Sans Narrow" pitchFamily="34" charset="0"/>
                <a:ea typeface="Liberation Sans Narrow" pitchFamily="34" charset="-122"/>
                <a:cs typeface="Liberation Sans Narrow" pitchFamily="34" charset="-120"/>
              </a:rPr>
              <a:t>block 15, 0x9c706cbe…</a:t>
            </a:r>
            <a:endParaRPr lang="en-US" sz="600" dirty="0"/>
          </a:p>
        </p:txBody>
      </p:sp>
      <p:sp>
        <p:nvSpPr>
          <p:cNvPr id="33" name="Text 27"/>
          <p:cNvSpPr/>
          <p:nvPr/>
        </p:nvSpPr>
        <p:spPr>
          <a:xfrm>
            <a:off x="6013810" y="3376426"/>
            <a:ext cx="1323938"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34" name="Text 28"/>
          <p:cNvSpPr/>
          <p:nvPr/>
        </p:nvSpPr>
        <p:spPr>
          <a:xfrm>
            <a:off x="6117394" y="3850704"/>
            <a:ext cx="1116769" cy="184202"/>
          </a:xfrm>
          <a:prstGeom prst="rect">
            <a:avLst/>
          </a:prstGeom>
          <a:noFill/>
          <a:ln/>
        </p:spPr>
        <p:txBody>
          <a:bodyPr wrap="none" lIns="0" tIns="0" rIns="0" bIns="0" rtlCol="0" anchor="t">
            <a:normAutofit/>
          </a:bodyPr>
          <a:lstStyle/>
          <a:p>
            <a:pPr algn="l" indent="0" marL="0">
              <a:lnSpc>
                <a:spcPts val="1386"/>
              </a:lnSpc>
              <a:buNone/>
            </a:pPr>
            <a:r>
              <a:rPr lang="en-US" sz="1238" b="1" dirty="0">
                <a:solidFill>
                  <a:srgbClr val="E86A27"/>
                </a:solidFill>
                <a:latin typeface="Liberation Sans Narrow" pitchFamily="34" charset="0"/>
                <a:ea typeface="Liberation Sans Narrow" pitchFamily="34" charset="-122"/>
                <a:cs typeface="Liberation Sans Narrow" pitchFamily="34" charset="-120"/>
              </a:rPr>
              <a:t>0</a:t>
            </a:r>
            <a:endParaRPr lang="en-US" sz="1238" dirty="0"/>
          </a:p>
        </p:txBody>
      </p:sp>
      <p:sp>
        <p:nvSpPr>
          <p:cNvPr id="35" name="Text 29"/>
          <p:cNvSpPr/>
          <p:nvPr/>
        </p:nvSpPr>
        <p:spPr>
          <a:xfrm>
            <a:off x="6117394" y="4062338"/>
            <a:ext cx="1116769" cy="318081"/>
          </a:xfrm>
          <a:prstGeom prst="rect">
            <a:avLst/>
          </a:prstGeom>
          <a:noFill/>
          <a:ln/>
        </p:spPr>
        <p:txBody>
          <a:bodyPr wrap="square" lIns="0" tIns="0" rIns="0" bIns="0" rtlCol="0" anchor="t"/>
          <a:lstStyle/>
          <a:p>
            <a:pPr algn="l" indent="0" marL="0">
              <a:lnSpc>
                <a:spcPts val="856"/>
              </a:lnSpc>
              <a:buNone/>
            </a:pPr>
            <a:r>
              <a:rPr lang="en-US" sz="800" dirty="0">
                <a:solidFill>
                  <a:srgbClr val="5D6B7A"/>
                </a:solidFill>
                <a:latin typeface="Liberation Sans Narrow" pitchFamily="34" charset="0"/>
                <a:ea typeface="Liberation Sans Narrow" pitchFamily="34" charset="-122"/>
                <a:cs typeface="Liberation Sans Narrow" pitchFamily="34" charset="-120"/>
              </a:rPr>
              <a:t>overflow 360–1280 px viewports</a:t>
            </a:r>
            <a:endParaRPr lang="en-US" sz="800" dirty="0"/>
          </a:p>
        </p:txBody>
      </p:sp>
      <p:sp>
        <p:nvSpPr>
          <p:cNvPr id="36" name="Text 30"/>
          <p:cNvSpPr/>
          <p:nvPr/>
        </p:nvSpPr>
        <p:spPr>
          <a:xfrm>
            <a:off x="7416329" y="3376426"/>
            <a:ext cx="1323938" cy="1377739"/>
          </a:xfrm>
          <a:prstGeom prst="roundRect">
            <a:avLst>
              <a:gd name="adj" fmla="val 719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37" name="Text 31"/>
          <p:cNvSpPr/>
          <p:nvPr/>
        </p:nvSpPr>
        <p:spPr>
          <a:xfrm>
            <a:off x="7519913" y="3862760"/>
            <a:ext cx="1116769" cy="160203"/>
          </a:xfrm>
          <a:prstGeom prst="rect">
            <a:avLst/>
          </a:prstGeom>
          <a:noFill/>
          <a:ln/>
        </p:spPr>
        <p:txBody>
          <a:bodyPr wrap="none" lIns="0" tIns="0" rIns="0" bIns="0" rtlCol="0" anchor="t">
            <a:normAutofit/>
          </a:bodyPr>
          <a:lstStyle/>
          <a:p>
            <a:pPr algn="l" indent="0" marL="0">
              <a:lnSpc>
                <a:spcPts val="1197"/>
              </a:lnSpc>
              <a:buNone/>
            </a:pPr>
            <a:r>
              <a:rPr lang="en-US" sz="1069" b="1" dirty="0">
                <a:solidFill>
                  <a:srgbClr val="E86A27"/>
                </a:solidFill>
                <a:latin typeface="Carlito" pitchFamily="34" charset="0"/>
                <a:ea typeface="Carlito" pitchFamily="34" charset="-122"/>
                <a:cs typeface="Carlito" pitchFamily="34" charset="-120"/>
              </a:rPr>
              <a:t>Health green</a:t>
            </a:r>
            <a:endParaRPr lang="en-US" sz="1069" dirty="0"/>
          </a:p>
        </p:txBody>
      </p:sp>
      <p:sp>
        <p:nvSpPr>
          <p:cNvPr id="38" name="Text 32"/>
          <p:cNvSpPr/>
          <p:nvPr/>
        </p:nvSpPr>
        <p:spPr>
          <a:xfrm>
            <a:off x="7519913" y="4050395"/>
            <a:ext cx="1183775" cy="318081"/>
          </a:xfrm>
          <a:prstGeom prst="rect">
            <a:avLst/>
          </a:prstGeom>
          <a:noFill/>
          <a:ln/>
        </p:spPr>
        <p:txBody>
          <a:bodyPr wrap="square" lIns="0" tIns="0" rIns="0" bIns="0" rtlCol="0" anchor="t"/>
          <a:lstStyle/>
          <a:p>
            <a:pPr algn="l" indent="0" marL="0">
              <a:lnSpc>
                <a:spcPts val="856"/>
              </a:lnSpc>
              <a:buNone/>
            </a:pPr>
            <a:r>
              <a:rPr lang="en-US" sz="800" dirty="0">
                <a:solidFill>
                  <a:srgbClr val="5D6B7A"/>
                </a:solidFill>
                <a:latin typeface="Carlito" pitchFamily="34" charset="0"/>
                <a:ea typeface="Carlito" pitchFamily="34" charset="-122"/>
                <a:cs typeface="Carlito" pitchFamily="34" charset="-120"/>
              </a:rPr>
              <a:t>on Atlas alone — PostgreSQL fully removed</a:t>
            </a:r>
            <a:endParaRPr lang="en-US" sz="800" dirty="0"/>
          </a:p>
        </p:txBody>
      </p:sp>
      <p:sp>
        <p:nvSpPr>
          <p:cNvPr id="39" name="Text 33"/>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0" name="Text 34"/>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1" name="Text 35"/>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42" name="Text 36"/>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8 of 10</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7101647" cy="257255"/>
          </a:xfrm>
          <a:prstGeom prst="rect">
            <a:avLst/>
          </a:prstGeom>
          <a:noFill/>
          <a:ln/>
        </p:spPr>
        <p:txBody>
          <a:bodyPr wrap="squar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INNOVATION, IMPACT, DELIVERABLES &amp; FUTURE SCOPE</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4121944" cy="1796765"/>
          </a:xfrm>
          <a:prstGeom prst="roundRect">
            <a:avLst>
              <a:gd name="adj" fmla="val 5301"/>
            </a:avLst>
          </a:prstGeom>
          <a:solidFill>
            <a:srgbClr val="F5F8FB"/>
          </a:solidFill>
          <a:ln/>
        </p:spPr>
        <p:txBody>
          <a:bodyPr wrap="square" rtlCol="0" anchor="ctr"/>
          <a:lstStyle/>
          <a:p>
            <a:pPr indent="0" marL="0">
              <a:buNone/>
            </a:pPr>
            <a:endParaRPr lang="en-US" dirty="0"/>
          </a:p>
        </p:txBody>
      </p:sp>
      <p:sp>
        <p:nvSpPr>
          <p:cNvPr id="6" name="Shape 3"/>
          <p:cNvSpPr/>
          <p:nvPr/>
        </p:nvSpPr>
        <p:spPr>
          <a:xfrm>
            <a:off x="400050" y="1078483"/>
            <a:ext cx="4121944" cy="0"/>
          </a:xfrm>
          <a:prstGeom prst="line">
            <a:avLst/>
          </a:prstGeom>
          <a:noFill/>
          <a:ln w="28575">
            <a:solidFill>
              <a:srgbClr val="E86A27"/>
            </a:solidFill>
            <a:prstDash val="solid"/>
          </a:ln>
        </p:spPr>
      </p:sp>
      <p:sp>
        <p:nvSpPr>
          <p:cNvPr id="7" name="Shape 4"/>
          <p:cNvSpPr/>
          <p:nvPr/>
        </p:nvSpPr>
        <p:spPr>
          <a:xfrm>
            <a:off x="4518422" y="1064196"/>
            <a:ext cx="0" cy="1796765"/>
          </a:xfrm>
          <a:prstGeom prst="line">
            <a:avLst/>
          </a:prstGeom>
          <a:noFill/>
          <a:ln w="7144">
            <a:solidFill>
              <a:srgbClr val="D9E0E8"/>
            </a:solidFill>
            <a:prstDash val="solid"/>
          </a:ln>
        </p:spPr>
      </p:sp>
      <p:sp>
        <p:nvSpPr>
          <p:cNvPr id="8" name="Shape 5"/>
          <p:cNvSpPr/>
          <p:nvPr/>
        </p:nvSpPr>
        <p:spPr>
          <a:xfrm>
            <a:off x="400050" y="2857388"/>
            <a:ext cx="4121944" cy="0"/>
          </a:xfrm>
          <a:prstGeom prst="line">
            <a:avLst/>
          </a:prstGeom>
          <a:noFill/>
          <a:ln w="7144">
            <a:solidFill>
              <a:srgbClr val="D9E0E8"/>
            </a:solidFill>
            <a:prstDash val="solid"/>
          </a:ln>
        </p:spPr>
      </p:sp>
      <p:sp>
        <p:nvSpPr>
          <p:cNvPr id="9" name="Shape 6"/>
          <p:cNvSpPr/>
          <p:nvPr/>
        </p:nvSpPr>
        <p:spPr>
          <a:xfrm>
            <a:off x="403622" y="1064196"/>
            <a:ext cx="0" cy="1796765"/>
          </a:xfrm>
          <a:prstGeom prst="line">
            <a:avLst/>
          </a:prstGeom>
          <a:noFill/>
          <a:ln w="7144">
            <a:solidFill>
              <a:srgbClr val="D9E0E8"/>
            </a:solidFill>
            <a:prstDash val="solid"/>
          </a:ln>
        </p:spPr>
      </p:sp>
      <p:sp>
        <p:nvSpPr>
          <p:cNvPr id="10" name="Text 7"/>
          <p:cNvSpPr/>
          <p:nvPr/>
        </p:nvSpPr>
        <p:spPr>
          <a:xfrm>
            <a:off x="550069" y="1199927"/>
            <a:ext cx="257175" cy="257175"/>
          </a:xfrm>
          <a:prstGeom prst="roundRect">
            <a:avLst>
              <a:gd name="adj" fmla="val 33333"/>
            </a:avLst>
          </a:prstGeom>
          <a:solidFill>
            <a:srgbClr val="FDF0E7"/>
          </a:solidFill>
          <a:ln/>
        </p:spPr>
        <p:txBody>
          <a:bodyPr wrap="square" rtlCol="0" anchor="ctr"/>
          <a:lstStyle/>
          <a:p>
            <a:pPr indent="0" marL="0">
              <a:buNone/>
            </a:pPr>
            <a:endParaRPr lang="en-US" dirty="0"/>
          </a:p>
        </p:txBody>
      </p:sp>
      <p:sp>
        <p:nvSpPr>
          <p:cNvPr id="11" name="Text 8"/>
          <p:cNvSpPr/>
          <p:nvPr/>
        </p:nvSpPr>
        <p:spPr>
          <a:xfrm>
            <a:off x="575072" y="1224930"/>
            <a:ext cx="207169" cy="207169"/>
          </a:xfrm>
          <a:prstGeom prst="rect">
            <a:avLst/>
          </a:prstGeom>
          <a:noFill/>
          <a:ln/>
        </p:spPr>
        <p:txBody>
          <a:bodyPr wrap="none" lIns="0" tIns="0" rIns="0" bIns="0" rtlCol="0" anchor="ctr"/>
          <a:lstStyle/>
          <a:p>
            <a:pPr algn="ctr" indent="0" marL="0">
              <a:buNone/>
            </a:pPr>
            <a:r>
              <a:rPr lang="en-US" sz="1406" dirty="0">
                <a:solidFill>
                  <a:srgbClr val="1F3864"/>
                </a:solidFill>
                <a:latin typeface="Segoe UI Symbol" pitchFamily="34" charset="0"/>
                <a:ea typeface="Segoe UI Symbol" pitchFamily="34" charset="-122"/>
                <a:cs typeface="Segoe UI Symbol" pitchFamily="34" charset="-120"/>
              </a:rPr>
              <a:t>⚗</a:t>
            </a:r>
            <a:endParaRPr lang="en-US" sz="1406" dirty="0"/>
          </a:p>
        </p:txBody>
      </p:sp>
      <p:sp>
        <p:nvSpPr>
          <p:cNvPr id="12" name="Text 9"/>
          <p:cNvSpPr/>
          <p:nvPr/>
        </p:nvSpPr>
        <p:spPr>
          <a:xfrm>
            <a:off x="885825" y="1234753"/>
            <a:ext cx="3486150" cy="202525"/>
          </a:xfrm>
          <a:prstGeom prst="rect">
            <a:avLst/>
          </a:prstGeom>
          <a:noFill/>
          <a:ln/>
        </p:spPr>
        <p:txBody>
          <a:bodyPr wrap="none" lIns="0" tIns="0" rIns="0" bIns="0" rtlCol="0" anchor="t"/>
          <a:lstStyle/>
          <a:p>
            <a:pPr algn="l" indent="0" marL="0">
              <a:lnSpc>
                <a:spcPts val="1477"/>
              </a:lnSpc>
              <a:buNone/>
            </a:pPr>
            <a:r>
              <a:rPr lang="en-US" sz="984" b="1" dirty="0">
                <a:solidFill>
                  <a:srgbClr val="1F3864"/>
                </a:solidFill>
                <a:latin typeface="Carlito" pitchFamily="34" charset="0"/>
                <a:ea typeface="Carlito" pitchFamily="34" charset="-122"/>
                <a:cs typeface="Carlito" pitchFamily="34" charset="-120"/>
              </a:rPr>
              <a:t>Innovation</a:t>
            </a:r>
            <a:endParaRPr lang="en-US" sz="984" dirty="0"/>
          </a:p>
        </p:txBody>
      </p:sp>
      <p:sp>
        <p:nvSpPr>
          <p:cNvPr id="13" name="Text 10"/>
          <p:cNvSpPr/>
          <p:nvPr/>
        </p:nvSpPr>
        <p:spPr>
          <a:xfrm>
            <a:off x="550069" y="1617390"/>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14" name="Text 11"/>
          <p:cNvSpPr/>
          <p:nvPr/>
        </p:nvSpPr>
        <p:spPr>
          <a:xfrm>
            <a:off x="678656" y="1512912"/>
            <a:ext cx="3693319" cy="318211"/>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On-chain provenance enforcement — contract rejects ownership-chain mismatches</a:t>
            </a:r>
            <a:endParaRPr lang="en-US" sz="800" dirty="0"/>
          </a:p>
        </p:txBody>
      </p:sp>
      <p:sp>
        <p:nvSpPr>
          <p:cNvPr id="15" name="Shape 12"/>
          <p:cNvSpPr/>
          <p:nvPr/>
        </p:nvSpPr>
        <p:spPr>
          <a:xfrm>
            <a:off x="550069" y="1802681"/>
            <a:ext cx="3821906" cy="0"/>
          </a:xfrm>
          <a:prstGeom prst="line">
            <a:avLst/>
          </a:prstGeom>
          <a:noFill/>
          <a:ln w="7144">
            <a:solidFill>
              <a:srgbClr val="D9E0E8"/>
            </a:solidFill>
            <a:prstDash val="solid"/>
          </a:ln>
        </p:spPr>
      </p:sp>
      <p:sp>
        <p:nvSpPr>
          <p:cNvPr id="16" name="Text 13"/>
          <p:cNvSpPr/>
          <p:nvPr/>
        </p:nvSpPr>
        <p:spPr>
          <a:xfrm>
            <a:off x="550069" y="1937965"/>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17" name="Text 14"/>
          <p:cNvSpPr/>
          <p:nvPr/>
        </p:nvSpPr>
        <p:spPr>
          <a:xfrm>
            <a:off x="678656" y="1898228"/>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Fraud screened at submission time via 9 deterministic checks</a:t>
            </a:r>
            <a:endParaRPr lang="en-US" sz="800" dirty="0"/>
          </a:p>
        </p:txBody>
      </p:sp>
      <p:sp>
        <p:nvSpPr>
          <p:cNvPr id="18" name="Shape 15"/>
          <p:cNvSpPr/>
          <p:nvPr/>
        </p:nvSpPr>
        <p:spPr>
          <a:xfrm>
            <a:off x="550069" y="2123368"/>
            <a:ext cx="3821906" cy="0"/>
          </a:xfrm>
          <a:prstGeom prst="line">
            <a:avLst/>
          </a:prstGeom>
          <a:noFill/>
          <a:ln w="7144">
            <a:solidFill>
              <a:srgbClr val="D9E0E8"/>
            </a:solidFill>
            <a:prstDash val="solid"/>
          </a:ln>
        </p:spPr>
      </p:sp>
      <p:sp>
        <p:nvSpPr>
          <p:cNvPr id="19" name="Text 16"/>
          <p:cNvSpPr/>
          <p:nvPr/>
        </p:nvSpPr>
        <p:spPr>
          <a:xfrm>
            <a:off x="550069" y="2258653"/>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20" name="Text 17"/>
          <p:cNvSpPr/>
          <p:nvPr/>
        </p:nvSpPr>
        <p:spPr>
          <a:xfrm>
            <a:off x="678656" y="2218916"/>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SHA-256 tamper evidence for every deed document</a:t>
            </a:r>
            <a:endParaRPr lang="en-US" sz="800" dirty="0"/>
          </a:p>
        </p:txBody>
      </p:sp>
      <p:sp>
        <p:nvSpPr>
          <p:cNvPr id="21" name="Shape 18"/>
          <p:cNvSpPr/>
          <p:nvPr/>
        </p:nvSpPr>
        <p:spPr>
          <a:xfrm>
            <a:off x="550069" y="2443944"/>
            <a:ext cx="3821906" cy="0"/>
          </a:xfrm>
          <a:prstGeom prst="line">
            <a:avLst/>
          </a:prstGeom>
          <a:noFill/>
          <a:ln w="7144">
            <a:solidFill>
              <a:srgbClr val="D9E0E8"/>
            </a:solidFill>
            <a:prstDash val="solid"/>
          </a:ln>
        </p:spPr>
      </p:sp>
      <p:sp>
        <p:nvSpPr>
          <p:cNvPr id="22" name="Text 19"/>
          <p:cNvSpPr/>
          <p:nvPr/>
        </p:nvSpPr>
        <p:spPr>
          <a:xfrm>
            <a:off x="550069" y="2579229"/>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23" name="Text 20"/>
          <p:cNvSpPr/>
          <p:nvPr/>
        </p:nvSpPr>
        <p:spPr>
          <a:xfrm>
            <a:off x="678656" y="2539492"/>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Live immutable audit stream from Atlas on the registrar dashboard</a:t>
            </a:r>
            <a:endParaRPr lang="en-US" sz="800" dirty="0"/>
          </a:p>
        </p:txBody>
      </p:sp>
      <p:sp>
        <p:nvSpPr>
          <p:cNvPr id="24" name="Text 21"/>
          <p:cNvSpPr/>
          <p:nvPr/>
        </p:nvSpPr>
        <p:spPr>
          <a:xfrm>
            <a:off x="4622006" y="1064196"/>
            <a:ext cx="4121944" cy="1796765"/>
          </a:xfrm>
          <a:prstGeom prst="roundRect">
            <a:avLst>
              <a:gd name="adj" fmla="val 5301"/>
            </a:avLst>
          </a:prstGeom>
          <a:solidFill>
            <a:srgbClr val="F5F8FB"/>
          </a:solidFill>
          <a:ln/>
        </p:spPr>
        <p:txBody>
          <a:bodyPr wrap="square" rtlCol="0" anchor="ctr"/>
          <a:lstStyle/>
          <a:p>
            <a:pPr indent="0" marL="0">
              <a:buNone/>
            </a:pPr>
            <a:endParaRPr lang="en-US" dirty="0"/>
          </a:p>
        </p:txBody>
      </p:sp>
      <p:sp>
        <p:nvSpPr>
          <p:cNvPr id="25" name="Shape 22"/>
          <p:cNvSpPr/>
          <p:nvPr/>
        </p:nvSpPr>
        <p:spPr>
          <a:xfrm>
            <a:off x="4622006" y="1078483"/>
            <a:ext cx="4121944" cy="0"/>
          </a:xfrm>
          <a:prstGeom prst="line">
            <a:avLst/>
          </a:prstGeom>
          <a:noFill/>
          <a:ln w="28575">
            <a:solidFill>
              <a:srgbClr val="E86A27"/>
            </a:solidFill>
            <a:prstDash val="solid"/>
          </a:ln>
        </p:spPr>
      </p:sp>
      <p:sp>
        <p:nvSpPr>
          <p:cNvPr id="26" name="Shape 23"/>
          <p:cNvSpPr/>
          <p:nvPr/>
        </p:nvSpPr>
        <p:spPr>
          <a:xfrm>
            <a:off x="8740378" y="1064196"/>
            <a:ext cx="0" cy="1796765"/>
          </a:xfrm>
          <a:prstGeom prst="line">
            <a:avLst/>
          </a:prstGeom>
          <a:noFill/>
          <a:ln w="7144">
            <a:solidFill>
              <a:srgbClr val="D9E0E8"/>
            </a:solidFill>
            <a:prstDash val="solid"/>
          </a:ln>
        </p:spPr>
      </p:sp>
      <p:sp>
        <p:nvSpPr>
          <p:cNvPr id="27" name="Shape 24"/>
          <p:cNvSpPr/>
          <p:nvPr/>
        </p:nvSpPr>
        <p:spPr>
          <a:xfrm>
            <a:off x="4622006" y="2857388"/>
            <a:ext cx="4121944" cy="0"/>
          </a:xfrm>
          <a:prstGeom prst="line">
            <a:avLst/>
          </a:prstGeom>
          <a:noFill/>
          <a:ln w="7144">
            <a:solidFill>
              <a:srgbClr val="D9E0E8"/>
            </a:solidFill>
            <a:prstDash val="solid"/>
          </a:ln>
        </p:spPr>
      </p:sp>
      <p:sp>
        <p:nvSpPr>
          <p:cNvPr id="28" name="Shape 25"/>
          <p:cNvSpPr/>
          <p:nvPr/>
        </p:nvSpPr>
        <p:spPr>
          <a:xfrm>
            <a:off x="4625578" y="1064196"/>
            <a:ext cx="0" cy="1796765"/>
          </a:xfrm>
          <a:prstGeom prst="line">
            <a:avLst/>
          </a:prstGeom>
          <a:noFill/>
          <a:ln w="7144">
            <a:solidFill>
              <a:srgbClr val="D9E0E8"/>
            </a:solidFill>
            <a:prstDash val="solid"/>
          </a:ln>
        </p:spPr>
      </p:sp>
      <p:sp>
        <p:nvSpPr>
          <p:cNvPr id="29" name="Text 26"/>
          <p:cNvSpPr/>
          <p:nvPr/>
        </p:nvSpPr>
        <p:spPr>
          <a:xfrm>
            <a:off x="4772025" y="1199927"/>
            <a:ext cx="257175" cy="257175"/>
          </a:xfrm>
          <a:prstGeom prst="roundRect">
            <a:avLst>
              <a:gd name="adj" fmla="val 33333"/>
            </a:avLst>
          </a:prstGeom>
          <a:solidFill>
            <a:srgbClr val="FDF0E7"/>
          </a:solidFill>
          <a:ln/>
        </p:spPr>
        <p:txBody>
          <a:bodyPr wrap="square" rtlCol="0" anchor="ctr"/>
          <a:lstStyle/>
          <a:p>
            <a:pPr indent="0" marL="0">
              <a:buNone/>
            </a:pPr>
            <a:endParaRPr lang="en-US" dirty="0"/>
          </a:p>
        </p:txBody>
      </p:sp>
      <p:sp>
        <p:nvSpPr>
          <p:cNvPr id="30" name="Text 27"/>
          <p:cNvSpPr/>
          <p:nvPr/>
        </p:nvSpPr>
        <p:spPr>
          <a:xfrm>
            <a:off x="4797028" y="1224930"/>
            <a:ext cx="207169" cy="207169"/>
          </a:xfrm>
          <a:prstGeom prst="rect">
            <a:avLst/>
          </a:prstGeom>
          <a:noFill/>
          <a:ln/>
        </p:spPr>
        <p:txBody>
          <a:bodyPr wrap="none" lIns="0" tIns="0" rIns="0" bIns="0" rtlCol="0" anchor="ctr"/>
          <a:lstStyle/>
          <a:p>
            <a:pPr algn="ctr" indent="0" marL="0">
              <a:buNone/>
            </a:pPr>
            <a:r>
              <a:rPr lang="en-US" sz="1406" dirty="0">
                <a:solidFill>
                  <a:srgbClr val="1F3864"/>
                </a:solidFill>
                <a:latin typeface="Segoe UI Symbol" pitchFamily="34" charset="0"/>
                <a:ea typeface="Segoe UI Symbol" pitchFamily="34" charset="-122"/>
                <a:cs typeface="Segoe UI Symbol" pitchFamily="34" charset="-120"/>
              </a:rPr>
              <a:t>◆</a:t>
            </a:r>
            <a:endParaRPr lang="en-US" sz="1406" dirty="0"/>
          </a:p>
        </p:txBody>
      </p:sp>
      <p:sp>
        <p:nvSpPr>
          <p:cNvPr id="31" name="Text 28"/>
          <p:cNvSpPr/>
          <p:nvPr/>
        </p:nvSpPr>
        <p:spPr>
          <a:xfrm>
            <a:off x="5107781" y="1234753"/>
            <a:ext cx="3486150" cy="202525"/>
          </a:xfrm>
          <a:prstGeom prst="rect">
            <a:avLst/>
          </a:prstGeom>
          <a:noFill/>
          <a:ln/>
        </p:spPr>
        <p:txBody>
          <a:bodyPr wrap="none" lIns="0" tIns="0" rIns="0" bIns="0" rtlCol="0" anchor="t"/>
          <a:lstStyle/>
          <a:p>
            <a:pPr algn="l" indent="0" marL="0">
              <a:lnSpc>
                <a:spcPts val="1477"/>
              </a:lnSpc>
              <a:buNone/>
            </a:pPr>
            <a:r>
              <a:rPr lang="en-US" sz="984" b="1" dirty="0">
                <a:solidFill>
                  <a:srgbClr val="1F3864"/>
                </a:solidFill>
                <a:latin typeface="Carlito" pitchFamily="34" charset="0"/>
                <a:ea typeface="Carlito" pitchFamily="34" charset="-122"/>
                <a:cs typeface="Carlito" pitchFamily="34" charset="-120"/>
              </a:rPr>
              <a:t>Impact</a:t>
            </a:r>
            <a:endParaRPr lang="en-US" sz="984" dirty="0"/>
          </a:p>
        </p:txBody>
      </p:sp>
      <p:sp>
        <p:nvSpPr>
          <p:cNvPr id="32" name="Text 29"/>
          <p:cNvSpPr/>
          <p:nvPr/>
        </p:nvSpPr>
        <p:spPr>
          <a:xfrm>
            <a:off x="4772025" y="1617390"/>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33" name="Text 30"/>
          <p:cNvSpPr/>
          <p:nvPr/>
        </p:nvSpPr>
        <p:spPr>
          <a:xfrm>
            <a:off x="4900613" y="1577653"/>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Buyers independently verify ownership before paying</a:t>
            </a:r>
            <a:endParaRPr lang="en-US" sz="800" dirty="0"/>
          </a:p>
        </p:txBody>
      </p:sp>
      <p:sp>
        <p:nvSpPr>
          <p:cNvPr id="34" name="Shape 31"/>
          <p:cNvSpPr/>
          <p:nvPr/>
        </p:nvSpPr>
        <p:spPr>
          <a:xfrm>
            <a:off x="4772025" y="1802681"/>
            <a:ext cx="3821906" cy="0"/>
          </a:xfrm>
          <a:prstGeom prst="line">
            <a:avLst/>
          </a:prstGeom>
          <a:noFill/>
          <a:ln w="7144">
            <a:solidFill>
              <a:srgbClr val="D9E0E8"/>
            </a:solidFill>
            <a:prstDash val="solid"/>
          </a:ln>
        </p:spPr>
      </p:sp>
      <p:sp>
        <p:nvSpPr>
          <p:cNvPr id="35" name="Text 32"/>
          <p:cNvSpPr/>
          <p:nvPr/>
        </p:nvSpPr>
        <p:spPr>
          <a:xfrm>
            <a:off x="4772025" y="1937965"/>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36" name="Text 33"/>
          <p:cNvSpPr/>
          <p:nvPr/>
        </p:nvSpPr>
        <p:spPr>
          <a:xfrm>
            <a:off x="4900613" y="1898228"/>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Registrars decide faster with risk scores pre-computed</a:t>
            </a:r>
            <a:endParaRPr lang="en-US" sz="800" dirty="0"/>
          </a:p>
        </p:txBody>
      </p:sp>
      <p:sp>
        <p:nvSpPr>
          <p:cNvPr id="37" name="Shape 34"/>
          <p:cNvSpPr/>
          <p:nvPr/>
        </p:nvSpPr>
        <p:spPr>
          <a:xfrm>
            <a:off x="4772025" y="2123368"/>
            <a:ext cx="3821906" cy="0"/>
          </a:xfrm>
          <a:prstGeom prst="line">
            <a:avLst/>
          </a:prstGeom>
          <a:noFill/>
          <a:ln w="7144">
            <a:solidFill>
              <a:srgbClr val="D9E0E8"/>
            </a:solidFill>
            <a:prstDash val="solid"/>
          </a:ln>
        </p:spPr>
      </p:sp>
      <p:sp>
        <p:nvSpPr>
          <p:cNvPr id="38" name="Text 35"/>
          <p:cNvSpPr/>
          <p:nvPr/>
        </p:nvSpPr>
        <p:spPr>
          <a:xfrm>
            <a:off x="4772025" y="2258653"/>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39" name="Text 36"/>
          <p:cNvSpPr/>
          <p:nvPr/>
        </p:nvSpPr>
        <p:spPr>
          <a:xfrm>
            <a:off x="4900613" y="2218916"/>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Courts receive immutable, timestamped evidence</a:t>
            </a:r>
            <a:endParaRPr lang="en-US" sz="800" dirty="0"/>
          </a:p>
        </p:txBody>
      </p:sp>
      <p:sp>
        <p:nvSpPr>
          <p:cNvPr id="40" name="Shape 37"/>
          <p:cNvSpPr/>
          <p:nvPr/>
        </p:nvSpPr>
        <p:spPr>
          <a:xfrm>
            <a:off x="4772025" y="2443944"/>
            <a:ext cx="3821906" cy="0"/>
          </a:xfrm>
          <a:prstGeom prst="line">
            <a:avLst/>
          </a:prstGeom>
          <a:noFill/>
          <a:ln w="7144">
            <a:solidFill>
              <a:srgbClr val="D9E0E8"/>
            </a:solidFill>
            <a:prstDash val="solid"/>
          </a:ln>
        </p:spPr>
      </p:sp>
      <p:sp>
        <p:nvSpPr>
          <p:cNvPr id="41" name="Text 38"/>
          <p:cNvSpPr/>
          <p:nvPr/>
        </p:nvSpPr>
        <p:spPr>
          <a:xfrm>
            <a:off x="4772025" y="2579229"/>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42" name="Text 39"/>
          <p:cNvSpPr/>
          <p:nvPr/>
        </p:nvSpPr>
        <p:spPr>
          <a:xfrm>
            <a:off x="4900613" y="2539492"/>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Registry reachable 24/7 from anywhere — zero local infrastructure</a:t>
            </a:r>
            <a:endParaRPr lang="en-US" sz="800" dirty="0"/>
          </a:p>
        </p:txBody>
      </p:sp>
      <p:sp>
        <p:nvSpPr>
          <p:cNvPr id="43" name="Text 40"/>
          <p:cNvSpPr/>
          <p:nvPr/>
        </p:nvSpPr>
        <p:spPr>
          <a:xfrm>
            <a:off x="400050" y="2960973"/>
            <a:ext cx="4121944" cy="1796765"/>
          </a:xfrm>
          <a:prstGeom prst="roundRect">
            <a:avLst>
              <a:gd name="adj" fmla="val 5301"/>
            </a:avLst>
          </a:prstGeom>
          <a:solidFill>
            <a:srgbClr val="F5F8FB"/>
          </a:solidFill>
          <a:ln/>
        </p:spPr>
        <p:txBody>
          <a:bodyPr wrap="square" rtlCol="0" anchor="ctr"/>
          <a:lstStyle/>
          <a:p>
            <a:pPr indent="0" marL="0">
              <a:buNone/>
            </a:pPr>
            <a:endParaRPr lang="en-US" dirty="0"/>
          </a:p>
        </p:txBody>
      </p:sp>
      <p:sp>
        <p:nvSpPr>
          <p:cNvPr id="44" name="Shape 41"/>
          <p:cNvSpPr/>
          <p:nvPr/>
        </p:nvSpPr>
        <p:spPr>
          <a:xfrm>
            <a:off x="400050" y="2975260"/>
            <a:ext cx="4121944" cy="0"/>
          </a:xfrm>
          <a:prstGeom prst="line">
            <a:avLst/>
          </a:prstGeom>
          <a:noFill/>
          <a:ln w="28575">
            <a:solidFill>
              <a:srgbClr val="E86A27"/>
            </a:solidFill>
            <a:prstDash val="solid"/>
          </a:ln>
        </p:spPr>
      </p:sp>
      <p:sp>
        <p:nvSpPr>
          <p:cNvPr id="45" name="Shape 42"/>
          <p:cNvSpPr/>
          <p:nvPr/>
        </p:nvSpPr>
        <p:spPr>
          <a:xfrm>
            <a:off x="4518422" y="2960973"/>
            <a:ext cx="0" cy="1796765"/>
          </a:xfrm>
          <a:prstGeom prst="line">
            <a:avLst/>
          </a:prstGeom>
          <a:noFill/>
          <a:ln w="7144">
            <a:solidFill>
              <a:srgbClr val="D9E0E8"/>
            </a:solidFill>
            <a:prstDash val="solid"/>
          </a:ln>
        </p:spPr>
      </p:sp>
      <p:sp>
        <p:nvSpPr>
          <p:cNvPr id="46" name="Shape 43"/>
          <p:cNvSpPr/>
          <p:nvPr/>
        </p:nvSpPr>
        <p:spPr>
          <a:xfrm>
            <a:off x="400050" y="4754166"/>
            <a:ext cx="4121944" cy="0"/>
          </a:xfrm>
          <a:prstGeom prst="line">
            <a:avLst/>
          </a:prstGeom>
          <a:noFill/>
          <a:ln w="7144">
            <a:solidFill>
              <a:srgbClr val="D9E0E8"/>
            </a:solidFill>
            <a:prstDash val="solid"/>
          </a:ln>
        </p:spPr>
      </p:sp>
      <p:sp>
        <p:nvSpPr>
          <p:cNvPr id="47" name="Shape 44"/>
          <p:cNvSpPr/>
          <p:nvPr/>
        </p:nvSpPr>
        <p:spPr>
          <a:xfrm>
            <a:off x="403622" y="2960973"/>
            <a:ext cx="0" cy="1796765"/>
          </a:xfrm>
          <a:prstGeom prst="line">
            <a:avLst/>
          </a:prstGeom>
          <a:noFill/>
          <a:ln w="7144">
            <a:solidFill>
              <a:srgbClr val="D9E0E8"/>
            </a:solidFill>
            <a:prstDash val="solid"/>
          </a:ln>
        </p:spPr>
      </p:sp>
      <p:sp>
        <p:nvSpPr>
          <p:cNvPr id="48" name="Text 45"/>
          <p:cNvSpPr/>
          <p:nvPr/>
        </p:nvSpPr>
        <p:spPr>
          <a:xfrm>
            <a:off x="550069" y="3096704"/>
            <a:ext cx="257175" cy="257175"/>
          </a:xfrm>
          <a:prstGeom prst="roundRect">
            <a:avLst>
              <a:gd name="adj" fmla="val 33333"/>
            </a:avLst>
          </a:prstGeom>
          <a:solidFill>
            <a:srgbClr val="FDF0E7"/>
          </a:solidFill>
          <a:ln/>
        </p:spPr>
        <p:txBody>
          <a:bodyPr wrap="square" rtlCol="0" anchor="ctr"/>
          <a:lstStyle/>
          <a:p>
            <a:pPr indent="0" marL="0">
              <a:buNone/>
            </a:pPr>
            <a:endParaRPr lang="en-US" dirty="0"/>
          </a:p>
        </p:txBody>
      </p:sp>
      <p:sp>
        <p:nvSpPr>
          <p:cNvPr id="49" name="Text 46"/>
          <p:cNvSpPr/>
          <p:nvPr/>
        </p:nvSpPr>
        <p:spPr>
          <a:xfrm>
            <a:off x="575072" y="3121707"/>
            <a:ext cx="207169" cy="207169"/>
          </a:xfrm>
          <a:prstGeom prst="rect">
            <a:avLst/>
          </a:prstGeom>
          <a:noFill/>
          <a:ln/>
        </p:spPr>
        <p:txBody>
          <a:bodyPr wrap="none" lIns="0" tIns="0" rIns="0" bIns="0" rtlCol="0" anchor="ctr"/>
          <a:lstStyle/>
          <a:p>
            <a:pPr algn="ctr" indent="0" marL="0">
              <a:buNone/>
            </a:pPr>
            <a:r>
              <a:rPr lang="en-US" sz="1406" dirty="0">
                <a:solidFill>
                  <a:srgbClr val="1F3864"/>
                </a:solidFill>
                <a:latin typeface="Segoe UI Symbol" pitchFamily="34" charset="0"/>
                <a:ea typeface="Segoe UI Symbol" pitchFamily="34" charset="-122"/>
                <a:cs typeface="Segoe UI Symbol" pitchFamily="34" charset="-120"/>
              </a:rPr>
              <a:t>▣</a:t>
            </a:r>
            <a:endParaRPr lang="en-US" sz="1406" dirty="0"/>
          </a:p>
        </p:txBody>
      </p:sp>
      <p:sp>
        <p:nvSpPr>
          <p:cNvPr id="50" name="Text 47"/>
          <p:cNvSpPr/>
          <p:nvPr/>
        </p:nvSpPr>
        <p:spPr>
          <a:xfrm>
            <a:off x="885825" y="3131530"/>
            <a:ext cx="3486150" cy="202525"/>
          </a:xfrm>
          <a:prstGeom prst="rect">
            <a:avLst/>
          </a:prstGeom>
          <a:noFill/>
          <a:ln/>
        </p:spPr>
        <p:txBody>
          <a:bodyPr wrap="none" lIns="0" tIns="0" rIns="0" bIns="0" rtlCol="0" anchor="t"/>
          <a:lstStyle/>
          <a:p>
            <a:pPr algn="l" indent="0" marL="0">
              <a:lnSpc>
                <a:spcPts val="1477"/>
              </a:lnSpc>
              <a:buNone/>
            </a:pPr>
            <a:r>
              <a:rPr lang="en-US" sz="984" b="1" dirty="0">
                <a:solidFill>
                  <a:srgbClr val="1F3864"/>
                </a:solidFill>
                <a:latin typeface="Carlito" pitchFamily="34" charset="0"/>
                <a:ea typeface="Carlito" pitchFamily="34" charset="-122"/>
                <a:cs typeface="Carlito" pitchFamily="34" charset="-120"/>
              </a:rPr>
              <a:t>Deliverables</a:t>
            </a:r>
            <a:endParaRPr lang="en-US" sz="984" dirty="0"/>
          </a:p>
        </p:txBody>
      </p:sp>
      <p:sp>
        <p:nvSpPr>
          <p:cNvPr id="51" name="Text 48"/>
          <p:cNvSpPr/>
          <p:nvPr/>
        </p:nvSpPr>
        <p:spPr>
          <a:xfrm>
            <a:off x="550069" y="3514167"/>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52" name="Text 49"/>
          <p:cNvSpPr/>
          <p:nvPr/>
        </p:nvSpPr>
        <p:spPr>
          <a:xfrm>
            <a:off x="678656" y="3474430"/>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Full-stack web platform — 45+ frontend files, 10 API modules</a:t>
            </a:r>
            <a:endParaRPr lang="en-US" sz="800" dirty="0"/>
          </a:p>
        </p:txBody>
      </p:sp>
      <p:sp>
        <p:nvSpPr>
          <p:cNvPr id="53" name="Shape 50"/>
          <p:cNvSpPr/>
          <p:nvPr/>
        </p:nvSpPr>
        <p:spPr>
          <a:xfrm>
            <a:off x="550069" y="3699458"/>
            <a:ext cx="3821906" cy="0"/>
          </a:xfrm>
          <a:prstGeom prst="line">
            <a:avLst/>
          </a:prstGeom>
          <a:noFill/>
          <a:ln w="7144">
            <a:solidFill>
              <a:srgbClr val="D9E0E8"/>
            </a:solidFill>
            <a:prstDash val="solid"/>
          </a:ln>
        </p:spPr>
      </p:sp>
      <p:sp>
        <p:nvSpPr>
          <p:cNvPr id="54" name="Text 51"/>
          <p:cNvSpPr/>
          <p:nvPr/>
        </p:nvSpPr>
        <p:spPr>
          <a:xfrm>
            <a:off x="550069" y="3834743"/>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55" name="Text 52"/>
          <p:cNvSpPr/>
          <p:nvPr/>
        </p:nvSpPr>
        <p:spPr>
          <a:xfrm>
            <a:off x="678656" y="3795006"/>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Audited LandRegistry.sol contract with 20-test suite</a:t>
            </a:r>
            <a:endParaRPr lang="en-US" sz="800" dirty="0"/>
          </a:p>
        </p:txBody>
      </p:sp>
      <p:sp>
        <p:nvSpPr>
          <p:cNvPr id="56" name="Shape 53"/>
          <p:cNvSpPr/>
          <p:nvPr/>
        </p:nvSpPr>
        <p:spPr>
          <a:xfrm>
            <a:off x="550069" y="4020145"/>
            <a:ext cx="3821906" cy="0"/>
          </a:xfrm>
          <a:prstGeom prst="line">
            <a:avLst/>
          </a:prstGeom>
          <a:noFill/>
          <a:ln w="7144">
            <a:solidFill>
              <a:srgbClr val="D9E0E8"/>
            </a:solidFill>
            <a:prstDash val="solid"/>
          </a:ln>
        </p:spPr>
      </p:sp>
      <p:sp>
        <p:nvSpPr>
          <p:cNvPr id="57" name="Text 54"/>
          <p:cNvSpPr/>
          <p:nvPr/>
        </p:nvSpPr>
        <p:spPr>
          <a:xfrm>
            <a:off x="550069" y="4155430"/>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58" name="Text 55"/>
          <p:cNvSpPr/>
          <p:nvPr/>
        </p:nvSpPr>
        <p:spPr>
          <a:xfrm>
            <a:off x="678656" y="4115693"/>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REST API verified by 29 automated tests + E2E browser sweep</a:t>
            </a:r>
            <a:endParaRPr lang="en-US" sz="800" dirty="0"/>
          </a:p>
        </p:txBody>
      </p:sp>
      <p:sp>
        <p:nvSpPr>
          <p:cNvPr id="59" name="Shape 56"/>
          <p:cNvSpPr/>
          <p:nvPr/>
        </p:nvSpPr>
        <p:spPr>
          <a:xfrm>
            <a:off x="550069" y="4340721"/>
            <a:ext cx="3821906" cy="0"/>
          </a:xfrm>
          <a:prstGeom prst="line">
            <a:avLst/>
          </a:prstGeom>
          <a:noFill/>
          <a:ln w="7144">
            <a:solidFill>
              <a:srgbClr val="D9E0E8"/>
            </a:solidFill>
            <a:prstDash val="solid"/>
          </a:ln>
        </p:spPr>
      </p:sp>
      <p:sp>
        <p:nvSpPr>
          <p:cNvPr id="60" name="Text 57"/>
          <p:cNvSpPr/>
          <p:nvPr/>
        </p:nvSpPr>
        <p:spPr>
          <a:xfrm>
            <a:off x="550069" y="4476006"/>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61" name="Text 58"/>
          <p:cNvSpPr/>
          <p:nvPr/>
        </p:nvSpPr>
        <p:spPr>
          <a:xfrm>
            <a:off x="678656" y="4436269"/>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Docker / Kubernetes / Jenkins CI-CD + Grafana observability</a:t>
            </a:r>
            <a:endParaRPr lang="en-US" sz="800" dirty="0"/>
          </a:p>
        </p:txBody>
      </p:sp>
      <p:sp>
        <p:nvSpPr>
          <p:cNvPr id="62" name="Text 59"/>
          <p:cNvSpPr/>
          <p:nvPr/>
        </p:nvSpPr>
        <p:spPr>
          <a:xfrm>
            <a:off x="4622006" y="2960973"/>
            <a:ext cx="4121944" cy="1796765"/>
          </a:xfrm>
          <a:prstGeom prst="roundRect">
            <a:avLst>
              <a:gd name="adj" fmla="val 5301"/>
            </a:avLst>
          </a:prstGeom>
          <a:solidFill>
            <a:srgbClr val="F5F8FB"/>
          </a:solidFill>
          <a:ln/>
        </p:spPr>
        <p:txBody>
          <a:bodyPr wrap="square" rtlCol="0" anchor="ctr"/>
          <a:lstStyle/>
          <a:p>
            <a:pPr indent="0" marL="0">
              <a:buNone/>
            </a:pPr>
            <a:endParaRPr lang="en-US" dirty="0"/>
          </a:p>
        </p:txBody>
      </p:sp>
      <p:sp>
        <p:nvSpPr>
          <p:cNvPr id="63" name="Shape 60"/>
          <p:cNvSpPr/>
          <p:nvPr/>
        </p:nvSpPr>
        <p:spPr>
          <a:xfrm>
            <a:off x="4622006" y="2975260"/>
            <a:ext cx="4121944" cy="0"/>
          </a:xfrm>
          <a:prstGeom prst="line">
            <a:avLst/>
          </a:prstGeom>
          <a:noFill/>
          <a:ln w="28575">
            <a:solidFill>
              <a:srgbClr val="E86A27"/>
            </a:solidFill>
            <a:prstDash val="solid"/>
          </a:ln>
        </p:spPr>
      </p:sp>
      <p:sp>
        <p:nvSpPr>
          <p:cNvPr id="64" name="Shape 61"/>
          <p:cNvSpPr/>
          <p:nvPr/>
        </p:nvSpPr>
        <p:spPr>
          <a:xfrm>
            <a:off x="8740378" y="2960973"/>
            <a:ext cx="0" cy="1796765"/>
          </a:xfrm>
          <a:prstGeom prst="line">
            <a:avLst/>
          </a:prstGeom>
          <a:noFill/>
          <a:ln w="7144">
            <a:solidFill>
              <a:srgbClr val="D9E0E8"/>
            </a:solidFill>
            <a:prstDash val="solid"/>
          </a:ln>
        </p:spPr>
      </p:sp>
      <p:sp>
        <p:nvSpPr>
          <p:cNvPr id="65" name="Shape 62"/>
          <p:cNvSpPr/>
          <p:nvPr/>
        </p:nvSpPr>
        <p:spPr>
          <a:xfrm>
            <a:off x="4622006" y="4754166"/>
            <a:ext cx="4121944" cy="0"/>
          </a:xfrm>
          <a:prstGeom prst="line">
            <a:avLst/>
          </a:prstGeom>
          <a:noFill/>
          <a:ln w="7144">
            <a:solidFill>
              <a:srgbClr val="D9E0E8"/>
            </a:solidFill>
            <a:prstDash val="solid"/>
          </a:ln>
        </p:spPr>
      </p:sp>
      <p:sp>
        <p:nvSpPr>
          <p:cNvPr id="66" name="Shape 63"/>
          <p:cNvSpPr/>
          <p:nvPr/>
        </p:nvSpPr>
        <p:spPr>
          <a:xfrm>
            <a:off x="4625578" y="2960973"/>
            <a:ext cx="0" cy="1796765"/>
          </a:xfrm>
          <a:prstGeom prst="line">
            <a:avLst/>
          </a:prstGeom>
          <a:noFill/>
          <a:ln w="7144">
            <a:solidFill>
              <a:srgbClr val="D9E0E8"/>
            </a:solidFill>
            <a:prstDash val="solid"/>
          </a:ln>
        </p:spPr>
      </p:sp>
      <p:sp>
        <p:nvSpPr>
          <p:cNvPr id="67" name="Text 64"/>
          <p:cNvSpPr/>
          <p:nvPr/>
        </p:nvSpPr>
        <p:spPr>
          <a:xfrm>
            <a:off x="4772025" y="3096704"/>
            <a:ext cx="257175" cy="257175"/>
          </a:xfrm>
          <a:prstGeom prst="roundRect">
            <a:avLst>
              <a:gd name="adj" fmla="val 33333"/>
            </a:avLst>
          </a:prstGeom>
          <a:solidFill>
            <a:srgbClr val="FDF0E7"/>
          </a:solidFill>
          <a:ln/>
        </p:spPr>
        <p:txBody>
          <a:bodyPr wrap="square" rtlCol="0" anchor="ctr"/>
          <a:lstStyle/>
          <a:p>
            <a:pPr indent="0" marL="0">
              <a:buNone/>
            </a:pPr>
            <a:endParaRPr lang="en-US" dirty="0"/>
          </a:p>
        </p:txBody>
      </p:sp>
      <p:sp>
        <p:nvSpPr>
          <p:cNvPr id="68" name="Text 65"/>
          <p:cNvSpPr/>
          <p:nvPr/>
        </p:nvSpPr>
        <p:spPr>
          <a:xfrm>
            <a:off x="4797028" y="3121707"/>
            <a:ext cx="207169" cy="207169"/>
          </a:xfrm>
          <a:prstGeom prst="rect">
            <a:avLst/>
          </a:prstGeom>
          <a:noFill/>
          <a:ln/>
        </p:spPr>
        <p:txBody>
          <a:bodyPr wrap="none" lIns="0" tIns="0" rIns="0" bIns="0" rtlCol="0" anchor="ctr"/>
          <a:lstStyle/>
          <a:p>
            <a:pPr algn="ctr" indent="0" marL="0">
              <a:buNone/>
            </a:pPr>
            <a:r>
              <a:rPr lang="en-US" sz="1406" dirty="0">
                <a:solidFill>
                  <a:srgbClr val="1F3864"/>
                </a:solidFill>
                <a:latin typeface="Segoe UI Symbol" pitchFamily="34" charset="0"/>
                <a:ea typeface="Segoe UI Symbol" pitchFamily="34" charset="-122"/>
                <a:cs typeface="Segoe UI Symbol" pitchFamily="34" charset="-120"/>
              </a:rPr>
              <a:t>➤</a:t>
            </a:r>
            <a:endParaRPr lang="en-US" sz="1406" dirty="0"/>
          </a:p>
        </p:txBody>
      </p:sp>
      <p:sp>
        <p:nvSpPr>
          <p:cNvPr id="69" name="Text 66"/>
          <p:cNvSpPr/>
          <p:nvPr/>
        </p:nvSpPr>
        <p:spPr>
          <a:xfrm>
            <a:off x="5107781" y="3131530"/>
            <a:ext cx="3486150" cy="202525"/>
          </a:xfrm>
          <a:prstGeom prst="rect">
            <a:avLst/>
          </a:prstGeom>
          <a:noFill/>
          <a:ln/>
        </p:spPr>
        <p:txBody>
          <a:bodyPr wrap="none" lIns="0" tIns="0" rIns="0" bIns="0" rtlCol="0" anchor="t"/>
          <a:lstStyle/>
          <a:p>
            <a:pPr algn="l" indent="0" marL="0">
              <a:lnSpc>
                <a:spcPts val="1477"/>
              </a:lnSpc>
              <a:buNone/>
            </a:pPr>
            <a:r>
              <a:rPr lang="en-US" sz="984" b="1" dirty="0">
                <a:solidFill>
                  <a:srgbClr val="1F3864"/>
                </a:solidFill>
                <a:latin typeface="Carlito" pitchFamily="34" charset="0"/>
                <a:ea typeface="Carlito" pitchFamily="34" charset="-122"/>
                <a:cs typeface="Carlito" pitchFamily="34" charset="-120"/>
              </a:rPr>
              <a:t>Future scope</a:t>
            </a:r>
            <a:endParaRPr lang="en-US" sz="984" dirty="0"/>
          </a:p>
        </p:txBody>
      </p:sp>
      <p:sp>
        <p:nvSpPr>
          <p:cNvPr id="70" name="Text 67"/>
          <p:cNvSpPr/>
          <p:nvPr/>
        </p:nvSpPr>
        <p:spPr>
          <a:xfrm>
            <a:off x="4772025" y="3514167"/>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71" name="Text 68"/>
          <p:cNvSpPr/>
          <p:nvPr/>
        </p:nvSpPr>
        <p:spPr>
          <a:xfrm>
            <a:off x="4900613" y="3474430"/>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Hosted testnet deployment (Polygon Amoy) for public access</a:t>
            </a:r>
            <a:endParaRPr lang="en-US" sz="800" dirty="0"/>
          </a:p>
        </p:txBody>
      </p:sp>
      <p:sp>
        <p:nvSpPr>
          <p:cNvPr id="72" name="Shape 69"/>
          <p:cNvSpPr/>
          <p:nvPr/>
        </p:nvSpPr>
        <p:spPr>
          <a:xfrm>
            <a:off x="4772025" y="3699458"/>
            <a:ext cx="3821906" cy="0"/>
          </a:xfrm>
          <a:prstGeom prst="line">
            <a:avLst/>
          </a:prstGeom>
          <a:noFill/>
          <a:ln w="7144">
            <a:solidFill>
              <a:srgbClr val="D9E0E8"/>
            </a:solidFill>
            <a:prstDash val="solid"/>
          </a:ln>
        </p:spPr>
      </p:sp>
      <p:sp>
        <p:nvSpPr>
          <p:cNvPr id="73" name="Text 70"/>
          <p:cNvSpPr/>
          <p:nvPr/>
        </p:nvSpPr>
        <p:spPr>
          <a:xfrm>
            <a:off x="4772025" y="3834743"/>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74" name="Text 71"/>
          <p:cNvSpPr/>
          <p:nvPr/>
        </p:nvSpPr>
        <p:spPr>
          <a:xfrm>
            <a:off x="4900613" y="3795006"/>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Aadhaar-based e-KYC for identity assurance</a:t>
            </a:r>
            <a:endParaRPr lang="en-US" sz="800" dirty="0"/>
          </a:p>
        </p:txBody>
      </p:sp>
      <p:sp>
        <p:nvSpPr>
          <p:cNvPr id="75" name="Shape 72"/>
          <p:cNvSpPr/>
          <p:nvPr/>
        </p:nvSpPr>
        <p:spPr>
          <a:xfrm>
            <a:off x="4772025" y="4020145"/>
            <a:ext cx="3821906" cy="0"/>
          </a:xfrm>
          <a:prstGeom prst="line">
            <a:avLst/>
          </a:prstGeom>
          <a:noFill/>
          <a:ln w="7144">
            <a:solidFill>
              <a:srgbClr val="D9E0E8"/>
            </a:solidFill>
            <a:prstDash val="solid"/>
          </a:ln>
        </p:spPr>
      </p:sp>
      <p:sp>
        <p:nvSpPr>
          <p:cNvPr id="76" name="Text 73"/>
          <p:cNvSpPr/>
          <p:nvPr/>
        </p:nvSpPr>
        <p:spPr>
          <a:xfrm>
            <a:off x="4772025" y="4155430"/>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77" name="Text 74"/>
          <p:cNvSpPr/>
          <p:nvPr/>
        </p:nvSpPr>
        <p:spPr>
          <a:xfrm>
            <a:off x="4900613" y="4115693"/>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GIS map layers and OCR auto-extraction of deed data</a:t>
            </a:r>
            <a:endParaRPr lang="en-US" sz="800" dirty="0"/>
          </a:p>
        </p:txBody>
      </p:sp>
      <p:sp>
        <p:nvSpPr>
          <p:cNvPr id="78" name="Shape 75"/>
          <p:cNvSpPr/>
          <p:nvPr/>
        </p:nvSpPr>
        <p:spPr>
          <a:xfrm>
            <a:off x="4772025" y="4340721"/>
            <a:ext cx="3821906" cy="0"/>
          </a:xfrm>
          <a:prstGeom prst="line">
            <a:avLst/>
          </a:prstGeom>
          <a:noFill/>
          <a:ln w="7144">
            <a:solidFill>
              <a:srgbClr val="D9E0E8"/>
            </a:solidFill>
            <a:prstDash val="solid"/>
          </a:ln>
        </p:spPr>
      </p:sp>
      <p:sp>
        <p:nvSpPr>
          <p:cNvPr id="79" name="Text 76"/>
          <p:cNvSpPr/>
          <p:nvPr/>
        </p:nvSpPr>
        <p:spPr>
          <a:xfrm>
            <a:off x="4772025" y="4476006"/>
            <a:ext cx="50006" cy="50006"/>
          </a:xfrm>
          <a:prstGeom prst="roundRect">
            <a:avLst>
              <a:gd name="adj" fmla="val 38095"/>
            </a:avLst>
          </a:prstGeom>
          <a:solidFill>
            <a:srgbClr val="E86A27"/>
          </a:solidFill>
          <a:ln/>
        </p:spPr>
        <p:txBody>
          <a:bodyPr wrap="square" rtlCol="0" anchor="ctr"/>
          <a:lstStyle/>
          <a:p>
            <a:pPr indent="0" marL="0">
              <a:buNone/>
            </a:pPr>
            <a:endParaRPr lang="en-US" dirty="0"/>
          </a:p>
        </p:txBody>
      </p:sp>
      <p:sp>
        <p:nvSpPr>
          <p:cNvPr id="80" name="Text 77"/>
          <p:cNvSpPr/>
          <p:nvPr/>
        </p:nvSpPr>
        <p:spPr>
          <a:xfrm>
            <a:off x="4900613" y="4436269"/>
            <a:ext cx="3693319" cy="159106"/>
          </a:xfrm>
          <a:prstGeom prst="rect">
            <a:avLst/>
          </a:prstGeom>
          <a:noFill/>
          <a:ln/>
        </p:spPr>
        <p:txBody>
          <a:bodyPr wrap="square" lIns="0" tIns="0" rIns="0" bIns="0" rtlCol="0" anchor="t"/>
          <a:lstStyle/>
          <a:p>
            <a:pPr algn="l" indent="0" marL="0">
              <a:lnSpc>
                <a:spcPts val="1020"/>
              </a:lnSpc>
              <a:buNone/>
            </a:pPr>
            <a:r>
              <a:rPr lang="en-US" sz="800" dirty="0">
                <a:solidFill>
                  <a:srgbClr val="24313F"/>
                </a:solidFill>
                <a:latin typeface="Carlito" pitchFamily="34" charset="0"/>
                <a:ea typeface="Carlito" pitchFamily="34" charset="-122"/>
                <a:cs typeface="Carlito" pitchFamily="34" charset="-120"/>
              </a:rPr>
              <a:t>SMS / WhatsApp alerts and AI-assisted valuation hints</a:t>
            </a:r>
            <a:endParaRPr lang="en-US" sz="800" dirty="0"/>
          </a:p>
        </p:txBody>
      </p:sp>
      <p:sp>
        <p:nvSpPr>
          <p:cNvPr id="81" name="Text 78"/>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82" name="Text 79"/>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83" name="Text 80"/>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84" name="Text 81"/>
          <p:cNvSpPr/>
          <p:nvPr/>
        </p:nvSpPr>
        <p:spPr>
          <a:xfrm>
            <a:off x="8206011" y="4955642"/>
            <a:ext cx="605729"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9 of 10</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0050" y="200025"/>
            <a:ext cx="3602091" cy="257255"/>
          </a:xfrm>
          <a:prstGeom prst="rect">
            <a:avLst/>
          </a:prstGeom>
          <a:noFill/>
          <a:ln/>
        </p:spPr>
        <p:txBody>
          <a:bodyPr wrap="none" lIns="0" tIns="0" rIns="0" bIns="0" rtlCol="0" anchor="t"/>
          <a:lstStyle/>
          <a:p>
            <a:pPr algn="l" indent="0" marL="0">
              <a:lnSpc>
                <a:spcPts val="1876"/>
              </a:lnSpc>
              <a:buNone/>
            </a:pPr>
            <a:r>
              <a:rPr lang="en-US" sz="1631" b="1" spc="28" kern="0" dirty="0">
                <a:solidFill>
                  <a:srgbClr val="1F3864"/>
                </a:solidFill>
                <a:latin typeface="Carlito" pitchFamily="34" charset="0"/>
                <a:ea typeface="Carlito" pitchFamily="34" charset="-122"/>
                <a:cs typeface="Carlito" pitchFamily="34" charset="-120"/>
              </a:rPr>
              <a:t>CONCLUSION &amp; REFERENCES</a:t>
            </a:r>
            <a:endParaRPr lang="en-US" sz="1631" dirty="0"/>
          </a:p>
        </p:txBody>
      </p:sp>
      <p:sp>
        <p:nvSpPr>
          <p:cNvPr id="3" name="Text 1"/>
          <p:cNvSpPr/>
          <p:nvPr/>
        </p:nvSpPr>
        <p:spPr>
          <a:xfrm>
            <a:off x="400050" y="502518"/>
            <a:ext cx="457200" cy="35719"/>
          </a:xfrm>
          <a:prstGeom prst="roundRect">
            <a:avLst>
              <a:gd name="adj" fmla="val 53333"/>
            </a:avLst>
          </a:prstGeom>
          <a:solidFill>
            <a:srgbClr val="E86A27"/>
          </a:solidFill>
          <a:ln/>
        </p:spPr>
        <p:txBody>
          <a:bodyPr wrap="square" rtlCol="0" anchor="ctr"/>
          <a:lstStyle/>
          <a:p>
            <a:pPr indent="0" marL="0">
              <a:buNone/>
            </a:pPr>
            <a:endParaRPr lang="en-US" dirty="0"/>
          </a:p>
        </p:txBody>
      </p:sp>
      <p:pic>
        <p:nvPicPr>
          <p:cNvPr id="4" name="Image 0" descr="/home/z/my-project/download/slides/logo.png">    </p:cNvPr>
          <p:cNvPicPr>
            <a:picLocks noChangeAspect="1"/>
          </p:cNvPicPr>
          <p:nvPr/>
        </p:nvPicPr>
        <p:blipFill>
          <a:blip r:embed="rId1"/>
          <a:stretch>
            <a:fillRect/>
          </a:stretch>
        </p:blipFill>
        <p:spPr>
          <a:xfrm>
            <a:off x="8015288" y="200025"/>
            <a:ext cx="728663" cy="735583"/>
          </a:xfrm>
          <a:prstGeom prst="rect">
            <a:avLst/>
          </a:prstGeom>
        </p:spPr>
      </p:pic>
      <p:sp>
        <p:nvSpPr>
          <p:cNvPr id="5" name="Text 2"/>
          <p:cNvSpPr/>
          <p:nvPr/>
        </p:nvSpPr>
        <p:spPr>
          <a:xfrm>
            <a:off x="400050" y="1064196"/>
            <a:ext cx="3772458" cy="3693542"/>
          </a:xfrm>
          <a:prstGeom prst="roundRect">
            <a:avLst>
              <a:gd name="adj" fmla="val 3095"/>
            </a:avLst>
          </a:prstGeom>
          <a:solidFill>
            <a:srgbClr val="10243E"/>
          </a:solidFill>
          <a:ln/>
        </p:spPr>
        <p:txBody>
          <a:bodyPr wrap="square" rtlCol="0" anchor="ctr"/>
          <a:lstStyle/>
          <a:p>
            <a:pPr indent="0" marL="0">
              <a:buNone/>
            </a:pPr>
            <a:endParaRPr lang="en-US" dirty="0"/>
          </a:p>
        </p:txBody>
      </p:sp>
      <p:sp>
        <p:nvSpPr>
          <p:cNvPr id="6" name="Text 3"/>
          <p:cNvSpPr/>
          <p:nvPr/>
        </p:nvSpPr>
        <p:spPr>
          <a:xfrm>
            <a:off x="600075" y="1305297"/>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7" name="Text 4"/>
          <p:cNvSpPr/>
          <p:nvPr/>
        </p:nvSpPr>
        <p:spPr>
          <a:xfrm>
            <a:off x="850106" y="1249933"/>
            <a:ext cx="3122377" cy="164592"/>
          </a:xfrm>
          <a:prstGeom prst="rect">
            <a:avLst/>
          </a:prstGeom>
          <a:noFill/>
          <a:ln/>
        </p:spPr>
        <p:txBody>
          <a:bodyPr wrap="none" lIns="0" tIns="0" rIns="0" bIns="0" rtlCol="0" anchor="t"/>
          <a:lstStyle/>
          <a:p>
            <a:pPr algn="l" indent="0" marL="0">
              <a:lnSpc>
                <a:spcPts val="1097"/>
              </a:lnSpc>
              <a:buNone/>
            </a:pPr>
            <a:r>
              <a:rPr lang="en-US" sz="800" b="1" spc="135" kern="0" dirty="0">
                <a:solidFill>
                  <a:srgbClr val="E86A27"/>
                </a:solidFill>
                <a:latin typeface="Carlito" pitchFamily="34" charset="0"/>
                <a:ea typeface="Carlito" pitchFamily="34" charset="-122"/>
                <a:cs typeface="Carlito" pitchFamily="34" charset="-120"/>
              </a:rPr>
              <a:t>CONCLUSION</a:t>
            </a:r>
            <a:endParaRPr lang="en-US" sz="800" dirty="0"/>
          </a:p>
        </p:txBody>
      </p:sp>
      <p:sp>
        <p:nvSpPr>
          <p:cNvPr id="8" name="Text 5"/>
          <p:cNvSpPr/>
          <p:nvPr/>
        </p:nvSpPr>
        <p:spPr>
          <a:xfrm>
            <a:off x="600075" y="1489249"/>
            <a:ext cx="3372408" cy="651447"/>
          </a:xfrm>
          <a:prstGeom prst="rect">
            <a:avLst/>
          </a:prstGeom>
          <a:noFill/>
          <a:ln/>
        </p:spPr>
        <p:txBody>
          <a:bodyPr wrap="square" lIns="0" tIns="0" rIns="0" bIns="0" rtlCol="0" anchor="t">
            <a:normAutofit/>
          </a:bodyPr>
          <a:lstStyle/>
          <a:p>
            <a:pPr algn="l" indent="0" marL="0">
              <a:lnSpc>
                <a:spcPts val="1595"/>
              </a:lnSpc>
              <a:buNone/>
            </a:pPr>
            <a:r>
              <a:rPr lang="en-US" sz="984" dirty="0">
                <a:solidFill>
                  <a:srgbClr val="FFFFFF"/>
                </a:solidFill>
                <a:latin typeface="Carlito" pitchFamily="34" charset="0"/>
                <a:ea typeface="Carlito" pitchFamily="34" charset="-122"/>
                <a:cs typeface="Carlito" pitchFamily="34" charset="-120"/>
              </a:rPr>
              <a:t>Land Ledger proves that trustworthy digital land administration can be built end-to-end with open technology.</a:t>
            </a:r>
            <a:endParaRPr lang="en-US" sz="984" dirty="0"/>
          </a:p>
        </p:txBody>
      </p:sp>
      <p:sp>
        <p:nvSpPr>
          <p:cNvPr id="9" name="Text 6"/>
          <p:cNvSpPr/>
          <p:nvPr/>
        </p:nvSpPr>
        <p:spPr>
          <a:xfrm>
            <a:off x="600075" y="2492499"/>
            <a:ext cx="157163" cy="157163"/>
          </a:xfrm>
          <a:prstGeom prst="rect">
            <a:avLst/>
          </a:prstGeom>
          <a:noFill/>
          <a:ln/>
        </p:spPr>
        <p:txBody>
          <a:bodyPr wrap="none" lIns="0" tIns="0" rIns="0" bIns="0" rtlCol="0" anchor="ctr"/>
          <a:lstStyle/>
          <a:p>
            <a:pPr algn="ctr" indent="0" marL="0">
              <a:buNone/>
            </a:pPr>
            <a:r>
              <a:rPr lang="en-US" sz="1547" dirty="0">
                <a:solidFill>
                  <a:srgbClr val="E86A27"/>
                </a:solidFill>
                <a:latin typeface="Segoe UI Symbol" pitchFamily="34" charset="0"/>
                <a:ea typeface="Segoe UI Symbol" pitchFamily="34" charset="-122"/>
                <a:cs typeface="Segoe UI Symbol" pitchFamily="34" charset="-120"/>
              </a:rPr>
              <a:t>✓</a:t>
            </a:r>
            <a:endParaRPr lang="en-US" sz="1547" dirty="0"/>
          </a:p>
        </p:txBody>
      </p:sp>
      <p:sp>
        <p:nvSpPr>
          <p:cNvPr id="10" name="Text 7"/>
          <p:cNvSpPr/>
          <p:nvPr/>
        </p:nvSpPr>
        <p:spPr>
          <a:xfrm>
            <a:off x="850106" y="2416820"/>
            <a:ext cx="3122377" cy="351028"/>
          </a:xfrm>
          <a:prstGeom prst="rect">
            <a:avLst/>
          </a:prstGeom>
          <a:noFill/>
          <a:ln/>
        </p:spPr>
        <p:txBody>
          <a:bodyPr wrap="square" lIns="0" tIns="0" rIns="0" bIns="0" rtlCol="0" anchor="t"/>
          <a:lstStyle/>
          <a:p>
            <a:pPr algn="l" indent="0" marL="0">
              <a:lnSpc>
                <a:spcPts val="1215"/>
              </a:lnSpc>
              <a:buNone/>
            </a:pPr>
            <a:r>
              <a:rPr lang="en-US" sz="800" dirty="0">
                <a:solidFill>
                  <a:srgbClr val="EFF4F9"/>
                </a:solidFill>
                <a:latin typeface="Carlito" pitchFamily="34" charset="0"/>
                <a:ea typeface="Carlito" pitchFamily="34" charset="-122"/>
                <a:cs typeface="Carlito" pitchFamily="34" charset="-120"/>
              </a:rPr>
              <a:t>Every record hashed, every transfer fraud-screened before approval</a:t>
            </a:r>
            <a:endParaRPr lang="en-US" sz="800" dirty="0"/>
          </a:p>
        </p:txBody>
      </p:sp>
      <p:sp>
        <p:nvSpPr>
          <p:cNvPr id="11" name="Shape 8"/>
          <p:cNvSpPr/>
          <p:nvPr/>
        </p:nvSpPr>
        <p:spPr>
          <a:xfrm>
            <a:off x="600075" y="2977716"/>
            <a:ext cx="3372408" cy="0"/>
          </a:xfrm>
          <a:prstGeom prst="line">
            <a:avLst/>
          </a:prstGeom>
          <a:noFill/>
          <a:ln w="7144">
            <a:solidFill>
              <a:srgbClr val="FFFFFF"/>
            </a:solidFill>
            <a:prstDash val="solid"/>
          </a:ln>
        </p:spPr>
      </p:sp>
      <p:sp>
        <p:nvSpPr>
          <p:cNvPr id="12" name="Text 9"/>
          <p:cNvSpPr/>
          <p:nvPr/>
        </p:nvSpPr>
        <p:spPr>
          <a:xfrm>
            <a:off x="600075" y="3305770"/>
            <a:ext cx="157163" cy="157163"/>
          </a:xfrm>
          <a:prstGeom prst="rect">
            <a:avLst/>
          </a:prstGeom>
          <a:noFill/>
          <a:ln/>
        </p:spPr>
        <p:txBody>
          <a:bodyPr wrap="none" lIns="0" tIns="0" rIns="0" bIns="0" rtlCol="0" anchor="ctr"/>
          <a:lstStyle/>
          <a:p>
            <a:pPr algn="ctr" indent="0" marL="0">
              <a:buNone/>
            </a:pPr>
            <a:r>
              <a:rPr lang="en-US" sz="1547" dirty="0">
                <a:solidFill>
                  <a:srgbClr val="E86A27"/>
                </a:solidFill>
                <a:latin typeface="Segoe UI Symbol" pitchFamily="34" charset="0"/>
                <a:ea typeface="Segoe UI Symbol" pitchFamily="34" charset="-122"/>
                <a:cs typeface="Segoe UI Symbol" pitchFamily="34" charset="-120"/>
              </a:rPr>
              <a:t>✓</a:t>
            </a:r>
            <a:endParaRPr lang="en-US" sz="1547" dirty="0"/>
          </a:p>
        </p:txBody>
      </p:sp>
      <p:sp>
        <p:nvSpPr>
          <p:cNvPr id="13" name="Text 10"/>
          <p:cNvSpPr/>
          <p:nvPr/>
        </p:nvSpPr>
        <p:spPr>
          <a:xfrm>
            <a:off x="850106" y="3307221"/>
            <a:ext cx="3122377" cy="175514"/>
          </a:xfrm>
          <a:prstGeom prst="rect">
            <a:avLst/>
          </a:prstGeom>
          <a:noFill/>
          <a:ln/>
        </p:spPr>
        <p:txBody>
          <a:bodyPr wrap="square" lIns="0" tIns="0" rIns="0" bIns="0" rtlCol="0" anchor="t"/>
          <a:lstStyle/>
          <a:p>
            <a:pPr algn="l" indent="0" marL="0">
              <a:lnSpc>
                <a:spcPts val="1215"/>
              </a:lnSpc>
              <a:buNone/>
            </a:pPr>
            <a:r>
              <a:rPr lang="en-US" sz="759" dirty="0">
                <a:solidFill>
                  <a:srgbClr val="EFF4F9"/>
                </a:solidFill>
                <a:latin typeface="Carlito" pitchFamily="34" charset="0"/>
                <a:ea typeface="Carlito" pitchFamily="34" charset="-122"/>
                <a:cs typeface="Carlito" pitchFamily="34" charset="-120"/>
              </a:rPr>
              <a:t>Ownership settled on an immutable ledger with full provenance</a:t>
            </a:r>
            <a:endParaRPr lang="en-US" sz="759" dirty="0"/>
          </a:p>
        </p:txBody>
      </p:sp>
      <p:sp>
        <p:nvSpPr>
          <p:cNvPr id="14" name="Shape 11"/>
          <p:cNvSpPr/>
          <p:nvPr/>
        </p:nvSpPr>
        <p:spPr>
          <a:xfrm>
            <a:off x="600075" y="3790987"/>
            <a:ext cx="3372408" cy="0"/>
          </a:xfrm>
          <a:prstGeom prst="line">
            <a:avLst/>
          </a:prstGeom>
          <a:noFill/>
          <a:ln w="7144">
            <a:solidFill>
              <a:srgbClr val="FFFFFF"/>
            </a:solidFill>
            <a:prstDash val="solid"/>
          </a:ln>
        </p:spPr>
      </p:sp>
      <p:sp>
        <p:nvSpPr>
          <p:cNvPr id="15" name="Text 12"/>
          <p:cNvSpPr/>
          <p:nvPr/>
        </p:nvSpPr>
        <p:spPr>
          <a:xfrm>
            <a:off x="600075" y="4118930"/>
            <a:ext cx="157163" cy="157163"/>
          </a:xfrm>
          <a:prstGeom prst="rect">
            <a:avLst/>
          </a:prstGeom>
          <a:noFill/>
          <a:ln/>
        </p:spPr>
        <p:txBody>
          <a:bodyPr wrap="none" lIns="0" tIns="0" rIns="0" bIns="0" rtlCol="0" anchor="ctr"/>
          <a:lstStyle/>
          <a:p>
            <a:pPr algn="ctr" indent="0" marL="0">
              <a:buNone/>
            </a:pPr>
            <a:r>
              <a:rPr lang="en-US" sz="1547" dirty="0">
                <a:solidFill>
                  <a:srgbClr val="E86A27"/>
                </a:solidFill>
                <a:latin typeface="Segoe UI Symbol" pitchFamily="34" charset="0"/>
                <a:ea typeface="Segoe UI Symbol" pitchFamily="34" charset="-122"/>
                <a:cs typeface="Segoe UI Symbol" pitchFamily="34" charset="-120"/>
              </a:rPr>
              <a:t>✓</a:t>
            </a:r>
            <a:endParaRPr lang="en-US" sz="1547" dirty="0"/>
          </a:p>
        </p:txBody>
      </p:sp>
      <p:sp>
        <p:nvSpPr>
          <p:cNvPr id="16" name="Text 13"/>
          <p:cNvSpPr/>
          <p:nvPr/>
        </p:nvSpPr>
        <p:spPr>
          <a:xfrm>
            <a:off x="850106" y="4043251"/>
            <a:ext cx="3122377" cy="351028"/>
          </a:xfrm>
          <a:prstGeom prst="rect">
            <a:avLst/>
          </a:prstGeom>
          <a:noFill/>
          <a:ln/>
        </p:spPr>
        <p:txBody>
          <a:bodyPr wrap="square" lIns="0" tIns="0" rIns="0" bIns="0" rtlCol="0" anchor="t"/>
          <a:lstStyle/>
          <a:p>
            <a:pPr algn="l" indent="0" marL="0">
              <a:lnSpc>
                <a:spcPts val="1215"/>
              </a:lnSpc>
              <a:buNone/>
            </a:pPr>
            <a:r>
              <a:rPr lang="en-US" sz="800" dirty="0">
                <a:solidFill>
                  <a:srgbClr val="EFF4F9"/>
                </a:solidFill>
                <a:latin typeface="Carlito" pitchFamily="34" charset="0"/>
                <a:ea typeface="Carlito" pitchFamily="34" charset="-122"/>
                <a:cs typeface="Carlito" pitchFamily="34" charset="-120"/>
              </a:rPr>
              <a:t>Every action audited — available 24/7 from the cloud with nothing more than a browser and an internet connection.</a:t>
            </a:r>
            <a:endParaRPr lang="en-US" sz="800" dirty="0"/>
          </a:p>
        </p:txBody>
      </p:sp>
      <p:sp>
        <p:nvSpPr>
          <p:cNvPr id="17" name="Text 14"/>
          <p:cNvSpPr/>
          <p:nvPr/>
        </p:nvSpPr>
        <p:spPr>
          <a:xfrm>
            <a:off x="4318955" y="1067767"/>
            <a:ext cx="4421312" cy="3686398"/>
          </a:xfrm>
          <a:prstGeom prst="roundRect">
            <a:avLst>
              <a:gd name="adj" fmla="val 2584"/>
            </a:avLst>
          </a:prstGeom>
          <a:solidFill>
            <a:srgbClr val="FFFFFF"/>
          </a:solidFill>
          <a:ln w="7144">
            <a:solidFill>
              <a:srgbClr val="D9E0E8"/>
            </a:solidFill>
            <a:prstDash val="solid"/>
          </a:ln>
        </p:spPr>
        <p:txBody>
          <a:bodyPr wrap="square" rtlCol="0" anchor="ctr"/>
          <a:lstStyle/>
          <a:p>
            <a:pPr indent="0" marL="0">
              <a:buNone/>
            </a:pPr>
            <a:endParaRPr lang="en-US" dirty="0"/>
          </a:p>
        </p:txBody>
      </p:sp>
      <p:sp>
        <p:nvSpPr>
          <p:cNvPr id="18" name="Text 15"/>
          <p:cNvSpPr/>
          <p:nvPr/>
        </p:nvSpPr>
        <p:spPr>
          <a:xfrm>
            <a:off x="4508264" y="1214214"/>
            <a:ext cx="4042693" cy="208312"/>
          </a:xfrm>
          <a:prstGeom prst="rect">
            <a:avLst/>
          </a:prstGeom>
          <a:noFill/>
          <a:ln/>
        </p:spPr>
        <p:txBody>
          <a:bodyPr wrap="none" lIns="0" tIns="0" rIns="0" bIns="0" rtlCol="0" anchor="t"/>
          <a:lstStyle/>
          <a:p>
            <a:pPr algn="l" indent="0" marL="0">
              <a:lnSpc>
                <a:spcPts val="1519"/>
              </a:lnSpc>
              <a:buNone/>
            </a:pPr>
            <a:r>
              <a:rPr lang="en-US" sz="1013" b="1" dirty="0">
                <a:solidFill>
                  <a:srgbClr val="1F3864"/>
                </a:solidFill>
                <a:latin typeface="Carlito" pitchFamily="34" charset="0"/>
                <a:ea typeface="Carlito" pitchFamily="34" charset="-122"/>
                <a:cs typeface="Carlito" pitchFamily="34" charset="-120"/>
              </a:rPr>
              <a:t>References</a:t>
            </a:r>
            <a:endParaRPr lang="en-US" sz="1013" dirty="0"/>
          </a:p>
        </p:txBody>
      </p:sp>
      <p:sp>
        <p:nvSpPr>
          <p:cNvPr id="19" name="Text 16"/>
          <p:cNvSpPr/>
          <p:nvPr/>
        </p:nvSpPr>
        <p:spPr>
          <a:xfrm>
            <a:off x="4508264" y="1499964"/>
            <a:ext cx="185738" cy="28575"/>
          </a:xfrm>
          <a:prstGeom prst="roundRect">
            <a:avLst>
              <a:gd name="adj" fmla="val 66667"/>
            </a:avLst>
          </a:prstGeom>
          <a:solidFill>
            <a:srgbClr val="E86A27"/>
          </a:solidFill>
          <a:ln/>
        </p:spPr>
        <p:txBody>
          <a:bodyPr wrap="square" rtlCol="0" anchor="ctr"/>
          <a:lstStyle/>
          <a:p>
            <a:pPr indent="0" marL="0">
              <a:buNone/>
            </a:pPr>
            <a:endParaRPr lang="en-US" dirty="0"/>
          </a:p>
        </p:txBody>
      </p:sp>
      <p:sp>
        <p:nvSpPr>
          <p:cNvPr id="20" name="Text 17"/>
          <p:cNvSpPr/>
          <p:nvPr/>
        </p:nvSpPr>
        <p:spPr>
          <a:xfrm>
            <a:off x="4508264" y="1755018"/>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21" name="Text 18"/>
          <p:cNvSpPr/>
          <p:nvPr/>
        </p:nvSpPr>
        <p:spPr>
          <a:xfrm>
            <a:off x="4508264" y="1755018"/>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1</a:t>
            </a:r>
            <a:endParaRPr lang="en-US" sz="800" dirty="0"/>
          </a:p>
        </p:txBody>
      </p:sp>
      <p:sp>
        <p:nvSpPr>
          <p:cNvPr id="22" name="Text 19"/>
          <p:cNvSpPr/>
          <p:nvPr/>
        </p:nvSpPr>
        <p:spPr>
          <a:xfrm>
            <a:off x="4751152" y="1711821"/>
            <a:ext cx="3799805" cy="340094"/>
          </a:xfrm>
          <a:prstGeom prst="rect">
            <a:avLst/>
          </a:prstGeom>
          <a:noFill/>
          <a:ln/>
        </p:spPr>
        <p:txBody>
          <a:bodyPr wrap="square" lIns="0" tIns="0" rIns="0" bIns="0" rtlCol="0" anchor="t"/>
          <a:lstStyle/>
          <a:p>
            <a:pPr algn="l" indent="0" marL="0">
              <a:lnSpc>
                <a:spcPts val="959"/>
              </a:lnSpc>
              <a:buNone/>
            </a:pPr>
            <a:r>
              <a:rPr lang="en-US" sz="800" dirty="0">
                <a:solidFill>
                  <a:srgbClr val="24313F"/>
                </a:solidFill>
                <a:latin typeface="Carlito" pitchFamily="34" charset="0"/>
                <a:ea typeface="Carlito" pitchFamily="34" charset="-122"/>
                <a:cs typeface="Carlito" pitchFamily="34" charset="-120"/>
              </a:rPr>
              <a:t>Department of Land Resources, Govt. of India</a:t>
            </a:r>
            <a:pPr algn="l" indent="0" marL="0">
              <a:lnSpc>
                <a:spcPts val="959"/>
              </a:lnSpc>
              <a:buNone/>
            </a:pPr>
            <a:r>
              <a:rPr lang="en-US" sz="800" dirty="0">
                <a:solidFill>
                  <a:srgbClr val="5D6B7A"/>
                </a:solidFill>
                <a:latin typeface="Carlito" pitchFamily="34" charset="0"/>
                <a:ea typeface="Carlito" pitchFamily="34" charset="-122"/>
                <a:cs typeface="Carlito" pitchFamily="34" charset="-120"/>
              </a:rPr>
              <a:t> — Digital India Land Records Modernization Programme (DILRMP).</a:t>
            </a:r>
            <a:endParaRPr lang="en-US" sz="800" dirty="0"/>
          </a:p>
        </p:txBody>
      </p:sp>
      <p:sp>
        <p:nvSpPr>
          <p:cNvPr id="23" name="Shape 20"/>
          <p:cNvSpPr/>
          <p:nvPr/>
        </p:nvSpPr>
        <p:spPr>
          <a:xfrm>
            <a:off x="4508264" y="2049475"/>
            <a:ext cx="4042693" cy="0"/>
          </a:xfrm>
          <a:prstGeom prst="line">
            <a:avLst/>
          </a:prstGeom>
          <a:noFill/>
          <a:ln w="7144">
            <a:solidFill>
              <a:srgbClr val="D9E0E8"/>
            </a:solidFill>
            <a:prstDash val="solid"/>
          </a:ln>
        </p:spPr>
      </p:sp>
      <p:sp>
        <p:nvSpPr>
          <p:cNvPr id="24" name="Text 21"/>
          <p:cNvSpPr/>
          <p:nvPr/>
        </p:nvSpPr>
        <p:spPr>
          <a:xfrm>
            <a:off x="4508264" y="2186769"/>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25" name="Text 22"/>
          <p:cNvSpPr/>
          <p:nvPr/>
        </p:nvSpPr>
        <p:spPr>
          <a:xfrm>
            <a:off x="4508264" y="2186769"/>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2</a:t>
            </a:r>
            <a:endParaRPr lang="en-US" sz="800" dirty="0"/>
          </a:p>
        </p:txBody>
      </p:sp>
      <p:sp>
        <p:nvSpPr>
          <p:cNvPr id="26" name="Text 23"/>
          <p:cNvSpPr/>
          <p:nvPr/>
        </p:nvSpPr>
        <p:spPr>
          <a:xfrm>
            <a:off x="4751152" y="2204405"/>
            <a:ext cx="3799805" cy="170047"/>
          </a:xfrm>
          <a:prstGeom prst="rect">
            <a:avLst/>
          </a:prstGeom>
          <a:noFill/>
          <a:ln/>
        </p:spPr>
        <p:txBody>
          <a:bodyPr wrap="square" lIns="0" tIns="0" rIns="0" bIns="0" rtlCol="0" anchor="t"/>
          <a:lstStyle/>
          <a:p>
            <a:pPr algn="l" indent="0" marL="0">
              <a:lnSpc>
                <a:spcPts val="959"/>
              </a:lnSpc>
              <a:buNone/>
            </a:pPr>
            <a:r>
              <a:rPr lang="en-US" sz="619" dirty="0">
                <a:solidFill>
                  <a:srgbClr val="24313F"/>
                </a:solidFill>
                <a:latin typeface="Carlito" pitchFamily="34" charset="0"/>
                <a:ea typeface="Carlito" pitchFamily="34" charset="-122"/>
                <a:cs typeface="Carlito" pitchFamily="34" charset="-120"/>
              </a:rPr>
              <a:t>Daksh</a:t>
            </a:r>
            <a:pPr algn="l" indent="0" marL="0">
              <a:lnSpc>
                <a:spcPts val="959"/>
              </a:lnSpc>
              <a:buNone/>
            </a:pPr>
            <a:r>
              <a:rPr lang="en-US" sz="619" dirty="0">
                <a:solidFill>
                  <a:srgbClr val="5D6B7A"/>
                </a:solidFill>
                <a:latin typeface="Carlito" pitchFamily="34" charset="0"/>
                <a:ea typeface="Carlito" pitchFamily="34" charset="-122"/>
                <a:cs typeface="Carlito" pitchFamily="34" charset="-120"/>
              </a:rPr>
              <a:t> — Access to Justice surveys on land/property share of civil litigation in India.</a:t>
            </a:r>
            <a:endParaRPr lang="en-US" sz="619" dirty="0"/>
          </a:p>
        </p:txBody>
      </p:sp>
      <p:sp>
        <p:nvSpPr>
          <p:cNvPr id="27" name="Shape 24"/>
          <p:cNvSpPr/>
          <p:nvPr/>
        </p:nvSpPr>
        <p:spPr>
          <a:xfrm>
            <a:off x="4508264" y="2481225"/>
            <a:ext cx="4042693" cy="0"/>
          </a:xfrm>
          <a:prstGeom prst="line">
            <a:avLst/>
          </a:prstGeom>
          <a:noFill/>
          <a:ln w="7144">
            <a:solidFill>
              <a:srgbClr val="D9E0E8"/>
            </a:solidFill>
            <a:prstDash val="solid"/>
          </a:ln>
        </p:spPr>
      </p:sp>
      <p:sp>
        <p:nvSpPr>
          <p:cNvPr id="28" name="Text 25"/>
          <p:cNvSpPr/>
          <p:nvPr/>
        </p:nvSpPr>
        <p:spPr>
          <a:xfrm>
            <a:off x="4508264" y="2618408"/>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29" name="Text 26"/>
          <p:cNvSpPr/>
          <p:nvPr/>
        </p:nvSpPr>
        <p:spPr>
          <a:xfrm>
            <a:off x="4508264" y="2618408"/>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3</a:t>
            </a:r>
            <a:endParaRPr lang="en-US" sz="800" dirty="0"/>
          </a:p>
        </p:txBody>
      </p:sp>
      <p:sp>
        <p:nvSpPr>
          <p:cNvPr id="30" name="Text 27"/>
          <p:cNvSpPr/>
          <p:nvPr/>
        </p:nvSpPr>
        <p:spPr>
          <a:xfrm>
            <a:off x="4751152" y="2636155"/>
            <a:ext cx="3799805" cy="170047"/>
          </a:xfrm>
          <a:prstGeom prst="rect">
            <a:avLst/>
          </a:prstGeom>
          <a:noFill/>
          <a:ln/>
        </p:spPr>
        <p:txBody>
          <a:bodyPr wrap="square" lIns="0" tIns="0" rIns="0" bIns="0" rtlCol="0" anchor="t"/>
          <a:lstStyle/>
          <a:p>
            <a:pPr algn="l" indent="0" marL="0">
              <a:lnSpc>
                <a:spcPts val="959"/>
              </a:lnSpc>
              <a:buNone/>
            </a:pPr>
            <a:r>
              <a:rPr lang="en-US" sz="800" dirty="0">
                <a:solidFill>
                  <a:srgbClr val="24313F"/>
                </a:solidFill>
                <a:latin typeface="Carlito" pitchFamily="34" charset="0"/>
                <a:ea typeface="Carlito" pitchFamily="34" charset="-122"/>
                <a:cs typeface="Carlito" pitchFamily="34" charset="-120"/>
              </a:rPr>
              <a:t>Ethereum Foundation</a:t>
            </a:r>
            <a:pPr algn="l" indent="0" marL="0">
              <a:lnSpc>
                <a:spcPts val="959"/>
              </a:lnSpc>
              <a:buNone/>
            </a:pPr>
            <a:r>
              <a:rPr lang="en-US" sz="800" dirty="0">
                <a:solidFill>
                  <a:srgbClr val="5D6B7A"/>
                </a:solidFill>
                <a:latin typeface="Carlito" pitchFamily="34" charset="0"/>
                <a:ea typeface="Carlito" pitchFamily="34" charset="-122"/>
                <a:cs typeface="Carlito" pitchFamily="34" charset="-120"/>
              </a:rPr>
              <a:t> — Solidity 0.8.x language documentation.</a:t>
            </a:r>
            <a:endParaRPr lang="en-US" sz="800" dirty="0"/>
          </a:p>
        </p:txBody>
      </p:sp>
      <p:sp>
        <p:nvSpPr>
          <p:cNvPr id="31" name="Shape 28"/>
          <p:cNvSpPr/>
          <p:nvPr/>
        </p:nvSpPr>
        <p:spPr>
          <a:xfrm>
            <a:off x="4508264" y="2912864"/>
            <a:ext cx="4042693" cy="0"/>
          </a:xfrm>
          <a:prstGeom prst="line">
            <a:avLst/>
          </a:prstGeom>
          <a:noFill/>
          <a:ln w="7144">
            <a:solidFill>
              <a:srgbClr val="D9E0E8"/>
            </a:solidFill>
            <a:prstDash val="solid"/>
          </a:ln>
        </p:spPr>
      </p:sp>
      <p:sp>
        <p:nvSpPr>
          <p:cNvPr id="32" name="Text 29"/>
          <p:cNvSpPr/>
          <p:nvPr/>
        </p:nvSpPr>
        <p:spPr>
          <a:xfrm>
            <a:off x="4508264" y="3050158"/>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33" name="Text 30"/>
          <p:cNvSpPr/>
          <p:nvPr/>
        </p:nvSpPr>
        <p:spPr>
          <a:xfrm>
            <a:off x="4508264" y="3050158"/>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4</a:t>
            </a:r>
            <a:endParaRPr lang="en-US" sz="800" dirty="0"/>
          </a:p>
        </p:txBody>
      </p:sp>
      <p:sp>
        <p:nvSpPr>
          <p:cNvPr id="34" name="Text 31"/>
          <p:cNvSpPr/>
          <p:nvPr/>
        </p:nvSpPr>
        <p:spPr>
          <a:xfrm>
            <a:off x="4751152" y="3067794"/>
            <a:ext cx="3799805" cy="170047"/>
          </a:xfrm>
          <a:prstGeom prst="rect">
            <a:avLst/>
          </a:prstGeom>
          <a:noFill/>
          <a:ln/>
        </p:spPr>
        <p:txBody>
          <a:bodyPr wrap="square" lIns="0" tIns="0" rIns="0" bIns="0" rtlCol="0" anchor="t"/>
          <a:lstStyle/>
          <a:p>
            <a:pPr algn="l" indent="0" marL="0">
              <a:lnSpc>
                <a:spcPts val="959"/>
              </a:lnSpc>
              <a:buNone/>
            </a:pPr>
            <a:r>
              <a:rPr lang="en-US" sz="619" dirty="0">
                <a:solidFill>
                  <a:srgbClr val="24313F"/>
                </a:solidFill>
                <a:latin typeface="Carlito" pitchFamily="34" charset="0"/>
                <a:ea typeface="Carlito" pitchFamily="34" charset="-122"/>
                <a:cs typeface="Carlito" pitchFamily="34" charset="-120"/>
              </a:rPr>
              <a:t>Nomic Foundation</a:t>
            </a:r>
            <a:pPr algn="l" indent="0" marL="0">
              <a:lnSpc>
                <a:spcPts val="959"/>
              </a:lnSpc>
              <a:buNone/>
            </a:pPr>
            <a:r>
              <a:rPr lang="en-US" sz="619" dirty="0">
                <a:solidFill>
                  <a:srgbClr val="5D6B7A"/>
                </a:solidFill>
                <a:latin typeface="Carlito" pitchFamily="34" charset="0"/>
                <a:ea typeface="Carlito" pitchFamily="34" charset="-122"/>
                <a:cs typeface="Carlito" pitchFamily="34" charset="-120"/>
              </a:rPr>
              <a:t> — Hardhat and ethers.js v6 developer documentation.</a:t>
            </a:r>
            <a:endParaRPr lang="en-US" sz="619" dirty="0"/>
          </a:p>
        </p:txBody>
      </p:sp>
      <p:sp>
        <p:nvSpPr>
          <p:cNvPr id="35" name="Shape 32"/>
          <p:cNvSpPr/>
          <p:nvPr/>
        </p:nvSpPr>
        <p:spPr>
          <a:xfrm>
            <a:off x="4508264" y="3344614"/>
            <a:ext cx="4042693" cy="0"/>
          </a:xfrm>
          <a:prstGeom prst="line">
            <a:avLst/>
          </a:prstGeom>
          <a:noFill/>
          <a:ln w="7144">
            <a:solidFill>
              <a:srgbClr val="D9E0E8"/>
            </a:solidFill>
            <a:prstDash val="solid"/>
          </a:ln>
        </p:spPr>
      </p:sp>
      <p:sp>
        <p:nvSpPr>
          <p:cNvPr id="36" name="Text 33"/>
          <p:cNvSpPr/>
          <p:nvPr/>
        </p:nvSpPr>
        <p:spPr>
          <a:xfrm>
            <a:off x="4508264" y="3481908"/>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37" name="Text 34"/>
          <p:cNvSpPr/>
          <p:nvPr/>
        </p:nvSpPr>
        <p:spPr>
          <a:xfrm>
            <a:off x="4508264" y="3481908"/>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5</a:t>
            </a:r>
            <a:endParaRPr lang="en-US" sz="800" dirty="0"/>
          </a:p>
        </p:txBody>
      </p:sp>
      <p:sp>
        <p:nvSpPr>
          <p:cNvPr id="38" name="Text 35"/>
          <p:cNvSpPr/>
          <p:nvPr/>
        </p:nvSpPr>
        <p:spPr>
          <a:xfrm>
            <a:off x="4751152" y="3499545"/>
            <a:ext cx="3799805" cy="170047"/>
          </a:xfrm>
          <a:prstGeom prst="rect">
            <a:avLst/>
          </a:prstGeom>
          <a:noFill/>
          <a:ln/>
        </p:spPr>
        <p:txBody>
          <a:bodyPr wrap="square" lIns="0" tIns="0" rIns="0" bIns="0" rtlCol="0" anchor="t"/>
          <a:lstStyle/>
          <a:p>
            <a:pPr algn="l" indent="0" marL="0">
              <a:lnSpc>
                <a:spcPts val="959"/>
              </a:lnSpc>
              <a:buNone/>
            </a:pPr>
            <a:r>
              <a:rPr lang="en-US" sz="800" dirty="0">
                <a:solidFill>
                  <a:srgbClr val="24313F"/>
                </a:solidFill>
                <a:latin typeface="Carlito" pitchFamily="34" charset="0"/>
                <a:ea typeface="Carlito" pitchFamily="34" charset="-122"/>
                <a:cs typeface="Carlito" pitchFamily="34" charset="-120"/>
              </a:rPr>
              <a:t>MongoDB Inc.</a:t>
            </a:r>
            <a:pPr algn="l" indent="0" marL="0">
              <a:lnSpc>
                <a:spcPts val="959"/>
              </a:lnSpc>
              <a:buNone/>
            </a:pPr>
            <a:r>
              <a:rPr lang="en-US" sz="800" dirty="0">
                <a:solidFill>
                  <a:srgbClr val="5D6B7A"/>
                </a:solidFill>
                <a:latin typeface="Carlito" pitchFamily="34" charset="0"/>
                <a:ea typeface="Carlito" pitchFamily="34" charset="-122"/>
                <a:cs typeface="Carlito" pitchFamily="34" charset="-120"/>
              </a:rPr>
              <a:t> — MongoDB Atlas M0 and Mongoose ODM v8 documentation.</a:t>
            </a:r>
            <a:endParaRPr lang="en-US" sz="800" dirty="0"/>
          </a:p>
        </p:txBody>
      </p:sp>
      <p:sp>
        <p:nvSpPr>
          <p:cNvPr id="39" name="Shape 36"/>
          <p:cNvSpPr/>
          <p:nvPr/>
        </p:nvSpPr>
        <p:spPr>
          <a:xfrm>
            <a:off x="4508264" y="3776365"/>
            <a:ext cx="4042693" cy="0"/>
          </a:xfrm>
          <a:prstGeom prst="line">
            <a:avLst/>
          </a:prstGeom>
          <a:noFill/>
          <a:ln w="7144">
            <a:solidFill>
              <a:srgbClr val="D9E0E8"/>
            </a:solidFill>
            <a:prstDash val="solid"/>
          </a:ln>
        </p:spPr>
      </p:sp>
      <p:sp>
        <p:nvSpPr>
          <p:cNvPr id="40" name="Text 37"/>
          <p:cNvSpPr/>
          <p:nvPr/>
        </p:nvSpPr>
        <p:spPr>
          <a:xfrm>
            <a:off x="4508264" y="3913659"/>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41" name="Text 38"/>
          <p:cNvSpPr/>
          <p:nvPr/>
        </p:nvSpPr>
        <p:spPr>
          <a:xfrm>
            <a:off x="4508264" y="3913659"/>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6</a:t>
            </a:r>
            <a:endParaRPr lang="en-US" sz="800" dirty="0"/>
          </a:p>
        </p:txBody>
      </p:sp>
      <p:sp>
        <p:nvSpPr>
          <p:cNvPr id="42" name="Text 39"/>
          <p:cNvSpPr/>
          <p:nvPr/>
        </p:nvSpPr>
        <p:spPr>
          <a:xfrm>
            <a:off x="4751152" y="3931295"/>
            <a:ext cx="3799805" cy="170047"/>
          </a:xfrm>
          <a:prstGeom prst="rect">
            <a:avLst/>
          </a:prstGeom>
          <a:noFill/>
          <a:ln/>
        </p:spPr>
        <p:txBody>
          <a:bodyPr wrap="square" lIns="0" tIns="0" rIns="0" bIns="0" rtlCol="0" anchor="t"/>
          <a:lstStyle/>
          <a:p>
            <a:pPr algn="l" indent="0" marL="0">
              <a:lnSpc>
                <a:spcPts val="959"/>
              </a:lnSpc>
              <a:buNone/>
            </a:pPr>
            <a:r>
              <a:rPr lang="en-US" sz="800" dirty="0">
                <a:solidFill>
                  <a:srgbClr val="24313F"/>
                </a:solidFill>
                <a:latin typeface="Carlito" pitchFamily="34" charset="0"/>
                <a:ea typeface="Carlito" pitchFamily="34" charset="-122"/>
                <a:cs typeface="Carlito" pitchFamily="34" charset="-120"/>
              </a:rPr>
              <a:t>Meta Open Source</a:t>
            </a:r>
            <a:pPr algn="l" indent="0" marL="0">
              <a:lnSpc>
                <a:spcPts val="959"/>
              </a:lnSpc>
              <a:buNone/>
            </a:pPr>
            <a:r>
              <a:rPr lang="en-US" sz="800" dirty="0">
                <a:solidFill>
                  <a:srgbClr val="5D6B7A"/>
                </a:solidFill>
                <a:latin typeface="Carlito" pitchFamily="34" charset="0"/>
                <a:ea typeface="Carlito" pitchFamily="34" charset="-122"/>
                <a:cs typeface="Carlito" pitchFamily="34" charset="-120"/>
              </a:rPr>
              <a:t> — React 18, Vite and Tailwind CSS documentation.</a:t>
            </a:r>
            <a:endParaRPr lang="en-US" sz="800" dirty="0"/>
          </a:p>
        </p:txBody>
      </p:sp>
      <p:sp>
        <p:nvSpPr>
          <p:cNvPr id="43" name="Shape 40"/>
          <p:cNvSpPr/>
          <p:nvPr/>
        </p:nvSpPr>
        <p:spPr>
          <a:xfrm>
            <a:off x="4508264" y="4208115"/>
            <a:ext cx="4042693" cy="0"/>
          </a:xfrm>
          <a:prstGeom prst="line">
            <a:avLst/>
          </a:prstGeom>
          <a:noFill/>
          <a:ln w="7144">
            <a:solidFill>
              <a:srgbClr val="D9E0E8"/>
            </a:solidFill>
            <a:prstDash val="solid"/>
          </a:ln>
        </p:spPr>
      </p:sp>
      <p:sp>
        <p:nvSpPr>
          <p:cNvPr id="44" name="Text 41"/>
          <p:cNvSpPr/>
          <p:nvPr/>
        </p:nvSpPr>
        <p:spPr>
          <a:xfrm>
            <a:off x="4508264" y="4345409"/>
            <a:ext cx="157163" cy="157163"/>
          </a:xfrm>
          <a:prstGeom prst="roundRect">
            <a:avLst>
              <a:gd name="adj" fmla="val 36364"/>
            </a:avLst>
          </a:prstGeom>
          <a:solidFill>
            <a:srgbClr val="10243E"/>
          </a:solidFill>
          <a:ln/>
        </p:spPr>
        <p:txBody>
          <a:bodyPr wrap="square" rtlCol="0" anchor="ctr"/>
          <a:lstStyle/>
          <a:p>
            <a:pPr indent="0" marL="0">
              <a:buNone/>
            </a:pPr>
            <a:endParaRPr lang="en-US" dirty="0"/>
          </a:p>
        </p:txBody>
      </p:sp>
      <p:sp>
        <p:nvSpPr>
          <p:cNvPr id="45" name="Text 42"/>
          <p:cNvSpPr/>
          <p:nvPr/>
        </p:nvSpPr>
        <p:spPr>
          <a:xfrm>
            <a:off x="4508264" y="4345409"/>
            <a:ext cx="200025" cy="157163"/>
          </a:xfrm>
          <a:prstGeom prst="rect">
            <a:avLst/>
          </a:prstGeom>
          <a:noFill/>
          <a:ln/>
        </p:spPr>
        <p:txBody>
          <a:bodyPr wrap="none" lIns="0" tIns="0" rIns="0" bIns="0" rtlCol="0" anchor="ctr"/>
          <a:lstStyle/>
          <a:p>
            <a:pPr algn="ctr" indent="0" marL="0">
              <a:lnSpc>
                <a:spcPts val="928"/>
              </a:lnSpc>
              <a:buNone/>
            </a:pPr>
            <a:r>
              <a:rPr lang="en-US" sz="800" b="1" dirty="0">
                <a:solidFill>
                  <a:srgbClr val="E86A27"/>
                </a:solidFill>
                <a:latin typeface="Liberation Sans Narrow" pitchFamily="34" charset="0"/>
                <a:ea typeface="Liberation Sans Narrow" pitchFamily="34" charset="-122"/>
                <a:cs typeface="Liberation Sans Narrow" pitchFamily="34" charset="-120"/>
              </a:rPr>
              <a:t>7</a:t>
            </a:r>
            <a:endParaRPr lang="en-US" sz="800" dirty="0"/>
          </a:p>
        </p:txBody>
      </p:sp>
      <p:sp>
        <p:nvSpPr>
          <p:cNvPr id="46" name="Text 43"/>
          <p:cNvSpPr/>
          <p:nvPr/>
        </p:nvSpPr>
        <p:spPr>
          <a:xfrm>
            <a:off x="4751152" y="4363045"/>
            <a:ext cx="3799805" cy="170047"/>
          </a:xfrm>
          <a:prstGeom prst="rect">
            <a:avLst/>
          </a:prstGeom>
          <a:noFill/>
          <a:ln/>
        </p:spPr>
        <p:txBody>
          <a:bodyPr wrap="square" lIns="0" tIns="0" rIns="0" bIns="0" rtlCol="0" anchor="t"/>
          <a:lstStyle/>
          <a:p>
            <a:pPr algn="l" indent="0" marL="0">
              <a:lnSpc>
                <a:spcPts val="959"/>
              </a:lnSpc>
              <a:buNone/>
            </a:pPr>
            <a:r>
              <a:rPr lang="en-US" sz="619" dirty="0">
                <a:solidFill>
                  <a:srgbClr val="24313F"/>
                </a:solidFill>
                <a:latin typeface="Carlito" pitchFamily="34" charset="0"/>
                <a:ea typeface="Carlito" pitchFamily="34" charset="-122"/>
                <a:cs typeface="Carlito" pitchFamily="34" charset="-120"/>
              </a:rPr>
              <a:t>V. Lemieux</a:t>
            </a:r>
            <a:pPr algn="l" indent="0" marL="0">
              <a:lnSpc>
                <a:spcPts val="959"/>
              </a:lnSpc>
              <a:buNone/>
            </a:pPr>
            <a:r>
              <a:rPr lang="en-US" sz="619" dirty="0">
                <a:solidFill>
                  <a:srgbClr val="5D6B7A"/>
                </a:solidFill>
                <a:latin typeface="Carlito" pitchFamily="34" charset="0"/>
                <a:ea typeface="Carlito" pitchFamily="34" charset="-122"/>
                <a:cs typeface="Carlito" pitchFamily="34" charset="-120"/>
              </a:rPr>
              <a:t> — Evaluating the Use of Blockchain in Land Registries, 2019.</a:t>
            </a:r>
            <a:endParaRPr lang="en-US" sz="619" dirty="0"/>
          </a:p>
        </p:txBody>
      </p:sp>
      <p:sp>
        <p:nvSpPr>
          <p:cNvPr id="47" name="Text 44"/>
          <p:cNvSpPr/>
          <p:nvPr/>
        </p:nvSpPr>
        <p:spPr>
          <a:xfrm>
            <a:off x="0" y="4857750"/>
            <a:ext cx="5829300" cy="285750"/>
          </a:xfrm>
          <a:prstGeom prst="rect">
            <a:avLst/>
          </a:prstGeom>
          <a:solidFill>
            <a:srgbClr val="10243E"/>
          </a:solidFill>
          <a:ln/>
        </p:spPr>
        <p:txBody>
          <a:bodyPr wrap="square" rtlCol="0" anchor="ctr"/>
          <a:lstStyle/>
          <a:p>
            <a:pPr indent="0" marL="0">
              <a:buNone/>
            </a:pPr>
            <a:endParaRPr lang="en-US" dirty="0"/>
          </a:p>
        </p:txBody>
      </p:sp>
      <p:sp>
        <p:nvSpPr>
          <p:cNvPr id="48" name="Text 45"/>
          <p:cNvSpPr/>
          <p:nvPr/>
        </p:nvSpPr>
        <p:spPr>
          <a:xfrm>
            <a:off x="400050" y="4955642"/>
            <a:ext cx="5029200" cy="131608"/>
          </a:xfrm>
          <a:prstGeom prst="rect">
            <a:avLst/>
          </a:prstGeom>
          <a:noFill/>
          <a:ln/>
        </p:spPr>
        <p:txBody>
          <a:bodyPr wrap="square" lIns="0" tIns="0" rIns="0" bIns="0" rtlCol="0" anchor="t"/>
          <a:lstStyle/>
          <a:p>
            <a:pPr algn="l" indent="0" marL="0">
              <a:lnSpc>
                <a:spcPts val="709"/>
              </a:lnSpc>
              <a:buNone/>
            </a:pPr>
            <a:r>
              <a:rPr lang="en-US" sz="800" dirty="0">
                <a:solidFill>
                  <a:srgbClr val="FFFFFF"/>
                </a:solidFill>
                <a:latin typeface="Liberation Sans Narrow" pitchFamily="34" charset="0"/>
                <a:ea typeface="Liberation Sans Narrow" pitchFamily="34" charset="-122"/>
                <a:cs typeface="Liberation Sans Narrow" pitchFamily="34" charset="-120"/>
              </a:rPr>
              <a:t>September 2026</a:t>
            </a:r>
            <a:endParaRPr lang="en-US" sz="800" dirty="0"/>
          </a:p>
        </p:txBody>
      </p:sp>
      <p:sp>
        <p:nvSpPr>
          <p:cNvPr id="49" name="Text 46"/>
          <p:cNvSpPr/>
          <p:nvPr/>
        </p:nvSpPr>
        <p:spPr>
          <a:xfrm>
            <a:off x="5829300" y="4857750"/>
            <a:ext cx="3314700" cy="285750"/>
          </a:xfrm>
          <a:prstGeom prst="rect">
            <a:avLst/>
          </a:prstGeom>
          <a:solidFill>
            <a:srgbClr val="E86A27"/>
          </a:solidFill>
          <a:ln/>
        </p:spPr>
        <p:txBody>
          <a:bodyPr wrap="square" rtlCol="0" anchor="ctr"/>
          <a:lstStyle/>
          <a:p>
            <a:pPr indent="0" marL="0">
              <a:buNone/>
            </a:pPr>
            <a:endParaRPr lang="en-US" dirty="0"/>
          </a:p>
        </p:txBody>
      </p:sp>
      <p:sp>
        <p:nvSpPr>
          <p:cNvPr id="50" name="Text 47"/>
          <p:cNvSpPr/>
          <p:nvPr/>
        </p:nvSpPr>
        <p:spPr>
          <a:xfrm>
            <a:off x="8154306" y="4955642"/>
            <a:ext cx="661477" cy="131608"/>
          </a:xfrm>
          <a:prstGeom prst="rect">
            <a:avLst/>
          </a:prstGeom>
          <a:noFill/>
          <a:ln/>
        </p:spPr>
        <p:txBody>
          <a:bodyPr wrap="none" lIns="0" tIns="0" rIns="0" bIns="0" rtlCol="0" anchor="t"/>
          <a:lstStyle/>
          <a:p>
            <a:pPr algn="l" indent="0" marL="0">
              <a:lnSpc>
                <a:spcPts val="709"/>
              </a:lnSpc>
              <a:buNone/>
            </a:pPr>
            <a:r>
              <a:rPr lang="en-US" sz="600" dirty="0">
                <a:solidFill>
                  <a:srgbClr val="FFFFFF"/>
                </a:solidFill>
                <a:latin typeface="Liberation Sans Narrow" pitchFamily="34" charset="0"/>
                <a:ea typeface="Liberation Sans Narrow" pitchFamily="34" charset="-122"/>
                <a:cs typeface="Liberation Sans Narrow" pitchFamily="34" charset="-120"/>
              </a:rPr>
              <a:t>Slide 10 of 10</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2026-09-12T20:10:43Z</dcterms:created>
  <dcterms:modified xsi:type="dcterms:W3CDTF">2026-09-12T20:10:43Z</dcterms:modified>
</cp:coreProperties>
</file>